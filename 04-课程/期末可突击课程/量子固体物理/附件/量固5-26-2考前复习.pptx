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62" r:id="rId4"/>
    <p:sldId id="740" r:id="rId5"/>
    <p:sldId id="741" r:id="rId6"/>
    <p:sldId id="742" r:id="rId7"/>
    <p:sldId id="776" r:id="rId9"/>
    <p:sldId id="801" r:id="rId10"/>
    <p:sldId id="777" r:id="rId11"/>
    <p:sldId id="778" r:id="rId12"/>
    <p:sldId id="779" r:id="rId13"/>
    <p:sldId id="783" r:id="rId14"/>
    <p:sldId id="784" r:id="rId15"/>
    <p:sldId id="743" r:id="rId16"/>
    <p:sldId id="800" r:id="rId17"/>
    <p:sldId id="803" r:id="rId18"/>
    <p:sldId id="744" r:id="rId19"/>
    <p:sldId id="786" r:id="rId20"/>
    <p:sldId id="745" r:id="rId21"/>
    <p:sldId id="787" r:id="rId22"/>
    <p:sldId id="788" r:id="rId23"/>
    <p:sldId id="789" r:id="rId24"/>
    <p:sldId id="746" r:id="rId25"/>
    <p:sldId id="792" r:id="rId26"/>
    <p:sldId id="793" r:id="rId27"/>
    <p:sldId id="747" r:id="rId28"/>
    <p:sldId id="794" r:id="rId29"/>
    <p:sldId id="748" r:id="rId30"/>
    <p:sldId id="795" r:id="rId31"/>
    <p:sldId id="749" r:id="rId32"/>
    <p:sldId id="797" r:id="rId33"/>
    <p:sldId id="798" r:id="rId34"/>
    <p:sldId id="804" r:id="rId35"/>
    <p:sldId id="751" r:id="rId36"/>
    <p:sldId id="754" r:id="rId37"/>
  </p:sldIdLst>
  <p:sldSz cx="9144000" cy="6858000" type="screen4x3"/>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3" userDrawn="1">
          <p15:clr>
            <a:srgbClr val="A4A3A4"/>
          </p15:clr>
        </p15:guide>
        <p15:guide id="2" pos="2866" userDrawn="1">
          <p15:clr>
            <a:srgbClr val="A4A3A4"/>
          </p15:clr>
        </p15:guide>
        <p15:guide id="3" orient="horz" pos="2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10A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0" d="100"/>
          <a:sy n="60" d="100"/>
        </p:scale>
        <p:origin x="-1352" y="-64"/>
      </p:cViewPr>
      <p:guideLst>
        <p:guide orient="horz" pos="2283"/>
        <p:guide pos="2866"/>
        <p:guide orient="horz" pos="229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gs" Target="tags/tag2.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7" Type="http://schemas.openxmlformats.org/officeDocument/2006/relationships/image" Target="../media/image36.wmf"/><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41.wmf"/><Relationship Id="rId4" Type="http://schemas.openxmlformats.org/officeDocument/2006/relationships/image" Target="../media/image40.emf"/><Relationship Id="rId3" Type="http://schemas.openxmlformats.org/officeDocument/2006/relationships/image" Target="../media/image39.wmf"/><Relationship Id="rId2" Type="http://schemas.openxmlformats.org/officeDocument/2006/relationships/image" Target="../media/image38.emf"/><Relationship Id="rId1"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B44507-EBA6-4070-8DE7-B2FE15E6453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C9443EF-D39C-4BA7-BBE3-B2C7807C625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6" y="685800"/>
            <a:ext cx="854075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04801" y="1981200"/>
            <a:ext cx="8540750" cy="3886200"/>
          </a:xfrm>
        </p:spPr>
        <p:txBody>
          <a:bodyPr rtlCol="0">
            <a:normAutofit/>
          </a:bodyPr>
          <a:lstStyle/>
          <a:p>
            <a:pPr lvl="0"/>
            <a:endParaRPr lang="zh-CN" altLang="en-US" noProof="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fld id="{404CA806-DC30-4AB4-9EE0-9EAF6D954E69}"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4" Type="http://schemas.openxmlformats.org/officeDocument/2006/relationships/vmlDrawing" Target="../drawings/vmlDrawing1.vml"/><Relationship Id="rId13" Type="http://schemas.openxmlformats.org/officeDocument/2006/relationships/slideLayout" Target="../slideLayouts/slideLayout2.xml"/><Relationship Id="rId12" Type="http://schemas.openxmlformats.org/officeDocument/2006/relationships/image" Target="../media/image6.wmf"/><Relationship Id="rId11" Type="http://schemas.openxmlformats.org/officeDocument/2006/relationships/oleObject" Target="../embeddings/oleObject6.bin"/><Relationship Id="rId10" Type="http://schemas.openxmlformats.org/officeDocument/2006/relationships/image" Target="../media/image5.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wmf"/><Relationship Id="rId7" Type="http://schemas.openxmlformats.org/officeDocument/2006/relationships/oleObject" Target="../embeddings/oleObject11.bin"/><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1.wmf"/><Relationship Id="rId3" Type="http://schemas.openxmlformats.org/officeDocument/2006/relationships/oleObject" Target="../embeddings/oleObject9.bin"/><Relationship Id="rId2" Type="http://schemas.openxmlformats.org/officeDocument/2006/relationships/image" Target="../media/image10.wmf"/><Relationship Id="rId10" Type="http://schemas.openxmlformats.org/officeDocument/2006/relationships/vmlDrawing" Target="../drawings/vmlDrawing3.vml"/><Relationship Id="rId1"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wmf"/><Relationship Id="rId1"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7.xml"/><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oleObject" Target="../embeddings/oleObject14.bin"/><Relationship Id="rId3" Type="http://schemas.openxmlformats.org/officeDocument/2006/relationships/image" Target="../media/image19.png"/><Relationship Id="rId2" Type="http://schemas.openxmlformats.org/officeDocument/2006/relationships/image" Target="../media/image18.wmf"/><Relationship Id="rId1" Type="http://schemas.openxmlformats.org/officeDocument/2006/relationships/oleObject" Target="../embeddings/oleObject1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wmf"/><Relationship Id="rId4" Type="http://schemas.openxmlformats.org/officeDocument/2006/relationships/oleObject" Target="../embeddings/oleObject16.bin"/><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oleObject" Target="../embeddings/oleObject15.bin"/></Relationships>
</file>

<file path=ppt/slides/_rels/slide20.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0.wmf"/><Relationship Id="rId7" Type="http://schemas.openxmlformats.org/officeDocument/2006/relationships/oleObject" Target="../embeddings/oleObject20.bin"/><Relationship Id="rId6" Type="http://schemas.openxmlformats.org/officeDocument/2006/relationships/image" Target="../media/image29.wmf"/><Relationship Id="rId5" Type="http://schemas.openxmlformats.org/officeDocument/2006/relationships/oleObject" Target="../embeddings/oleObject19.bin"/><Relationship Id="rId4" Type="http://schemas.openxmlformats.org/officeDocument/2006/relationships/image" Target="../media/image28.wmf"/><Relationship Id="rId3" Type="http://schemas.openxmlformats.org/officeDocument/2006/relationships/oleObject" Target="../embeddings/oleObject18.bin"/><Relationship Id="rId2" Type="http://schemas.openxmlformats.org/officeDocument/2006/relationships/image" Target="../media/image27.wmf"/><Relationship Id="rId19" Type="http://schemas.openxmlformats.org/officeDocument/2006/relationships/vmlDrawing" Target="../drawings/vmlDrawing7.vml"/><Relationship Id="rId18" Type="http://schemas.openxmlformats.org/officeDocument/2006/relationships/slideLayout" Target="../slideLayouts/slideLayout2.xml"/><Relationship Id="rId17" Type="http://schemas.openxmlformats.org/officeDocument/2006/relationships/image" Target="../media/image36.wmf"/><Relationship Id="rId16" Type="http://schemas.openxmlformats.org/officeDocument/2006/relationships/oleObject" Target="../embeddings/oleObject23.bin"/><Relationship Id="rId15" Type="http://schemas.openxmlformats.org/officeDocument/2006/relationships/image" Target="../media/image35.wmf"/><Relationship Id="rId14" Type="http://schemas.openxmlformats.org/officeDocument/2006/relationships/oleObject" Target="../embeddings/oleObject22.bin"/><Relationship Id="rId13" Type="http://schemas.openxmlformats.org/officeDocument/2006/relationships/image" Target="../media/image34.wmf"/><Relationship Id="rId12" Type="http://schemas.openxmlformats.org/officeDocument/2006/relationships/oleObject" Target="../embeddings/oleObject21.bin"/><Relationship Id="rId11" Type="http://schemas.openxmlformats.org/officeDocument/2006/relationships/image" Target="../media/image33.png"/><Relationship Id="rId10" Type="http://schemas.openxmlformats.org/officeDocument/2006/relationships/image" Target="../media/image32.png"/><Relationship Id="rId1" Type="http://schemas.openxmlformats.org/officeDocument/2006/relationships/oleObject" Target="../embeddings/oleObject17.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40.emf"/><Relationship Id="rId7" Type="http://schemas.openxmlformats.org/officeDocument/2006/relationships/oleObject" Target="../embeddings/oleObject27.bin"/><Relationship Id="rId6" Type="http://schemas.openxmlformats.org/officeDocument/2006/relationships/image" Target="../media/image39.wmf"/><Relationship Id="rId5" Type="http://schemas.openxmlformats.org/officeDocument/2006/relationships/oleObject" Target="../embeddings/oleObject26.bin"/><Relationship Id="rId4" Type="http://schemas.openxmlformats.org/officeDocument/2006/relationships/image" Target="../media/image38.emf"/><Relationship Id="rId3" Type="http://schemas.openxmlformats.org/officeDocument/2006/relationships/oleObject" Target="../embeddings/oleObject25.bin"/><Relationship Id="rId2" Type="http://schemas.openxmlformats.org/officeDocument/2006/relationships/image" Target="../media/image37.wmf"/><Relationship Id="rId12" Type="http://schemas.openxmlformats.org/officeDocument/2006/relationships/vmlDrawing" Target="../drawings/vmlDrawing8.vml"/><Relationship Id="rId11" Type="http://schemas.openxmlformats.org/officeDocument/2006/relationships/slideLayout" Target="../slideLayouts/slideLayout2.xml"/><Relationship Id="rId10" Type="http://schemas.openxmlformats.org/officeDocument/2006/relationships/image" Target="../media/image41.wmf"/><Relationship Id="rId1" Type="http://schemas.openxmlformats.org/officeDocument/2006/relationships/oleObject" Target="../embeddings/oleObject24.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43.wmf"/><Relationship Id="rId3" Type="http://schemas.openxmlformats.org/officeDocument/2006/relationships/oleObject" Target="../embeddings/oleObject30.bin"/><Relationship Id="rId2" Type="http://schemas.openxmlformats.org/officeDocument/2006/relationships/image" Target="../media/image42.wmf"/><Relationship Id="rId1" Type="http://schemas.openxmlformats.org/officeDocument/2006/relationships/oleObject" Target="../embeddings/oleObject29.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smtClean="0"/>
              <a:t>量子与固体物理总复习</a:t>
            </a:r>
            <a:endParaRPr lang="zh-CN" altLang="en-US" b="1"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latin typeface="+mn-ea"/>
              </a:rPr>
            </a:fld>
            <a:endParaRPr lang="en-US" altLang="zh-CN">
              <a:latin typeface="+mn-ea"/>
            </a:endParaRPr>
          </a:p>
        </p:txBody>
      </p:sp>
      <p:sp>
        <p:nvSpPr>
          <p:cNvPr id="1703940" name="Rectangle 4"/>
          <p:cNvSpPr>
            <a:spLocks noChangeArrowheads="1"/>
          </p:cNvSpPr>
          <p:nvPr/>
        </p:nvSpPr>
        <p:spPr bwMode="auto">
          <a:xfrm>
            <a:off x="539750" y="1380758"/>
            <a:ext cx="79933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266700">
              <a:lnSpc>
                <a:spcPct val="150000"/>
              </a:lnSpc>
            </a:pPr>
            <a:r>
              <a:rPr lang="zh-CN" altLang="en-US" sz="2400" dirty="0">
                <a:solidFill>
                  <a:schemeClr val="tx1"/>
                </a:solidFill>
                <a:latin typeface="+mn-ea"/>
                <a:cs typeface="Times New Roman" panose="02020603050405020304" pitchFamily="18" charset="0"/>
              </a:rPr>
              <a:t>基本要求：</a:t>
            </a:r>
            <a:endParaRPr lang="zh-CN" altLang="en-US" sz="2400" dirty="0">
              <a:solidFill>
                <a:schemeClr val="tx1"/>
              </a:solidFill>
              <a:latin typeface="+mn-ea"/>
              <a:cs typeface="Times New Roman" panose="02020603050405020304" pitchFamily="18" charset="0"/>
            </a:endParaRPr>
          </a:p>
          <a:p>
            <a:pPr indent="266700">
              <a:lnSpc>
                <a:spcPct val="150000"/>
              </a:lnSpc>
            </a:pPr>
            <a:r>
              <a:rPr lang="zh-CN" altLang="en-US" sz="2400" dirty="0" smtClean="0">
                <a:solidFill>
                  <a:schemeClr val="tx1"/>
                </a:solidFill>
                <a:latin typeface="+mn-ea"/>
                <a:cs typeface="Times New Roman" panose="02020603050405020304" pitchFamily="18" charset="0"/>
              </a:rPr>
              <a:t>光</a:t>
            </a:r>
            <a:r>
              <a:rPr lang="zh-CN" altLang="en-US" sz="2400" dirty="0">
                <a:solidFill>
                  <a:schemeClr val="tx1"/>
                </a:solidFill>
                <a:latin typeface="+mn-ea"/>
                <a:cs typeface="Times New Roman" panose="02020603050405020304" pitchFamily="18" charset="0"/>
              </a:rPr>
              <a:t>的波粒二象性（</a:t>
            </a:r>
            <a:r>
              <a:rPr lang="zh-CN" altLang="en-US" sz="2400" dirty="0">
                <a:latin typeface="+mn-ea"/>
                <a:cs typeface="Times New Roman" panose="02020603050405020304" pitchFamily="18" charset="0"/>
                <a:sym typeface="+mn-ea"/>
              </a:rPr>
              <a:t>黑体辐射、光电效应</a:t>
            </a:r>
            <a:r>
              <a:rPr lang="zh-CN" altLang="en-US" sz="2400" dirty="0" smtClean="0">
                <a:latin typeface="+mn-ea"/>
                <a:cs typeface="Times New Roman" panose="02020603050405020304" pitchFamily="18" charset="0"/>
                <a:sym typeface="+mn-ea"/>
              </a:rPr>
              <a:t>、</a:t>
            </a:r>
            <a:r>
              <a:rPr lang="en-US" altLang="zh-CN" sz="2400" dirty="0">
                <a:latin typeface="+mn-ea"/>
                <a:cs typeface="Times New Roman" panose="02020603050405020304" pitchFamily="18" charset="0"/>
                <a:sym typeface="+mn-ea"/>
              </a:rPr>
              <a:t>C</a:t>
            </a:r>
            <a:r>
              <a:rPr lang="en-US" altLang="zh-CN" sz="2400" dirty="0" smtClean="0">
                <a:latin typeface="+mn-ea"/>
                <a:cs typeface="Times New Roman" panose="02020603050405020304" pitchFamily="18" charset="0"/>
                <a:sym typeface="+mn-ea"/>
              </a:rPr>
              <a:t>ompton</a:t>
            </a:r>
            <a:r>
              <a:rPr lang="zh-CN" altLang="en-US" sz="2400" dirty="0">
                <a:latin typeface="+mn-ea"/>
                <a:cs typeface="Times New Roman" panose="02020603050405020304" pitchFamily="18" charset="0"/>
                <a:sym typeface="+mn-ea"/>
              </a:rPr>
              <a:t>散射实验）</a:t>
            </a:r>
            <a:r>
              <a:rPr lang="zh-CN" altLang="en-US" sz="2400" dirty="0">
                <a:solidFill>
                  <a:schemeClr val="tx1"/>
                </a:solidFill>
                <a:latin typeface="+mn-ea"/>
                <a:cs typeface="Times New Roman" panose="02020603050405020304" pitchFamily="18" charset="0"/>
              </a:rPr>
              <a:t>、微观粒子的波粒二象性</a:t>
            </a:r>
            <a:r>
              <a:rPr lang="zh-CN" altLang="en-US" sz="2400" dirty="0" smtClean="0">
                <a:solidFill>
                  <a:schemeClr val="tx1"/>
                </a:solidFill>
                <a:latin typeface="+mn-ea"/>
                <a:cs typeface="Times New Roman" panose="02020603050405020304" pitchFamily="18" charset="0"/>
              </a:rPr>
              <a:t>；德</a:t>
            </a:r>
            <a:r>
              <a:rPr lang="zh-CN" altLang="en-US" sz="2400" dirty="0">
                <a:solidFill>
                  <a:schemeClr val="tx1"/>
                </a:solidFill>
                <a:latin typeface="+mn-ea"/>
                <a:cs typeface="Times New Roman" panose="02020603050405020304" pitchFamily="18" charset="0"/>
              </a:rPr>
              <a:t>布罗意关</a:t>
            </a:r>
            <a:r>
              <a:rPr lang="zh-CN" altLang="en-US" sz="2400" dirty="0" smtClean="0">
                <a:solidFill>
                  <a:schemeClr val="tx1"/>
                </a:solidFill>
                <a:latin typeface="+mn-ea"/>
                <a:cs typeface="Times New Roman" panose="02020603050405020304" pitchFamily="18" charset="0"/>
              </a:rPr>
              <a:t>系</a:t>
            </a:r>
            <a:endParaRPr lang="zh-CN" altLang="en-US" sz="2400" dirty="0">
              <a:solidFill>
                <a:schemeClr val="tx1"/>
              </a:solidFill>
              <a:latin typeface="+mn-ea"/>
              <a:cs typeface="Times New Roman" panose="02020603050405020304" pitchFamily="18" charset="0"/>
            </a:endParaRPr>
          </a:p>
          <a:p>
            <a:pPr indent="266700">
              <a:lnSpc>
                <a:spcPct val="150000"/>
              </a:lnSpc>
            </a:pPr>
            <a:endParaRPr lang="zh-CN" altLang="en-US" sz="2400" dirty="0">
              <a:solidFill>
                <a:schemeClr val="tx1"/>
              </a:solidFill>
              <a:latin typeface="+mn-ea"/>
              <a:cs typeface="Times New Roman" panose="02020603050405020304" pitchFamily="18" charset="0"/>
            </a:endParaRPr>
          </a:p>
        </p:txBody>
      </p:sp>
      <p:sp>
        <p:nvSpPr>
          <p:cNvPr id="8" name="Text Box 6"/>
          <p:cNvSpPr txBox="1"/>
          <p:nvPr/>
        </p:nvSpPr>
        <p:spPr>
          <a:xfrm>
            <a:off x="179705" y="260985"/>
            <a:ext cx="8437880" cy="625475"/>
          </a:xfrm>
          <a:prstGeom prst="rect">
            <a:avLst/>
          </a:prstGeom>
        </p:spPr>
        <p:txBody>
          <a:bodyPr vert="horz" wrap="square" lIns="91440" tIns="45720" rIns="91440" bIns="45720"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defTabSz="457200"/>
            <a:r>
              <a:rPr lang="en-US" altLang="zh-CN" sz="3600" b="1" dirty="0">
                <a:latin typeface="+mn-ea"/>
                <a:ea typeface="+mn-ea"/>
              </a:rPr>
              <a:t>1.</a:t>
            </a:r>
            <a:r>
              <a:rPr lang="zh-CN" altLang="en-US" sz="3600" b="1" dirty="0">
                <a:latin typeface="+mn-ea"/>
                <a:ea typeface="+mn-ea"/>
              </a:rPr>
              <a:t>知识单元一</a:t>
            </a:r>
            <a:r>
              <a:rPr lang="en-US" altLang="zh-CN" sz="3600" b="1" dirty="0">
                <a:latin typeface="+mn-ea"/>
                <a:ea typeface="+mn-ea"/>
              </a:rPr>
              <a:t> </a:t>
            </a:r>
            <a:r>
              <a:rPr lang="zh-CN" altLang="en-US" sz="3600" b="1" dirty="0">
                <a:latin typeface="+mn-ea"/>
                <a:ea typeface="+mn-ea"/>
              </a:rPr>
              <a:t>量子力学的诞生</a:t>
            </a:r>
            <a:r>
              <a:rPr lang="en-US" altLang="zh-CN" sz="3600" b="1" dirty="0">
                <a:latin typeface="+mn-ea"/>
                <a:ea typeface="+mn-ea"/>
              </a:rPr>
              <a:t> </a:t>
            </a:r>
            <a:endParaRPr lang="zh-CN" altLang="en-US" sz="3600" b="1" dirty="0">
              <a:latin typeface="+mn-ea"/>
              <a:ea typeface="+mn-ea"/>
            </a:endParaRPr>
          </a:p>
        </p:txBody>
      </p:sp>
      <p:sp>
        <p:nvSpPr>
          <p:cNvPr id="2" name="文本框 1"/>
          <p:cNvSpPr txBox="1"/>
          <p:nvPr/>
        </p:nvSpPr>
        <p:spPr>
          <a:xfrm>
            <a:off x="755650" y="5517515"/>
            <a:ext cx="7150100" cy="521970"/>
          </a:xfrm>
          <a:prstGeom prst="rect">
            <a:avLst/>
          </a:prstGeom>
          <a:noFill/>
        </p:spPr>
        <p:txBody>
          <a:bodyPr wrap="square" rtlCol="0" anchor="t">
            <a:spAutoFit/>
          </a:bodyPr>
          <a:lstStyle/>
          <a:p>
            <a:pPr defTabSz="457200"/>
            <a:r>
              <a:rPr lang="zh-CN" altLang="en-US" sz="2800" b="1" dirty="0" smtClean="0">
                <a:latin typeface="+mn-ea"/>
                <a:sym typeface="+mn-ea"/>
              </a:rPr>
              <a:t>题型：填空，</a:t>
            </a:r>
            <a:r>
              <a:rPr lang="zh-CN" altLang="en-US" sz="2800" b="1" dirty="0" smtClean="0">
                <a:latin typeface="+mn-ea"/>
                <a:sym typeface="+mn-ea"/>
              </a:rPr>
              <a:t>名词解释</a:t>
            </a:r>
            <a:endParaRPr lang="zh-CN" altLang="en-US" sz="2800" b="1" dirty="0" smtClean="0">
              <a:latin typeface="+mn-ea"/>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039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3940" grpId="0" bldLvl="0" animBg="1"/>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300990" y="373380"/>
            <a:ext cx="8542020" cy="2616101"/>
          </a:xfrm>
          <a:prstGeom prst="rect">
            <a:avLst/>
          </a:prstGeom>
          <a:noFill/>
        </p:spPr>
        <p:txBody>
          <a:bodyPr wrap="square" rtlCol="0" anchor="t">
            <a:spAutoFit/>
          </a:bodyPr>
          <a:lstStyle/>
          <a:p>
            <a:pPr marL="0" lvl="0" indent="0" eaLnBrk="1" hangingPunct="1">
              <a:spcBef>
                <a:spcPct val="0"/>
              </a:spcBef>
              <a:buClrTx/>
              <a:buSzTx/>
              <a:buFontTx/>
              <a:buNone/>
            </a:pPr>
            <a:r>
              <a:rPr lang="zh-CN" altLang="en-US" sz="2000" b="1" dirty="0">
                <a:latin typeface="Times New Roman" panose="02020603050405020304" pitchFamily="18" charset="0"/>
                <a:sym typeface="+mn-ea"/>
              </a:rPr>
              <a:t>概念理解：</a:t>
            </a:r>
            <a:endParaRPr lang="en-US" altLang="zh-CN" sz="2000" b="1" dirty="0">
              <a:latin typeface="Times New Roman" panose="02020603050405020304" pitchFamily="18" charset="0"/>
            </a:endParaRPr>
          </a:p>
          <a:p>
            <a:pPr lvl="0" algn="just">
              <a:lnSpc>
                <a:spcPct val="120000"/>
              </a:lnSpc>
              <a:spcBef>
                <a:spcPct val="0"/>
              </a:spcBef>
            </a:pPr>
            <a:r>
              <a:rPr lang="en-US" altLang="zh-CN" sz="2000" b="1" dirty="0">
                <a:latin typeface="Times New Roman" panose="02020603050405020304" pitchFamily="18" charset="0"/>
                <a:sym typeface="+mn-ea"/>
              </a:rPr>
              <a:t> 1. </a:t>
            </a:r>
            <a:r>
              <a:rPr lang="zh-CN" altLang="en-US" sz="2000" b="1" dirty="0">
                <a:solidFill>
                  <a:schemeClr val="tx1"/>
                </a:solidFill>
                <a:latin typeface="Times New Roman" panose="02020603050405020304" pitchFamily="18" charset="0"/>
                <a:sym typeface="+mn-ea"/>
              </a:rPr>
              <a:t>什么是黑体辐射</a:t>
            </a:r>
            <a:r>
              <a:rPr lang="zh-CN" altLang="en-US" sz="2000" b="1" dirty="0" smtClean="0">
                <a:solidFill>
                  <a:schemeClr val="tx1"/>
                </a:solidFill>
                <a:latin typeface="Times New Roman" panose="02020603050405020304" pitchFamily="18" charset="0"/>
                <a:sym typeface="+mn-ea"/>
              </a:rPr>
              <a:t>，普</a:t>
            </a:r>
            <a:r>
              <a:rPr lang="zh-CN" altLang="en-US" sz="2000" b="1" dirty="0">
                <a:solidFill>
                  <a:schemeClr val="tx1"/>
                </a:solidFill>
                <a:latin typeface="Times New Roman" panose="02020603050405020304" pitchFamily="18" charset="0"/>
                <a:sym typeface="+mn-ea"/>
              </a:rPr>
              <a:t>朗</a:t>
            </a:r>
            <a:r>
              <a:rPr lang="zh-CN" altLang="en-US" sz="2000" b="1" dirty="0" smtClean="0">
                <a:solidFill>
                  <a:schemeClr val="tx1"/>
                </a:solidFill>
                <a:latin typeface="Times New Roman" panose="02020603050405020304" pitchFamily="18" charset="0"/>
                <a:sym typeface="+mn-ea"/>
              </a:rPr>
              <a:t>克提</a:t>
            </a:r>
            <a:r>
              <a:rPr lang="zh-CN" altLang="en-US" sz="2000" b="1" dirty="0">
                <a:solidFill>
                  <a:schemeClr val="tx1"/>
                </a:solidFill>
                <a:latin typeface="Times New Roman" panose="02020603050405020304" pitchFamily="18" charset="0"/>
                <a:sym typeface="+mn-ea"/>
              </a:rPr>
              <a:t>出了什么概</a:t>
            </a:r>
            <a:r>
              <a:rPr lang="zh-CN" altLang="en-US" sz="2000" b="1" dirty="0" smtClean="0">
                <a:latin typeface="Times New Roman" panose="02020603050405020304" pitchFamily="18" charset="0"/>
                <a:sym typeface="+mn-ea"/>
              </a:rPr>
              <a:t>念解</a:t>
            </a:r>
            <a:r>
              <a:rPr lang="zh-CN" altLang="en-US" sz="2000" b="1" dirty="0">
                <a:latin typeface="Times New Roman" panose="02020603050405020304" pitchFamily="18" charset="0"/>
                <a:sym typeface="+mn-ea"/>
              </a:rPr>
              <a:t>释黑体辐射问题的？ ？</a:t>
            </a:r>
            <a:endParaRPr lang="en-US" altLang="zh-CN" sz="2000" b="1" dirty="0">
              <a:solidFill>
                <a:schemeClr val="tx1"/>
              </a:solidFill>
              <a:latin typeface="Times New Roman" panose="02020603050405020304" pitchFamily="18" charset="0"/>
            </a:endParaRPr>
          </a:p>
          <a:p>
            <a:pPr marL="0" lvl="0" indent="0" algn="just" eaLnBrk="1" hangingPunct="1">
              <a:lnSpc>
                <a:spcPct val="120000"/>
              </a:lnSpc>
              <a:spcBef>
                <a:spcPct val="0"/>
              </a:spcBef>
              <a:buClrTx/>
              <a:buSzTx/>
              <a:buFontTx/>
              <a:buNone/>
            </a:pPr>
            <a:r>
              <a:rPr lang="en-US" altLang="zh-CN" sz="2000" b="1" dirty="0">
                <a:solidFill>
                  <a:schemeClr val="tx1"/>
                </a:solidFill>
                <a:latin typeface="Times New Roman" panose="02020603050405020304" pitchFamily="18" charset="0"/>
                <a:sym typeface="+mn-ea"/>
              </a:rPr>
              <a:t>2.</a:t>
            </a:r>
            <a:r>
              <a:rPr lang="zh-CN" altLang="en-US" sz="2000" b="1" dirty="0">
                <a:solidFill>
                  <a:schemeClr val="tx1"/>
                </a:solidFill>
                <a:latin typeface="Times New Roman" panose="02020603050405020304" pitchFamily="18" charset="0"/>
                <a:sym typeface="+mn-ea"/>
              </a:rPr>
              <a:t>什么是光电效应</a:t>
            </a:r>
            <a:r>
              <a:rPr lang="zh-CN" altLang="en-US" sz="2000" b="1" dirty="0" smtClean="0">
                <a:solidFill>
                  <a:schemeClr val="tx1"/>
                </a:solidFill>
                <a:latin typeface="Times New Roman" panose="02020603050405020304" pitchFamily="18" charset="0"/>
                <a:sym typeface="+mn-ea"/>
              </a:rPr>
              <a:t>，</a:t>
            </a:r>
            <a:r>
              <a:rPr lang="en-US" altLang="zh-CN" sz="2000" b="1" dirty="0" err="1" smtClean="0">
                <a:solidFill>
                  <a:schemeClr val="tx1"/>
                </a:solidFill>
                <a:latin typeface="Times New Roman" panose="02020603050405020304" pitchFamily="18" charset="0"/>
                <a:sym typeface="+mn-ea"/>
              </a:rPr>
              <a:t>爱因斯坦</a:t>
            </a:r>
            <a:r>
              <a:rPr lang="zh-CN" altLang="en-US" sz="2000" b="1" dirty="0" smtClean="0">
                <a:solidFill>
                  <a:schemeClr val="tx1"/>
                </a:solidFill>
                <a:latin typeface="Times New Roman" panose="02020603050405020304" pitchFamily="18" charset="0"/>
                <a:sym typeface="+mn-ea"/>
              </a:rPr>
              <a:t>的光电理论提出了光的什么概念</a:t>
            </a:r>
            <a:r>
              <a:rPr lang="zh-CN" altLang="en-US" sz="2000" b="1" dirty="0" smtClean="0">
                <a:latin typeface="Times New Roman" panose="02020603050405020304" pitchFamily="18" charset="0"/>
                <a:sym typeface="+mn-ea"/>
              </a:rPr>
              <a:t>，</a:t>
            </a:r>
            <a:r>
              <a:rPr lang="en-US" altLang="zh-CN" sz="2000" b="1" dirty="0" err="1" smtClean="0">
                <a:solidFill>
                  <a:schemeClr val="tx1"/>
                </a:solidFill>
                <a:latin typeface="Times New Roman" panose="02020603050405020304" pitchFamily="18" charset="0"/>
                <a:sym typeface="+mn-ea"/>
              </a:rPr>
              <a:t>证明</a:t>
            </a:r>
            <a:r>
              <a:rPr lang="zh-CN" altLang="en-US" sz="2000" b="1" dirty="0">
                <a:solidFill>
                  <a:schemeClr val="tx1"/>
                </a:solidFill>
                <a:latin typeface="Times New Roman" panose="02020603050405020304" pitchFamily="18" charset="0"/>
                <a:sym typeface="+mn-ea"/>
              </a:rPr>
              <a:t>了什么？</a:t>
            </a:r>
            <a:endParaRPr lang="en-US" altLang="zh-CN" sz="2000" b="1" dirty="0">
              <a:solidFill>
                <a:schemeClr val="tx1"/>
              </a:solidFill>
              <a:latin typeface="Times New Roman" panose="02020603050405020304" pitchFamily="18" charset="0"/>
            </a:endParaRPr>
          </a:p>
          <a:p>
            <a:pPr marL="0" lvl="0" indent="0" algn="just" eaLnBrk="1" hangingPunct="1">
              <a:lnSpc>
                <a:spcPct val="120000"/>
              </a:lnSpc>
              <a:spcBef>
                <a:spcPct val="0"/>
              </a:spcBef>
              <a:buClrTx/>
              <a:buSzTx/>
              <a:buNone/>
            </a:pPr>
            <a:r>
              <a:rPr lang="en-US" altLang="zh-CN" sz="2000" b="1" dirty="0">
                <a:solidFill>
                  <a:schemeClr val="tx1"/>
                </a:solidFill>
                <a:latin typeface="Times New Roman" panose="02020603050405020304" pitchFamily="18" charset="0"/>
                <a:sym typeface="+mn-ea"/>
              </a:rPr>
              <a:t>3. </a:t>
            </a:r>
            <a:r>
              <a:rPr lang="zh-CN" altLang="en-US" sz="2000" b="1" dirty="0">
                <a:solidFill>
                  <a:schemeClr val="tx1"/>
                </a:solidFill>
                <a:latin typeface="Times New Roman" panose="02020603050405020304" pitchFamily="18" charset="0"/>
                <a:sym typeface="+mn-ea"/>
              </a:rPr>
              <a:t>什么是康普顿散射</a:t>
            </a:r>
            <a:r>
              <a:rPr lang="zh-CN" altLang="en-US" sz="2000" b="1" dirty="0" smtClean="0">
                <a:solidFill>
                  <a:schemeClr val="tx1"/>
                </a:solidFill>
                <a:latin typeface="Times New Roman" panose="02020603050405020304" pitchFamily="18" charset="0"/>
                <a:sym typeface="+mn-ea"/>
              </a:rPr>
              <a:t>，证</a:t>
            </a:r>
            <a:r>
              <a:rPr lang="zh-CN" altLang="en-US" sz="2000" b="1" dirty="0">
                <a:solidFill>
                  <a:schemeClr val="tx1"/>
                </a:solidFill>
                <a:latin typeface="Times New Roman" panose="02020603050405020304" pitchFamily="18" charset="0"/>
                <a:sym typeface="+mn-ea"/>
              </a:rPr>
              <a:t>明了什么？证明了光</a:t>
            </a:r>
            <a:r>
              <a:rPr lang="zh-CN" altLang="en-US" sz="2000" b="1" dirty="0" smtClean="0">
                <a:solidFill>
                  <a:schemeClr val="tx1"/>
                </a:solidFill>
                <a:latin typeface="Times New Roman" panose="02020603050405020304" pitchFamily="18" charset="0"/>
                <a:sym typeface="+mn-ea"/>
              </a:rPr>
              <a:t>子具有什么？</a:t>
            </a:r>
            <a:endParaRPr lang="en-US" altLang="zh-CN" sz="2000" b="1" dirty="0">
              <a:solidFill>
                <a:schemeClr val="tx1"/>
              </a:solidFill>
              <a:latin typeface="Times New Roman" panose="02020603050405020304" pitchFamily="18" charset="0"/>
            </a:endParaRPr>
          </a:p>
          <a:p>
            <a:pPr marL="0" lvl="0" indent="0" eaLnBrk="1" hangingPunct="1">
              <a:lnSpc>
                <a:spcPct val="120000"/>
              </a:lnSpc>
              <a:spcBef>
                <a:spcPct val="0"/>
              </a:spcBef>
              <a:buClrTx/>
              <a:buSzTx/>
              <a:buFontTx/>
              <a:buNone/>
            </a:pPr>
            <a:r>
              <a:rPr lang="en-US" altLang="zh-CN" sz="2000" b="1" dirty="0" smtClean="0">
                <a:latin typeface="Times New Roman" panose="02020603050405020304" pitchFamily="18" charset="0"/>
                <a:sym typeface="+mn-ea"/>
              </a:rPr>
              <a:t>6</a:t>
            </a:r>
            <a:r>
              <a:rPr lang="en-US" altLang="zh-CN" sz="2000" b="1" dirty="0">
                <a:latin typeface="Times New Roman" panose="02020603050405020304" pitchFamily="18" charset="0"/>
                <a:sym typeface="+mn-ea"/>
              </a:rPr>
              <a:t>. </a:t>
            </a:r>
            <a:r>
              <a:rPr lang="zh-CN" altLang="en-US" sz="2000" b="1" dirty="0">
                <a:latin typeface="Times New Roman" panose="02020603050405020304" pitchFamily="18" charset="0"/>
                <a:sym typeface="+mn-ea"/>
              </a:rPr>
              <a:t>请利用</a:t>
            </a:r>
            <a:r>
              <a:rPr lang="zh-CN" altLang="en-US" sz="2000" b="1" dirty="0">
                <a:solidFill>
                  <a:srgbClr val="FF0000"/>
                </a:solidFill>
                <a:latin typeface="Times New Roman" panose="02020603050405020304" pitchFamily="18" charset="0"/>
                <a:sym typeface="+mn-ea"/>
              </a:rPr>
              <a:t>德布罗意关系</a:t>
            </a:r>
            <a:r>
              <a:rPr lang="zh-CN" altLang="en-US" sz="2000" b="1" dirty="0">
                <a:latin typeface="Times New Roman" panose="02020603050405020304" pitchFamily="18" charset="0"/>
                <a:sym typeface="+mn-ea"/>
              </a:rPr>
              <a:t>导出自由电子的波函数，哪些实验验证了德布罗意假说。</a:t>
            </a:r>
            <a:endParaRPr lang="zh-CN" altLang="en-US" sz="2000" b="1" dirty="0">
              <a:latin typeface="Times New Roman" panose="02020603050405020304" pitchFamily="18" charset="0"/>
              <a:sym typeface="+mn-ea"/>
            </a:endParaRPr>
          </a:p>
        </p:txBody>
      </p:sp>
      <p:sp>
        <p:nvSpPr>
          <p:cNvPr id="15" name="Rectangle 2"/>
          <p:cNvSpPr/>
          <p:nvPr/>
        </p:nvSpPr>
        <p:spPr>
          <a:xfrm>
            <a:off x="4275138" y="3056305"/>
            <a:ext cx="184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endParaRPr lang="zh-CN" altLang="en-US" sz="2000" dirty="0">
              <a:solidFill>
                <a:srgbClr val="FF0000"/>
              </a:solidFill>
              <a:latin typeface="宋体" panose="02010600030101010101" pitchFamily="2" charset="-122"/>
            </a:endParaRPr>
          </a:p>
        </p:txBody>
      </p:sp>
      <p:grpSp>
        <p:nvGrpSpPr>
          <p:cNvPr id="16" name="Group 34"/>
          <p:cNvGrpSpPr/>
          <p:nvPr/>
        </p:nvGrpSpPr>
        <p:grpSpPr>
          <a:xfrm>
            <a:off x="1674813" y="2705467"/>
            <a:ext cx="1358900" cy="1087438"/>
            <a:chOff x="1064" y="2675"/>
            <a:chExt cx="856" cy="685"/>
          </a:xfrm>
        </p:grpSpPr>
        <p:sp>
          <p:nvSpPr>
            <p:cNvPr id="17" name="Text Box 12"/>
            <p:cNvSpPr txBox="1"/>
            <p:nvPr/>
          </p:nvSpPr>
          <p:spPr>
            <a:xfrm>
              <a:off x="1064" y="2675"/>
              <a:ext cx="770" cy="282"/>
            </a:xfrm>
            <a:prstGeom prst="rect">
              <a:avLst/>
            </a:prstGeom>
            <a:noFill/>
            <a:ln w="9525" cap="flat" cmpd="sng">
              <a:solidFill>
                <a:schemeClr val="hlink"/>
              </a:solidFill>
              <a:prstDash val="solid"/>
              <a:miter/>
              <a:headEnd type="none" w="med" len="med"/>
              <a:tailEnd type="none" w="med" len="med"/>
            </a:ln>
          </p:spPr>
          <p:txBody>
            <a:bodyPr wrap="square" lIns="0" rIns="0">
              <a:noAutofit/>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stStyle>
            <a:p>
              <a:pPr marL="0" lvl="0" indent="0" algn="dist">
                <a:spcBef>
                  <a:spcPct val="0"/>
                </a:spcBef>
                <a:buClrTx/>
                <a:buSzTx/>
                <a:buFontTx/>
                <a:buNone/>
              </a:pPr>
              <a:r>
                <a:rPr lang="zh-CN" altLang="en-US" b="1" dirty="0">
                  <a:solidFill>
                    <a:srgbClr val="000000"/>
                  </a:solidFill>
                  <a:latin typeface="宋体" panose="02010600030101010101" pitchFamily="2" charset="-122"/>
                </a:rPr>
                <a:t>波动性</a:t>
              </a:r>
              <a:r>
                <a:rPr lang="zh-CN" altLang="en-US" sz="2000" b="1" dirty="0">
                  <a:solidFill>
                    <a:srgbClr val="000000"/>
                  </a:solidFill>
                  <a:latin typeface="宋体" panose="02010600030101010101" pitchFamily="2" charset="-122"/>
                </a:rPr>
                <a:t> </a:t>
              </a:r>
              <a:r>
                <a:rPr lang="zh-CN" altLang="en-US" sz="2000" dirty="0">
                  <a:solidFill>
                    <a:srgbClr val="000000"/>
                  </a:solidFill>
                  <a:latin typeface="宋体" panose="02010600030101010101" pitchFamily="2" charset="-122"/>
                </a:rPr>
                <a:t>       </a:t>
              </a:r>
              <a:endParaRPr lang="zh-CN" altLang="en-US" sz="2000" dirty="0">
                <a:solidFill>
                  <a:srgbClr val="000000"/>
                </a:solidFill>
                <a:latin typeface="宋体" panose="02010600030101010101" pitchFamily="2" charset="-122"/>
              </a:endParaRPr>
            </a:p>
          </p:txBody>
        </p:sp>
        <p:graphicFrame>
          <p:nvGraphicFramePr>
            <p:cNvPr id="18" name="Object 13"/>
            <p:cNvGraphicFramePr>
              <a:graphicFrameLocks noChangeAspect="1"/>
            </p:cNvGraphicFramePr>
            <p:nvPr/>
          </p:nvGraphicFramePr>
          <p:xfrm>
            <a:off x="1200" y="3024"/>
            <a:ext cx="720" cy="336"/>
          </p:xfrm>
          <a:graphic>
            <a:graphicData uri="http://schemas.openxmlformats.org/presentationml/2006/ole">
              <mc:AlternateContent xmlns:mc="http://schemas.openxmlformats.org/markup-compatibility/2006">
                <mc:Choice xmlns:v="urn:schemas-microsoft-com:vml" Requires="v">
                  <p:oleObj spid="_x0000_s217115" name="" r:id="rId1" imgW="545465" imgH="203200" progId="Equation.DSMT4">
                    <p:embed/>
                  </p:oleObj>
                </mc:Choice>
                <mc:Fallback>
                  <p:oleObj name="" r:id="rId1" imgW="545465" imgH="203200" progId="Equation.DSMT4">
                    <p:embed/>
                    <p:pic>
                      <p:nvPicPr>
                        <p:cNvPr id="0" name="图片 217114"/>
                        <p:cNvPicPr/>
                        <p:nvPr/>
                      </p:nvPicPr>
                      <p:blipFill>
                        <a:blip r:embed="rId2"/>
                        <a:stretch>
                          <a:fillRect/>
                        </a:stretch>
                      </p:blipFill>
                      <p:spPr>
                        <a:xfrm>
                          <a:off x="1200" y="3024"/>
                          <a:ext cx="720" cy="336"/>
                        </a:xfrm>
                        <a:prstGeom prst="rect">
                          <a:avLst/>
                        </a:prstGeom>
                        <a:noFill/>
                        <a:ln w="38100">
                          <a:noFill/>
                          <a:miter/>
                        </a:ln>
                      </p:spPr>
                    </p:pic>
                  </p:oleObj>
                </mc:Fallback>
              </mc:AlternateContent>
            </a:graphicData>
          </a:graphic>
        </p:graphicFrame>
      </p:grpSp>
      <p:grpSp>
        <p:nvGrpSpPr>
          <p:cNvPr id="19" name="Group 35"/>
          <p:cNvGrpSpPr/>
          <p:nvPr/>
        </p:nvGrpSpPr>
        <p:grpSpPr>
          <a:xfrm>
            <a:off x="5003800" y="2714992"/>
            <a:ext cx="1457325" cy="1135063"/>
            <a:chOff x="3161" y="2677"/>
            <a:chExt cx="918" cy="715"/>
          </a:xfrm>
        </p:grpSpPr>
        <p:sp>
          <p:nvSpPr>
            <p:cNvPr id="20" name="Text Box 16"/>
            <p:cNvSpPr txBox="1"/>
            <p:nvPr/>
          </p:nvSpPr>
          <p:spPr>
            <a:xfrm>
              <a:off x="3161" y="2677"/>
              <a:ext cx="830" cy="306"/>
            </a:xfrm>
            <a:prstGeom prst="rect">
              <a:avLst/>
            </a:prstGeom>
            <a:noFill/>
            <a:ln w="9525" cap="flat" cmpd="sng">
              <a:solidFill>
                <a:schemeClr val="hlink"/>
              </a:solidFill>
              <a:prstDash val="solid"/>
              <a:miter/>
              <a:headEnd type="none" w="med" len="med"/>
              <a:tailEnd type="none" w="med" len="med"/>
            </a:ln>
          </p:spPr>
          <p:txBody>
            <a:bodyPr wrap="square" lIns="0" rIns="0">
              <a:noAutofit/>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stStyle>
            <a:p>
              <a:pPr marL="0" lvl="0" indent="0" algn="dist">
                <a:spcBef>
                  <a:spcPct val="0"/>
                </a:spcBef>
                <a:buClrTx/>
                <a:buSzTx/>
                <a:buFontTx/>
                <a:buNone/>
              </a:pPr>
              <a:r>
                <a:rPr lang="zh-CN" altLang="en-US" sz="2000" b="1"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粒子性</a:t>
              </a:r>
              <a:r>
                <a:rPr lang="zh-CN" altLang="en-US" sz="2000" dirty="0">
                  <a:solidFill>
                    <a:srgbClr val="000000"/>
                  </a:solidFill>
                  <a:latin typeface="宋体" panose="02010600030101010101" pitchFamily="2" charset="-122"/>
                </a:rPr>
                <a:t>                    </a:t>
              </a:r>
              <a:endParaRPr lang="zh-CN" altLang="en-US" sz="2000" dirty="0">
                <a:solidFill>
                  <a:srgbClr val="000000"/>
                </a:solidFill>
                <a:latin typeface="宋体" panose="02010600030101010101" pitchFamily="2" charset="-122"/>
              </a:endParaRPr>
            </a:p>
          </p:txBody>
        </p:sp>
        <p:graphicFrame>
          <p:nvGraphicFramePr>
            <p:cNvPr id="21" name="Object 17"/>
            <p:cNvGraphicFramePr>
              <a:graphicFrameLocks noChangeAspect="1"/>
            </p:cNvGraphicFramePr>
            <p:nvPr/>
          </p:nvGraphicFramePr>
          <p:xfrm>
            <a:off x="3431" y="3051"/>
            <a:ext cx="648" cy="341"/>
          </p:xfrm>
          <a:graphic>
            <a:graphicData uri="http://schemas.openxmlformats.org/presentationml/2006/ole">
              <mc:AlternateContent xmlns:mc="http://schemas.openxmlformats.org/markup-compatibility/2006">
                <mc:Choice xmlns:v="urn:schemas-microsoft-com:vml" Requires="v">
                  <p:oleObj spid="_x0000_s217116" name="" r:id="rId3" imgW="419100" imgH="203200" progId="Equation.DSMT4">
                    <p:embed/>
                  </p:oleObj>
                </mc:Choice>
                <mc:Fallback>
                  <p:oleObj name="" r:id="rId3" imgW="419100" imgH="203200" progId="Equation.DSMT4">
                    <p:embed/>
                    <p:pic>
                      <p:nvPicPr>
                        <p:cNvPr id="0" name="图片 217115"/>
                        <p:cNvPicPr/>
                        <p:nvPr/>
                      </p:nvPicPr>
                      <p:blipFill>
                        <a:blip r:embed="rId4"/>
                        <a:stretch>
                          <a:fillRect/>
                        </a:stretch>
                      </p:blipFill>
                      <p:spPr>
                        <a:xfrm>
                          <a:off x="3431" y="3051"/>
                          <a:ext cx="648" cy="341"/>
                        </a:xfrm>
                        <a:prstGeom prst="rect">
                          <a:avLst/>
                        </a:prstGeom>
                        <a:noFill/>
                        <a:ln w="38100">
                          <a:noFill/>
                          <a:miter/>
                        </a:ln>
                      </p:spPr>
                    </p:pic>
                  </p:oleObj>
                </mc:Fallback>
              </mc:AlternateContent>
            </a:graphicData>
          </a:graphic>
        </p:graphicFrame>
      </p:grpSp>
      <p:grpSp>
        <p:nvGrpSpPr>
          <p:cNvPr id="22" name="Group 36"/>
          <p:cNvGrpSpPr/>
          <p:nvPr/>
        </p:nvGrpSpPr>
        <p:grpSpPr>
          <a:xfrm>
            <a:off x="3414713" y="2545130"/>
            <a:ext cx="1371600" cy="592137"/>
            <a:chOff x="2160" y="2570"/>
            <a:chExt cx="864" cy="373"/>
          </a:xfrm>
        </p:grpSpPr>
        <p:sp>
          <p:nvSpPr>
            <p:cNvPr id="23" name="AutoShape 20"/>
            <p:cNvSpPr/>
            <p:nvPr/>
          </p:nvSpPr>
          <p:spPr>
            <a:xfrm>
              <a:off x="2160" y="2784"/>
              <a:ext cx="864" cy="159"/>
            </a:xfrm>
            <a:prstGeom prst="leftRightArrow">
              <a:avLst>
                <a:gd name="adj1" fmla="val 50000"/>
                <a:gd name="adj2" fmla="val 108679"/>
              </a:avLst>
            </a:prstGeom>
            <a:noFill/>
            <a:ln w="9525" cap="flat" cmpd="sng">
              <a:solidFill>
                <a:srgbClr val="006666"/>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b="1" dirty="0">
                <a:solidFill>
                  <a:srgbClr val="000000"/>
                </a:solidFill>
                <a:latin typeface="Webdings" panose="05030102010509060703" pitchFamily="18" charset="2"/>
              </a:endParaRPr>
            </a:p>
          </p:txBody>
        </p:sp>
        <p:graphicFrame>
          <p:nvGraphicFramePr>
            <p:cNvPr id="24" name="Object 32"/>
            <p:cNvGraphicFramePr>
              <a:graphicFrameLocks noChangeAspect="1"/>
            </p:cNvGraphicFramePr>
            <p:nvPr/>
          </p:nvGraphicFramePr>
          <p:xfrm>
            <a:off x="2496" y="2570"/>
            <a:ext cx="229" cy="248"/>
          </p:xfrm>
          <a:graphic>
            <a:graphicData uri="http://schemas.openxmlformats.org/presentationml/2006/ole">
              <mc:AlternateContent xmlns:mc="http://schemas.openxmlformats.org/markup-compatibility/2006">
                <mc:Choice xmlns:v="urn:schemas-microsoft-com:vml" Requires="v">
                  <p:oleObj spid="_x0000_s217117" name="" r:id="rId5" imgW="152400" imgH="165100" progId="Equation.DSMT4">
                    <p:embed/>
                  </p:oleObj>
                </mc:Choice>
                <mc:Fallback>
                  <p:oleObj name="" r:id="rId5" imgW="152400" imgH="165100" progId="Equation.DSMT4">
                    <p:embed/>
                    <p:pic>
                      <p:nvPicPr>
                        <p:cNvPr id="0" name="图片 217116"/>
                        <p:cNvPicPr/>
                        <p:nvPr/>
                      </p:nvPicPr>
                      <p:blipFill>
                        <a:blip r:embed="rId6"/>
                        <a:stretch>
                          <a:fillRect/>
                        </a:stretch>
                      </p:blipFill>
                      <p:spPr>
                        <a:xfrm>
                          <a:off x="2496" y="2570"/>
                          <a:ext cx="229" cy="248"/>
                        </a:xfrm>
                        <a:prstGeom prst="rect">
                          <a:avLst/>
                        </a:prstGeom>
                        <a:noFill/>
                        <a:ln w="38100">
                          <a:noFill/>
                          <a:miter/>
                        </a:ln>
                      </p:spPr>
                    </p:pic>
                  </p:oleObj>
                </mc:Fallback>
              </mc:AlternateContent>
            </a:graphicData>
          </a:graphic>
        </p:graphicFrame>
      </p:grpSp>
      <p:grpSp>
        <p:nvGrpSpPr>
          <p:cNvPr id="25" name="Group 28"/>
          <p:cNvGrpSpPr/>
          <p:nvPr/>
        </p:nvGrpSpPr>
        <p:grpSpPr>
          <a:xfrm>
            <a:off x="3204083" y="3290937"/>
            <a:ext cx="1926082" cy="1146175"/>
            <a:chOff x="1056" y="2880"/>
            <a:chExt cx="1046" cy="722"/>
          </a:xfrm>
          <a:solidFill>
            <a:schemeClr val="bg1">
              <a:lumMod val="75000"/>
              <a:alpha val="49000"/>
            </a:schemeClr>
          </a:solidFill>
        </p:grpSpPr>
        <p:graphicFrame>
          <p:nvGraphicFramePr>
            <p:cNvPr id="26" name="Object 7"/>
            <p:cNvGraphicFramePr>
              <a:graphicFrameLocks noChangeAspect="1"/>
            </p:cNvGraphicFramePr>
            <p:nvPr/>
          </p:nvGraphicFramePr>
          <p:xfrm>
            <a:off x="1056" y="2880"/>
            <a:ext cx="1046" cy="274"/>
          </p:xfrm>
          <a:graphic>
            <a:graphicData uri="http://schemas.openxmlformats.org/presentationml/2006/ole">
              <mc:AlternateContent xmlns:mc="http://schemas.openxmlformats.org/markup-compatibility/2006">
                <mc:Choice xmlns:v="urn:schemas-microsoft-com:vml" Requires="v">
                  <p:oleObj spid="_x0000_s217118" name="" r:id="rId7" imgW="824865" imgH="177800" progId="Equation.3">
                    <p:embed/>
                  </p:oleObj>
                </mc:Choice>
                <mc:Fallback>
                  <p:oleObj name="" r:id="rId7" imgW="824865" imgH="177800" progId="Equation.3">
                    <p:embed/>
                    <p:pic>
                      <p:nvPicPr>
                        <p:cNvPr id="0" name="图片 217117"/>
                        <p:cNvPicPr/>
                        <p:nvPr/>
                      </p:nvPicPr>
                      <p:blipFill>
                        <a:blip r:embed="rId8"/>
                        <a:stretch>
                          <a:fillRect/>
                        </a:stretch>
                      </p:blipFill>
                      <p:spPr>
                        <a:xfrm>
                          <a:off x="1056" y="2880"/>
                          <a:ext cx="1046" cy="274"/>
                        </a:xfrm>
                        <a:prstGeom prst="rect">
                          <a:avLst/>
                        </a:prstGeom>
                        <a:solidFill>
                          <a:srgbClr val="FFFF99"/>
                        </a:solidFill>
                        <a:ln w="9525" cap="flat" cmpd="sng">
                          <a:solidFill>
                            <a:srgbClr val="008000"/>
                          </a:solidFill>
                          <a:prstDash val="solid"/>
                          <a:miter/>
                          <a:headEnd type="none" w="med" len="med"/>
                          <a:tailEnd type="none" w="med" len="med"/>
                        </a:ln>
                      </p:spPr>
                    </p:pic>
                  </p:oleObj>
                </mc:Fallback>
              </mc:AlternateContent>
            </a:graphicData>
          </a:graphic>
        </p:graphicFrame>
        <p:graphicFrame>
          <p:nvGraphicFramePr>
            <p:cNvPr id="27" name="Object 8"/>
            <p:cNvGraphicFramePr>
              <a:graphicFrameLocks noChangeAspect="1"/>
            </p:cNvGraphicFramePr>
            <p:nvPr/>
          </p:nvGraphicFramePr>
          <p:xfrm>
            <a:off x="1056" y="3280"/>
            <a:ext cx="1032" cy="322"/>
          </p:xfrm>
          <a:graphic>
            <a:graphicData uri="http://schemas.openxmlformats.org/presentationml/2006/ole">
              <mc:AlternateContent xmlns:mc="http://schemas.openxmlformats.org/markup-compatibility/2006">
                <mc:Choice xmlns:v="urn:schemas-microsoft-com:vml" Requires="v">
                  <p:oleObj spid="_x0000_s217119" name="" r:id="rId9" imgW="927100" imgH="228600" progId="Equation.3">
                    <p:embed/>
                  </p:oleObj>
                </mc:Choice>
                <mc:Fallback>
                  <p:oleObj name="" r:id="rId9" imgW="927100" imgH="228600" progId="Equation.3">
                    <p:embed/>
                    <p:pic>
                      <p:nvPicPr>
                        <p:cNvPr id="0" name="图片 217118"/>
                        <p:cNvPicPr/>
                        <p:nvPr/>
                      </p:nvPicPr>
                      <p:blipFill>
                        <a:blip r:embed="rId10"/>
                        <a:stretch>
                          <a:fillRect/>
                        </a:stretch>
                      </p:blipFill>
                      <p:spPr>
                        <a:xfrm>
                          <a:off x="1056" y="3280"/>
                          <a:ext cx="1032" cy="322"/>
                        </a:xfrm>
                        <a:prstGeom prst="rect">
                          <a:avLst/>
                        </a:prstGeom>
                        <a:solidFill>
                          <a:srgbClr val="FFFF99"/>
                        </a:solidFill>
                        <a:ln w="9525" cap="flat" cmpd="sng">
                          <a:solidFill>
                            <a:srgbClr val="008000"/>
                          </a:solidFill>
                          <a:prstDash val="solid"/>
                          <a:miter/>
                          <a:headEnd type="none" w="med" len="med"/>
                          <a:tailEnd type="none" w="med" len="med"/>
                        </a:ln>
                      </p:spPr>
                    </p:pic>
                  </p:oleObj>
                </mc:Fallback>
              </mc:AlternateContent>
            </a:graphicData>
          </a:graphic>
        </p:graphicFrame>
      </p:grpSp>
      <p:graphicFrame>
        <p:nvGraphicFramePr>
          <p:cNvPr id="3" name="Object 2"/>
          <p:cNvGraphicFramePr>
            <a:graphicFrameLocks noChangeAspect="1"/>
          </p:cNvGraphicFramePr>
          <p:nvPr/>
        </p:nvGraphicFramePr>
        <p:xfrm>
          <a:off x="3040044" y="5161974"/>
          <a:ext cx="1544638" cy="1606550"/>
        </p:xfrm>
        <a:graphic>
          <a:graphicData uri="http://schemas.openxmlformats.org/presentationml/2006/ole">
            <mc:AlternateContent xmlns:mc="http://schemas.openxmlformats.org/markup-compatibility/2006">
              <mc:Choice xmlns:v="urn:schemas-microsoft-com:vml" Requires="v">
                <p:oleObj spid="_x0000_s217120" name="" r:id="rId11" imgW="520700" imgH="812165" progId="Equation.DSMT4">
                  <p:embed/>
                </p:oleObj>
              </mc:Choice>
              <mc:Fallback>
                <p:oleObj name="" r:id="rId11" imgW="520700" imgH="812165"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0044" y="5161974"/>
                        <a:ext cx="1544638" cy="1606550"/>
                      </a:xfrm>
                      <a:prstGeom prst="rect">
                        <a:avLst/>
                      </a:prstGeom>
                      <a:noFill/>
                      <a:ln w="9525" cap="flat" cmpd="sng">
                        <a:solidFill>
                          <a:srgbClr val="0000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1674813" y="5765194"/>
            <a:ext cx="1217000" cy="400110"/>
          </a:xfrm>
          <a:prstGeom prst="rect">
            <a:avLst/>
          </a:prstGeom>
          <a:noFill/>
        </p:spPr>
        <p:txBody>
          <a:bodyPr wrap="none" rtlCol="0">
            <a:spAutoFit/>
          </a:bodyPr>
          <a:lstStyle/>
          <a:p>
            <a:r>
              <a:rPr lang="zh-CN" altLang="en-US" sz="2000" b="1" dirty="0" smtClean="0">
                <a:solidFill>
                  <a:srgbClr val="FF0000"/>
                </a:solidFill>
              </a:rPr>
              <a:t>自有粒子</a:t>
            </a:r>
            <a:endParaRPr lang="en-US" sz="2000" b="1" dirty="0">
              <a:solidFill>
                <a:srgbClr val="FF0000"/>
              </a:solidFill>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par>
                                <p:cTn id="8" presetID="4" presetClass="entr" presetSubtype="16"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ox(in)">
                                      <p:cBhvr>
                                        <p:cTn id="10" dur="500"/>
                                        <p:tgtEl>
                                          <p:spTgt spid="19"/>
                                        </p:tgtEl>
                                      </p:cBhvr>
                                    </p:animEffect>
                                  </p:childTnLst>
                                </p:cTn>
                              </p:par>
                              <p:par>
                                <p:cTn id="11" presetID="4" presetClass="entr" presetSubtype="16"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ox(in)">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box(out)">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pic>
        <p:nvPicPr>
          <p:cNvPr id="4" name="图片 3"/>
          <p:cNvPicPr>
            <a:picLocks noChangeAspect="1"/>
          </p:cNvPicPr>
          <p:nvPr>
            <p:custDataLst>
              <p:tags r:id="rId1"/>
            </p:custDataLst>
          </p:nvPr>
        </p:nvPicPr>
        <p:blipFill>
          <a:blip r:embed="rId2"/>
          <a:srcRect t="15842"/>
          <a:stretch>
            <a:fillRect/>
          </a:stretch>
        </p:blipFill>
        <p:spPr>
          <a:xfrm>
            <a:off x="395605" y="981075"/>
            <a:ext cx="7934960" cy="647700"/>
          </a:xfrm>
          <a:prstGeom prst="rect">
            <a:avLst/>
          </a:prstGeom>
        </p:spPr>
      </p:pic>
      <p:sp>
        <p:nvSpPr>
          <p:cNvPr id="3" name="文本框 2"/>
          <p:cNvSpPr txBox="1"/>
          <p:nvPr/>
        </p:nvSpPr>
        <p:spPr>
          <a:xfrm>
            <a:off x="261620" y="2717165"/>
            <a:ext cx="8413750" cy="1814830"/>
          </a:xfrm>
          <a:prstGeom prst="rect">
            <a:avLst/>
          </a:prstGeom>
          <a:noFill/>
        </p:spPr>
        <p:txBody>
          <a:bodyPr wrap="square" rtlCol="0">
            <a:spAutoFit/>
          </a:bodyPr>
          <a:lstStyle/>
          <a:p>
            <a:r>
              <a:rPr lang="zh-CN" altLang="en-US" sz="2800" dirty="0">
                <a:latin typeface="Times New Roman" panose="02020603050405020304" pitchFamily="18" charset="0"/>
                <a:cs typeface="Times New Roman" panose="02020603050405020304" pitchFamily="18" charset="0"/>
              </a:rPr>
              <a:t>德布罗意关系：</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E=</a:t>
            </a:r>
            <a:r>
              <a:rPr lang="en-US" altLang="zh-CN" sz="2800" dirty="0" err="1">
                <a:latin typeface="Times New Roman" panose="02020603050405020304" pitchFamily="18" charset="0"/>
                <a:cs typeface="Times New Roman" panose="02020603050405020304" pitchFamily="18" charset="0"/>
              </a:rPr>
              <a:t>hv</a:t>
            </a:r>
            <a:r>
              <a:rPr lang="en-US" altLang="zh-CN" sz="2800" dirty="0">
                <a:latin typeface="Times New Roman" panose="02020603050405020304" pitchFamily="18" charset="0"/>
                <a:cs typeface="Times New Roman" panose="02020603050405020304" pitchFamily="18" charset="0"/>
              </a:rPr>
              <a:t>=</a:t>
            </a:r>
            <a:r>
              <a:rPr lang="en-US" altLang="zh-CN" sz="2800" dirty="0" err="1">
                <a:latin typeface="Times New Roman" panose="02020603050405020304" pitchFamily="18" charset="0"/>
                <a:ea typeface="微软雅黑" panose="020B0503020204020204" charset="-122"/>
                <a:cs typeface="Times New Roman" panose="02020603050405020304" pitchFamily="18" charset="0"/>
              </a:rPr>
              <a:t>ħω</a:t>
            </a:r>
            <a:r>
              <a:rPr lang="en-US" altLang="zh-CN" sz="2800" dirty="0">
                <a:latin typeface="Times New Roman" panose="02020603050405020304" pitchFamily="18" charset="0"/>
                <a:ea typeface="微软雅黑" panose="020B0503020204020204" charset="-122"/>
                <a:cs typeface="Times New Roman" panose="02020603050405020304" pitchFamily="18" charset="0"/>
              </a:rPr>
              <a:t>; </a:t>
            </a:r>
            <a:endParaRPr lang="en-US" altLang="zh-CN" sz="2800" dirty="0">
              <a:latin typeface="Times New Roman" panose="02020603050405020304" pitchFamily="18" charset="0"/>
              <a:ea typeface="微软雅黑" panose="020B0503020204020204" charset="-122"/>
              <a:cs typeface="Times New Roman" panose="02020603050405020304" pitchFamily="18" charset="0"/>
            </a:endParaRPr>
          </a:p>
          <a:p>
            <a:r>
              <a:rPr lang="en-US" altLang="zh-CN" sz="2800" dirty="0">
                <a:latin typeface="Times New Roman" panose="02020603050405020304" pitchFamily="18" charset="0"/>
                <a:ea typeface="微软雅黑" panose="020B0503020204020204" charset="-122"/>
                <a:cs typeface="Times New Roman" panose="02020603050405020304" pitchFamily="18" charset="0"/>
              </a:rPr>
              <a:t>p=</a:t>
            </a:r>
            <a:r>
              <a:rPr lang="en-US" altLang="zh-CN" sz="2800" dirty="0" err="1">
                <a:latin typeface="Times New Roman" panose="02020603050405020304" pitchFamily="18" charset="0"/>
                <a:ea typeface="微软雅黑" panose="020B0503020204020204" charset="-122"/>
                <a:cs typeface="Times New Roman" panose="02020603050405020304" pitchFamily="18" charset="0"/>
                <a:sym typeface="+mn-ea"/>
              </a:rPr>
              <a:t>ħk</a:t>
            </a:r>
            <a:r>
              <a:rPr lang="en-US" altLang="zh-CN" sz="2800" dirty="0">
                <a:latin typeface="Times New Roman" panose="02020603050405020304" pitchFamily="18" charset="0"/>
                <a:ea typeface="微软雅黑" panose="020B0503020204020204" charset="-122"/>
                <a:cs typeface="Times New Roman" panose="02020603050405020304" pitchFamily="18" charset="0"/>
                <a:sym typeface="+mn-ea"/>
              </a:rPr>
              <a:t>=h/</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λ=(2mE)</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sym typeface="+mn-ea"/>
              </a:rPr>
              <a:t>0.5</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endParaRPr>
          </a:p>
          <a:p>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rPr>
              <a:t>→λ=h/(2mE)</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sym typeface="+mn-ea"/>
              </a:rPr>
              <a:t>0.5</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6" name="文本框 5"/>
          <p:cNvSpPr txBox="1"/>
          <p:nvPr/>
        </p:nvSpPr>
        <p:spPr>
          <a:xfrm>
            <a:off x="251520" y="1629092"/>
            <a:ext cx="7240210" cy="830997"/>
          </a:xfrm>
          <a:prstGeom prst="rect">
            <a:avLst/>
          </a:prstGeom>
        </p:spPr>
        <p:txBody>
          <a:bodyPr wrap="square">
            <a:spAutoFit/>
          </a:bodyPr>
          <a:lstStyle/>
          <a:p>
            <a:pPr marL="0" indent="0" algn="just" defTabSz="266700">
              <a:spcBef>
                <a:spcPct val="0"/>
              </a:spcBef>
              <a:spcAft>
                <a:spcPct val="0"/>
              </a:spcAft>
            </a:pPr>
            <a:r>
              <a:rPr lang="en-US" altLang="zh-CN" sz="2400" dirty="0">
                <a:solidFill>
                  <a:srgbClr val="2E3033"/>
                </a:solidFill>
                <a:latin typeface="Times New Roman" panose="02020603050405020304"/>
                <a:ea typeface="Times New Roman" panose="02020603050405020304"/>
              </a:rPr>
              <a:t>e=1.6*10-19C</a:t>
            </a:r>
            <a:endParaRPr lang="zh-CN" altLang="en-US" sz="2400" dirty="0">
              <a:solidFill>
                <a:srgbClr val="2E3033"/>
              </a:solidFill>
              <a:latin typeface="Times New Roman" panose="02020603050405020304"/>
              <a:ea typeface="宋体" panose="02010600030101010101" pitchFamily="2" charset="-122"/>
            </a:endParaRPr>
          </a:p>
          <a:p>
            <a:pPr marL="0" indent="0" algn="just" defTabSz="266700">
              <a:spcBef>
                <a:spcPct val="0"/>
              </a:spcBef>
              <a:spcAft>
                <a:spcPct val="0"/>
              </a:spcAft>
            </a:pPr>
            <a:r>
              <a:rPr lang="en-US" altLang="zh-CN" sz="2400" dirty="0">
                <a:solidFill>
                  <a:srgbClr val="2E3033"/>
                </a:solidFill>
                <a:latin typeface="Times New Roman" panose="02020603050405020304"/>
                <a:ea typeface="Times New Roman" panose="02020603050405020304"/>
              </a:rPr>
              <a:t>m</a:t>
            </a:r>
            <a:r>
              <a:rPr lang="en-US" altLang="zh-CN" sz="2400" baseline="-25000" dirty="0">
                <a:solidFill>
                  <a:srgbClr val="2E3033"/>
                </a:solidFill>
                <a:latin typeface="Times New Roman" panose="02020603050405020304"/>
                <a:ea typeface="Times New Roman" panose="02020603050405020304"/>
              </a:rPr>
              <a:t>e</a:t>
            </a:r>
            <a:r>
              <a:rPr lang="en-US" altLang="zh-CN" sz="2400" dirty="0">
                <a:solidFill>
                  <a:srgbClr val="2E3033"/>
                </a:solidFill>
                <a:latin typeface="Times New Roman" panose="02020603050405020304"/>
                <a:ea typeface="Times New Roman" panose="02020603050405020304"/>
              </a:rPr>
              <a:t>=9.1*10-31kg=0.51MeV/C</a:t>
            </a:r>
            <a:r>
              <a:rPr lang="en-US" altLang="zh-CN" sz="2400" baseline="30000" dirty="0">
                <a:solidFill>
                  <a:srgbClr val="2E3033"/>
                </a:solidFill>
                <a:latin typeface="Times New Roman" panose="02020603050405020304"/>
                <a:ea typeface="Times New Roman" panose="02020603050405020304"/>
              </a:rPr>
              <a:t>2</a:t>
            </a:r>
            <a:r>
              <a:rPr lang="zh-CN" altLang="en-US" sz="2400" dirty="0">
                <a:solidFill>
                  <a:srgbClr val="2E3033"/>
                </a:solidFill>
                <a:latin typeface="Times New Roman" panose="02020603050405020304"/>
                <a:ea typeface="宋体" panose="02010600030101010101" pitchFamily="2" charset="-122"/>
              </a:rPr>
              <a:t>，</a:t>
            </a:r>
            <a:r>
              <a:rPr lang="en-US" altLang="zh-CN" sz="2400" dirty="0">
                <a:solidFill>
                  <a:srgbClr val="2E3033"/>
                </a:solidFill>
                <a:latin typeface="Times New Roman" panose="02020603050405020304"/>
                <a:ea typeface="Times New Roman" panose="02020603050405020304"/>
              </a:rPr>
              <a:t>h=6.62*10-34J.s</a:t>
            </a:r>
            <a:endParaRPr lang="en-US" altLang="zh-CN" sz="2400" dirty="0">
              <a:solidFill>
                <a:srgbClr val="2E3033"/>
              </a:solidFill>
              <a:latin typeface="Times New Roman" panose="02020603050405020304"/>
              <a:ea typeface="Times New Roman" panose="02020603050405020304"/>
            </a:endParaRPr>
          </a:p>
        </p:txBody>
      </p:sp>
      <p:sp>
        <p:nvSpPr>
          <p:cNvPr id="2" name="文本框 1"/>
          <p:cNvSpPr txBox="1"/>
          <p:nvPr/>
        </p:nvSpPr>
        <p:spPr>
          <a:xfrm>
            <a:off x="460375" y="175895"/>
            <a:ext cx="5047615" cy="521970"/>
          </a:xfrm>
          <a:prstGeom prst="rect">
            <a:avLst/>
          </a:prstGeom>
          <a:noFill/>
        </p:spPr>
        <p:txBody>
          <a:bodyPr wrap="square" rtlCol="0">
            <a:spAutoFit/>
          </a:bodyPr>
          <a:lstStyle/>
          <a:p>
            <a:r>
              <a:rPr lang="zh-CN" altLang="en-US" sz="2800" b="1" dirty="0" smtClean="0"/>
              <a:t>典型作业：</a:t>
            </a:r>
            <a:endParaRPr lang="zh-CN" altLang="en-US" sz="2800" b="1" dirty="0"/>
          </a:p>
        </p:txBody>
      </p:sp>
    </p:spTree>
  </p:cSld>
  <p:clrMapOvr>
    <a:masterClrMapping/>
  </p:clrMapOvr>
  <p:transition>
    <p:wheel spokes="2"/>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179705" y="332740"/>
            <a:ext cx="8589010" cy="521970"/>
          </a:xfrm>
          <a:prstGeom prst="rect">
            <a:avLst/>
          </a:prstGeom>
        </p:spPr>
        <p:txBody>
          <a:bodyPr wrap="square">
            <a:spAutoFit/>
          </a:bodyPr>
          <a:lstStyle/>
          <a:p>
            <a:pPr marL="0" indent="0" algn="just" defTabSz="266700">
              <a:spcBef>
                <a:spcPct val="0"/>
              </a:spcBef>
              <a:spcAft>
                <a:spcPct val="0"/>
              </a:spcAft>
            </a:pP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知识单元二 </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波函数和薛定谔方程（第二章第三章）</a:t>
            </a:r>
            <a:endParaRPr lang="zh-CN" altLang="en-US" sz="2800" b="1">
              <a:latin typeface="宋体" panose="02010600030101010101" pitchFamily="2" charset="-122"/>
              <a:ea typeface="宋体" panose="02010600030101010101" pitchFamily="2" charset="-122"/>
            </a:endParaRPr>
          </a:p>
        </p:txBody>
      </p:sp>
      <p:sp>
        <p:nvSpPr>
          <p:cNvPr id="3" name="文本框 2"/>
          <p:cNvSpPr txBox="1"/>
          <p:nvPr/>
        </p:nvSpPr>
        <p:spPr>
          <a:xfrm>
            <a:off x="827405" y="1341120"/>
            <a:ext cx="7501255" cy="2790187"/>
          </a:xfrm>
          <a:prstGeom prst="rect">
            <a:avLst/>
          </a:prstGeom>
          <a:noFill/>
          <a:ln>
            <a:noFill/>
          </a:ln>
        </p:spPr>
        <p:txBody>
          <a:bodyPr wrap="square">
            <a:spAutoFit/>
          </a:bodyPr>
          <a:lstStyle/>
          <a:p>
            <a:pPr marL="0" indent="0" algn="just" defTabSz="266700">
              <a:lnSpc>
                <a:spcPct val="150000"/>
              </a:lnSpc>
              <a:spcBef>
                <a:spcPct val="0"/>
              </a:spcBef>
              <a:spcAft>
                <a:spcPct val="0"/>
              </a:spcAft>
            </a:pPr>
            <a:r>
              <a:rPr lang="zh-CN" altLang="en-US" sz="2000" dirty="0">
                <a:highlight>
                  <a:srgbClr val="FFFF00"/>
                </a:highlight>
                <a:latin typeface="宋体" panose="02010600030101010101" pitchFamily="2" charset="-122"/>
                <a:ea typeface="宋体" panose="02010600030101010101" pitchFamily="2" charset="-122"/>
              </a:rPr>
              <a:t>掌握量子力学基本假定一和基本假定二：波函数及其统计解释，理解薛定谔方程及其应用；</a:t>
            </a:r>
            <a:r>
              <a:rPr lang="zh-CN" altLang="en-US" sz="2000" dirty="0">
                <a:latin typeface="宋体" panose="02010600030101010101" pitchFamily="2" charset="-122"/>
                <a:ea typeface="宋体" panose="02010600030101010101" pitchFamily="2" charset="-122"/>
              </a:rPr>
              <a:t>掌握定态的定义、定态波函数特点以及定态的判断方法；掌握定态薛定谔方程及应用定态薛定谔方程求解定态问题的方法和步骤</a:t>
            </a:r>
            <a:r>
              <a:rPr lang="zh-CN" altLang="en-US" sz="2000" dirty="0" smtClean="0">
                <a:latin typeface="宋体" panose="02010600030101010101" pitchFamily="2" charset="-122"/>
                <a:ea typeface="宋体" panose="02010600030101010101" pitchFamily="2" charset="-122"/>
              </a:rPr>
              <a:t>。掌</a:t>
            </a:r>
            <a:r>
              <a:rPr lang="zh-CN" altLang="en-US" sz="2000" dirty="0">
                <a:latin typeface="宋体" panose="02010600030101010101" pitchFamily="2" charset="-122"/>
                <a:ea typeface="宋体" panose="02010600030101010101" pitchFamily="2" charset="-122"/>
              </a:rPr>
              <a:t>握自由粒子波函数的无限空间归一化</a:t>
            </a:r>
            <a:r>
              <a:rPr lang="zh-CN" altLang="en-US" sz="2000" dirty="0" smtClean="0">
                <a:latin typeface="宋体" panose="02010600030101010101" pitchFamily="2" charset="-122"/>
                <a:ea typeface="宋体" panose="02010600030101010101" pitchFamily="2" charset="-122"/>
              </a:rPr>
              <a:t>；</a:t>
            </a:r>
            <a:r>
              <a:rPr lang="zh-CN" altLang="en-US" sz="2000" strike="sngStrike" dirty="0" smtClean="0">
                <a:solidFill>
                  <a:schemeClr val="tx1"/>
                </a:solidFill>
                <a:latin typeface="宋体" panose="02010600030101010101" pitchFamily="2" charset="-122"/>
                <a:ea typeface="宋体" panose="02010600030101010101" pitchFamily="2" charset="-122"/>
              </a:rPr>
              <a:t>了</a:t>
            </a:r>
            <a:r>
              <a:rPr lang="zh-CN" altLang="en-US" sz="2000" strike="sngStrike" dirty="0">
                <a:solidFill>
                  <a:schemeClr val="tx1"/>
                </a:solidFill>
                <a:latin typeface="宋体" panose="02010600030101010101" pitchFamily="2" charset="-122"/>
                <a:ea typeface="宋体" panose="02010600030101010101" pitchFamily="2" charset="-122"/>
              </a:rPr>
              <a:t>解一维无限深势</a:t>
            </a:r>
            <a:r>
              <a:rPr lang="zh-CN" altLang="en-US" sz="2000" strike="sngStrike" dirty="0" smtClean="0">
                <a:solidFill>
                  <a:schemeClr val="tx1"/>
                </a:solidFill>
                <a:latin typeface="宋体" panose="02010600030101010101" pitchFamily="2" charset="-122"/>
                <a:ea typeface="宋体" panose="02010600030101010101" pitchFamily="2" charset="-122"/>
              </a:rPr>
              <a:t>阱中粒</a:t>
            </a:r>
            <a:r>
              <a:rPr lang="zh-CN" altLang="en-US" sz="2000" strike="sngStrike" dirty="0">
                <a:solidFill>
                  <a:schemeClr val="tx1"/>
                </a:solidFill>
                <a:latin typeface="宋体" panose="02010600030101010101" pitchFamily="2" charset="-122"/>
                <a:ea typeface="宋体" panose="02010600030101010101" pitchFamily="2" charset="-122"/>
              </a:rPr>
              <a:t>子运动状</a:t>
            </a:r>
            <a:r>
              <a:rPr lang="zh-CN" altLang="en-US" sz="2000" strike="sngStrike" dirty="0" smtClean="0">
                <a:solidFill>
                  <a:schemeClr val="tx1"/>
                </a:solidFill>
                <a:latin typeface="宋体" panose="02010600030101010101" pitchFamily="2" charset="-122"/>
                <a:ea typeface="宋体" panose="02010600030101010101" pitchFamily="2" charset="-122"/>
              </a:rPr>
              <a:t>态的波</a:t>
            </a:r>
            <a:r>
              <a:rPr lang="zh-CN" altLang="en-US" sz="2000" strike="sngStrike" dirty="0">
                <a:solidFill>
                  <a:schemeClr val="tx1"/>
                </a:solidFill>
                <a:latin typeface="宋体" panose="02010600030101010101" pitchFamily="2" charset="-122"/>
                <a:ea typeface="宋体" panose="02010600030101010101" pitchFamily="2" charset="-122"/>
              </a:rPr>
              <a:t>函数</a:t>
            </a:r>
            <a:r>
              <a:rPr lang="zh-CN" altLang="en-US" sz="2000" strike="sngStrike" dirty="0" smtClean="0">
                <a:solidFill>
                  <a:schemeClr val="tx1"/>
                </a:solidFill>
                <a:latin typeface="宋体" panose="02010600030101010101" pitchFamily="2" charset="-122"/>
                <a:ea typeface="宋体" panose="02010600030101010101" pitchFamily="2" charset="-122"/>
              </a:rPr>
              <a:t>和空间的分布几率，掌握能量本征值公式及其应用计算</a:t>
            </a:r>
            <a:endParaRPr lang="zh-CN" altLang="en-US" sz="2000" strike="sngStrike" dirty="0" smtClean="0">
              <a:solidFill>
                <a:schemeClr val="tx1"/>
              </a:solidFill>
              <a:highlight>
                <a:srgbClr val="FFFF00"/>
              </a:highlight>
              <a:latin typeface="宋体" panose="02010600030101010101" pitchFamily="2" charset="-122"/>
              <a:ea typeface="宋体" panose="02010600030101010101" pitchFamily="2" charset="-122"/>
            </a:endParaRPr>
          </a:p>
        </p:txBody>
      </p:sp>
      <p:sp>
        <p:nvSpPr>
          <p:cNvPr id="4" name="文本框 3"/>
          <p:cNvSpPr txBox="1"/>
          <p:nvPr/>
        </p:nvSpPr>
        <p:spPr>
          <a:xfrm>
            <a:off x="755650" y="5517515"/>
            <a:ext cx="7150100" cy="521970"/>
          </a:xfrm>
          <a:prstGeom prst="rect">
            <a:avLst/>
          </a:prstGeom>
          <a:noFill/>
        </p:spPr>
        <p:txBody>
          <a:bodyPr wrap="square" rtlCol="0" anchor="t">
            <a:spAutoFit/>
          </a:bodyPr>
          <a:lstStyle/>
          <a:p>
            <a:pPr defTabSz="457200"/>
            <a:r>
              <a:rPr lang="zh-CN" altLang="en-US" sz="2800" b="1" dirty="0" smtClean="0">
                <a:sym typeface="+mn-ea"/>
              </a:rPr>
              <a:t>题型：填空，</a:t>
            </a:r>
            <a:r>
              <a:rPr lang="zh-CN" altLang="en-US" sz="2800" b="1" dirty="0" smtClean="0">
                <a:sym typeface="+mn-ea"/>
              </a:rPr>
              <a:t>名词解释，简答</a:t>
            </a:r>
            <a:endParaRPr lang="zh-CN" altLang="en-US" sz="2800" b="1" dirty="0" smtClean="0">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67360" y="575945"/>
            <a:ext cx="8253095" cy="2997744"/>
          </a:xfrm>
          <a:prstGeom prst="rect">
            <a:avLst/>
          </a:prstGeom>
          <a:noFill/>
        </p:spPr>
        <p:txBody>
          <a:bodyPr wrap="square" rtlCol="0" anchor="t">
            <a:spAutoFit/>
          </a:bodyPr>
          <a:lstStyle/>
          <a:p>
            <a:pPr marL="0" marR="0" lvl="0" indent="0" algn="just" defTabSz="914400" rtl="0" eaLnBrk="0" fontAlgn="base" latinLnBrk="0" hangingPunct="0">
              <a:lnSpc>
                <a:spcPct val="100000"/>
              </a:lnSpc>
              <a:spcBef>
                <a:spcPct val="0"/>
              </a:spcBef>
              <a:spcAft>
                <a:spcPts val="0"/>
              </a:spcAft>
              <a:buClrTx/>
              <a:buSzTx/>
              <a:buFontTx/>
              <a:buNone/>
              <a:defRPr/>
            </a:pPr>
            <a:r>
              <a:rPr lang="zh-CN" altLang="en-US" sz="2400" b="1" kern="100" noProof="0" dirty="0">
                <a:ln>
                  <a:noFill/>
                </a:ln>
                <a:effectLst/>
                <a:uLnTx/>
                <a:uFillTx/>
                <a:latin typeface="+mn-ea"/>
                <a:cs typeface="Times New Roman" panose="02020603050405020304" pitchFamily="18" charset="0"/>
                <a:sym typeface="+mn-ea"/>
              </a:rPr>
              <a:t>第二章</a:t>
            </a:r>
            <a:endParaRPr lang="zh-CN" altLang="en-US" sz="2400" b="1" kern="100" noProof="0" dirty="0">
              <a:ln>
                <a:noFill/>
              </a:ln>
              <a:effectLst/>
              <a:uLnTx/>
              <a:uFillTx/>
              <a:latin typeface="+mn-ea"/>
              <a:cs typeface="Times New Roman" panose="02020603050405020304" pitchFamily="18" charset="0"/>
              <a:sym typeface="+mn-ea"/>
            </a:endParaRPr>
          </a:p>
          <a:p>
            <a:pPr marL="0" marR="0" lvl="0" indent="0" algn="just" defTabSz="914400" rtl="0" eaLnBrk="0" fontAlgn="base" latinLnBrk="0" hangingPunct="0">
              <a:lnSpc>
                <a:spcPct val="100000"/>
              </a:lnSpc>
              <a:spcBef>
                <a:spcPct val="0"/>
              </a:spcBef>
              <a:spcAft>
                <a:spcPts val="0"/>
              </a:spcAft>
              <a:buClrTx/>
              <a:buSzTx/>
              <a:buFontTx/>
              <a:buNone/>
              <a:defRPr/>
            </a:pPr>
            <a:r>
              <a:rPr lang="zh-CN" altLang="en-US" sz="2400" b="1" kern="100" noProof="0" dirty="0">
                <a:ln>
                  <a:noFill/>
                </a:ln>
                <a:effectLst/>
                <a:uLnTx/>
                <a:uFillTx/>
                <a:latin typeface="+mn-ea"/>
                <a:cs typeface="Times New Roman" panose="02020603050405020304" pitchFamily="18" charset="0"/>
                <a:sym typeface="+mn-ea"/>
              </a:rPr>
              <a:t>思考题：</a:t>
            </a:r>
            <a:endParaRPr kumimoji="0" lang="en-US" altLang="zh-CN" sz="2400" b="1" i="0" u="none" strike="noStrike" kern="100" cap="none" spc="0" normalizeH="0" baseline="0" noProof="0" dirty="0">
              <a:ln>
                <a:noFill/>
              </a:ln>
              <a:solidFill>
                <a:schemeClr val="tx1"/>
              </a:solidFill>
              <a:effectLst/>
              <a:uLnTx/>
              <a:uFillTx/>
              <a:latin typeface="+mn-ea"/>
              <a:ea typeface="+mn-ea"/>
              <a:cs typeface="Times New Roman" panose="02020603050405020304" pitchFamily="18" charset="0"/>
            </a:endParaRPr>
          </a:p>
          <a:p>
            <a:pPr marL="342900" marR="0" lvl="0" indent="-342900" algn="just" defTabSz="914400" rtl="0" eaLnBrk="0" fontAlgn="base" latinLnBrk="0" hangingPunct="0">
              <a:lnSpc>
                <a:spcPct val="110000"/>
              </a:lnSpc>
              <a:spcBef>
                <a:spcPts val="0"/>
              </a:spcBef>
              <a:spcAft>
                <a:spcPts val="0"/>
              </a:spcAft>
              <a:buClrTx/>
              <a:buSzTx/>
              <a:buFont typeface="+mj-lt"/>
              <a:buAutoNum type="arabicPeriod"/>
              <a:defRPr/>
            </a:pPr>
            <a:r>
              <a:rPr lang="zh-CN" altLang="zh-CN" b="1" kern="100" noProof="0" dirty="0" smtClean="0">
                <a:ln>
                  <a:noFill/>
                </a:ln>
                <a:effectLst/>
                <a:uLnTx/>
                <a:uFillTx/>
                <a:latin typeface="+mn-ea"/>
                <a:cs typeface="Times New Roman" panose="02020603050405020304" pitchFamily="18" charset="0"/>
                <a:sym typeface="+mn-ea"/>
              </a:rPr>
              <a:t>微</a:t>
            </a:r>
            <a:r>
              <a:rPr lang="zh-CN" altLang="zh-CN" b="1" kern="100" noProof="0" dirty="0">
                <a:ln>
                  <a:noFill/>
                </a:ln>
                <a:effectLst/>
                <a:uLnTx/>
                <a:uFillTx/>
                <a:latin typeface="+mn-ea"/>
                <a:cs typeface="Times New Roman" panose="02020603050405020304" pitchFamily="18" charset="0"/>
                <a:sym typeface="+mn-ea"/>
              </a:rPr>
              <a:t>观粒子由于具有波粒二象性，那么微观粒子的运动状态如何去描述？</a:t>
            </a:r>
            <a:endParaRPr kumimoji="0" lang="zh-CN" altLang="zh-CN" sz="1800" b="1" i="0" u="none" strike="noStrike" kern="100" cap="none" spc="0" normalizeH="0" baseline="0" noProof="0" dirty="0">
              <a:ln>
                <a:noFill/>
              </a:ln>
              <a:solidFill>
                <a:schemeClr val="tx1"/>
              </a:solidFill>
              <a:effectLst/>
              <a:uLnTx/>
              <a:uFillTx/>
              <a:latin typeface="+mn-ea"/>
              <a:ea typeface="+mn-ea"/>
              <a:cs typeface="Times New Roman" panose="02020603050405020304" pitchFamily="18" charset="0"/>
            </a:endParaRPr>
          </a:p>
          <a:p>
            <a:pPr marL="342900" marR="0" lvl="0" indent="-342900" algn="just" defTabSz="914400" rtl="0" eaLnBrk="0" fontAlgn="base" latinLnBrk="0" hangingPunct="0">
              <a:lnSpc>
                <a:spcPct val="110000"/>
              </a:lnSpc>
              <a:spcBef>
                <a:spcPts val="0"/>
              </a:spcBef>
              <a:spcAft>
                <a:spcPts val="0"/>
              </a:spcAft>
              <a:buClrTx/>
              <a:buSzTx/>
              <a:buFont typeface="+mj-lt"/>
              <a:buAutoNum type="arabicPeriod"/>
              <a:defRPr/>
            </a:pPr>
            <a:r>
              <a:rPr lang="zh-CN" altLang="zh-CN" b="1" kern="100" noProof="0" dirty="0" smtClean="0">
                <a:ln>
                  <a:noFill/>
                </a:ln>
                <a:effectLst/>
                <a:uLnTx/>
                <a:uFillTx/>
                <a:latin typeface="+mn-ea"/>
                <a:cs typeface="Times New Roman" panose="02020603050405020304" pitchFamily="18" charset="0"/>
                <a:sym typeface="+mn-ea"/>
              </a:rPr>
              <a:t>波</a:t>
            </a:r>
            <a:r>
              <a:rPr lang="zh-CN" altLang="en-US" b="1" kern="100" noProof="0" dirty="0">
                <a:ln>
                  <a:noFill/>
                </a:ln>
                <a:effectLst/>
                <a:uLnTx/>
                <a:uFillTx/>
                <a:latin typeface="+mn-ea"/>
                <a:cs typeface="Times New Roman" panose="02020603050405020304" pitchFamily="18" charset="0"/>
                <a:sym typeface="+mn-ea"/>
              </a:rPr>
              <a:t>函数</a:t>
            </a:r>
            <a:r>
              <a:rPr lang="zh-CN" altLang="zh-CN" b="1" kern="100" noProof="0" dirty="0">
                <a:ln>
                  <a:noFill/>
                </a:ln>
                <a:effectLst/>
                <a:uLnTx/>
                <a:uFillTx/>
                <a:latin typeface="+mn-ea"/>
                <a:cs typeface="Times New Roman" panose="02020603050405020304" pitchFamily="18" charset="0"/>
                <a:sym typeface="+mn-ea"/>
              </a:rPr>
              <a:t>的玻恩统计解释什么？</a:t>
            </a:r>
            <a:endParaRPr kumimoji="0" lang="zh-CN" altLang="zh-CN" sz="1800" b="1" i="0" u="none" strike="noStrike" kern="100" cap="none" spc="0" normalizeH="0" baseline="0" noProof="0" dirty="0">
              <a:ln>
                <a:noFill/>
              </a:ln>
              <a:solidFill>
                <a:schemeClr val="tx1"/>
              </a:solidFill>
              <a:effectLst/>
              <a:uLnTx/>
              <a:uFillTx/>
              <a:latin typeface="+mn-ea"/>
              <a:ea typeface="+mn-ea"/>
              <a:cs typeface="Times New Roman" panose="02020603050405020304" pitchFamily="18" charset="0"/>
            </a:endParaRPr>
          </a:p>
          <a:p>
            <a:pPr marL="342900" marR="0" lvl="0" indent="-342900" algn="just" defTabSz="914400" rtl="0" eaLnBrk="0" fontAlgn="base" latinLnBrk="0" hangingPunct="0">
              <a:lnSpc>
                <a:spcPct val="110000"/>
              </a:lnSpc>
              <a:spcBef>
                <a:spcPts val="0"/>
              </a:spcBef>
              <a:spcAft>
                <a:spcPts val="0"/>
              </a:spcAft>
              <a:buClrTx/>
              <a:buSzTx/>
              <a:buFont typeface="+mj-lt"/>
              <a:buAutoNum type="arabicPeriod"/>
              <a:defRPr/>
            </a:pPr>
            <a:r>
              <a:rPr lang="zh-CN" altLang="zh-CN" b="1" kern="100" noProof="0" dirty="0" smtClean="0">
                <a:ln>
                  <a:noFill/>
                </a:ln>
                <a:effectLst/>
                <a:uLnTx/>
                <a:uFillTx/>
                <a:latin typeface="+mn-ea"/>
                <a:cs typeface="Times New Roman" panose="02020603050405020304" pitchFamily="18" charset="0"/>
                <a:sym typeface="+mn-ea"/>
              </a:rPr>
              <a:t>波</a:t>
            </a:r>
            <a:r>
              <a:rPr lang="zh-CN" altLang="zh-CN" b="1" kern="100" noProof="0" dirty="0">
                <a:ln>
                  <a:noFill/>
                </a:ln>
                <a:effectLst/>
                <a:uLnTx/>
                <a:uFillTx/>
                <a:latin typeface="+mn-ea"/>
                <a:cs typeface="Times New Roman" panose="02020603050405020304" pitchFamily="18" charset="0"/>
                <a:sym typeface="+mn-ea"/>
              </a:rPr>
              <a:t>函数需要满足的基本条件具体有哪些？</a:t>
            </a:r>
            <a:endParaRPr kumimoji="0" lang="zh-CN" altLang="zh-CN" sz="1800" b="1" i="0" u="none" strike="noStrike" kern="100" cap="none" spc="0" normalizeH="0" baseline="0" noProof="0" dirty="0">
              <a:ln>
                <a:noFill/>
              </a:ln>
              <a:solidFill>
                <a:schemeClr val="tx1"/>
              </a:solidFill>
              <a:effectLst/>
              <a:uLnTx/>
              <a:uFillTx/>
              <a:latin typeface="+mn-ea"/>
              <a:ea typeface="+mn-ea"/>
              <a:cs typeface="Times New Roman" panose="02020603050405020304" pitchFamily="18" charset="0"/>
            </a:endParaRPr>
          </a:p>
          <a:p>
            <a:pPr marL="342900" marR="0" lvl="0" indent="-342900" algn="just" defTabSz="914400" rtl="0" eaLnBrk="0" fontAlgn="base" latinLnBrk="0" hangingPunct="0">
              <a:lnSpc>
                <a:spcPct val="110000"/>
              </a:lnSpc>
              <a:spcBef>
                <a:spcPts val="0"/>
              </a:spcBef>
              <a:spcAft>
                <a:spcPts val="0"/>
              </a:spcAft>
              <a:buClrTx/>
              <a:buSzTx/>
              <a:buFont typeface="+mj-lt"/>
              <a:buAutoNum type="arabicPeriod"/>
              <a:defRPr/>
            </a:pPr>
            <a:r>
              <a:rPr lang="zh-CN" altLang="zh-CN" b="1" kern="100" noProof="0" dirty="0" smtClean="0">
                <a:ln>
                  <a:noFill/>
                </a:ln>
                <a:effectLst/>
                <a:uLnTx/>
                <a:uFillTx/>
                <a:latin typeface="+mn-ea"/>
                <a:cs typeface="Times New Roman" panose="02020603050405020304" pitchFamily="18" charset="0"/>
                <a:sym typeface="+mn-ea"/>
              </a:rPr>
              <a:t>波</a:t>
            </a:r>
            <a:r>
              <a:rPr lang="zh-CN" altLang="zh-CN" b="1" kern="100" noProof="0" dirty="0">
                <a:ln>
                  <a:noFill/>
                </a:ln>
                <a:effectLst/>
                <a:uLnTx/>
                <a:uFillTx/>
                <a:latin typeface="+mn-ea"/>
                <a:cs typeface="Times New Roman" panose="02020603050405020304" pitchFamily="18" charset="0"/>
                <a:sym typeface="+mn-ea"/>
              </a:rPr>
              <a:t>函数的态叠加原理的内容是什么？</a:t>
            </a:r>
            <a:endParaRPr kumimoji="0" lang="zh-CN" altLang="zh-CN" sz="1800" b="1" i="0" u="none" strike="noStrike" kern="100" cap="none" spc="0" normalizeH="0" baseline="0" noProof="0" dirty="0">
              <a:ln>
                <a:noFill/>
              </a:ln>
              <a:solidFill>
                <a:schemeClr val="tx1"/>
              </a:solidFill>
              <a:effectLst/>
              <a:uLnTx/>
              <a:uFillTx/>
              <a:latin typeface="+mn-ea"/>
              <a:ea typeface="+mn-ea"/>
              <a:cs typeface="Times New Roman" panose="02020603050405020304" pitchFamily="18" charset="0"/>
            </a:endParaRPr>
          </a:p>
          <a:p>
            <a:pPr marL="342900" marR="0" lvl="0" indent="-342900" algn="just" defTabSz="914400" rtl="0" eaLnBrk="0" fontAlgn="base" latinLnBrk="0" hangingPunct="0">
              <a:lnSpc>
                <a:spcPct val="110000"/>
              </a:lnSpc>
              <a:spcBef>
                <a:spcPts val="0"/>
              </a:spcBef>
              <a:spcAft>
                <a:spcPts val="0"/>
              </a:spcAft>
              <a:buClrTx/>
              <a:buSzTx/>
              <a:buFont typeface="+mj-lt"/>
              <a:buAutoNum type="arabicPeriod"/>
              <a:defRPr/>
            </a:pPr>
            <a:r>
              <a:rPr lang="zh-CN" altLang="zh-CN" b="1" kern="100" noProof="0" dirty="0" smtClean="0">
                <a:ln>
                  <a:noFill/>
                </a:ln>
                <a:effectLst/>
                <a:uLnTx/>
                <a:uFillTx/>
                <a:latin typeface="+mn-ea"/>
                <a:cs typeface="Times New Roman" panose="02020603050405020304" pitchFamily="18" charset="0"/>
                <a:sym typeface="+mn-ea"/>
              </a:rPr>
              <a:t>请</a:t>
            </a:r>
            <a:r>
              <a:rPr lang="zh-CN" altLang="zh-CN" b="1" kern="100" noProof="0" dirty="0">
                <a:ln>
                  <a:noFill/>
                </a:ln>
                <a:effectLst/>
                <a:uLnTx/>
                <a:uFillTx/>
                <a:latin typeface="+mn-ea"/>
                <a:cs typeface="Times New Roman" panose="02020603050405020304" pitchFamily="18" charset="0"/>
                <a:sym typeface="+mn-ea"/>
              </a:rPr>
              <a:t>写出一般粒子的薛定谔方</a:t>
            </a:r>
            <a:r>
              <a:rPr lang="zh-CN" altLang="zh-CN" b="1" kern="100" noProof="0" dirty="0" smtClean="0">
                <a:ln>
                  <a:noFill/>
                </a:ln>
                <a:effectLst/>
                <a:uLnTx/>
                <a:uFillTx/>
                <a:latin typeface="+mn-ea"/>
                <a:cs typeface="Times New Roman" panose="02020603050405020304" pitchFamily="18" charset="0"/>
                <a:sym typeface="+mn-ea"/>
              </a:rPr>
              <a:t>程？</a:t>
            </a:r>
            <a:endParaRPr kumimoji="0" lang="zh-CN" altLang="zh-CN" sz="1800" b="1" i="0" u="none" strike="noStrike" kern="100" cap="none" spc="0" normalizeH="0" baseline="0" noProof="0" dirty="0">
              <a:ln>
                <a:noFill/>
              </a:ln>
              <a:solidFill>
                <a:schemeClr val="tx1"/>
              </a:solidFill>
              <a:effectLst/>
              <a:uLnTx/>
              <a:uFillTx/>
              <a:latin typeface="+mn-ea"/>
              <a:ea typeface="+mn-ea"/>
              <a:cs typeface="Times New Roman" panose="02020603050405020304" pitchFamily="18" charset="0"/>
            </a:endParaRPr>
          </a:p>
          <a:p>
            <a:pPr marL="342900" marR="0" lvl="0" indent="-342900" algn="just" defTabSz="914400" rtl="0" eaLnBrk="0" fontAlgn="base" latinLnBrk="0" hangingPunct="0">
              <a:lnSpc>
                <a:spcPct val="110000"/>
              </a:lnSpc>
              <a:spcBef>
                <a:spcPts val="0"/>
              </a:spcBef>
              <a:spcAft>
                <a:spcPts val="0"/>
              </a:spcAft>
              <a:buClrTx/>
              <a:buSzTx/>
              <a:buFont typeface="+mj-lt"/>
              <a:buAutoNum type="arabicPeriod"/>
              <a:defRPr/>
            </a:pPr>
            <a:r>
              <a:rPr lang="zh-CN" altLang="zh-CN" b="1" kern="100" noProof="0" dirty="0" smtClean="0">
                <a:ln>
                  <a:noFill/>
                </a:ln>
                <a:effectLst/>
                <a:uLnTx/>
                <a:uFillTx/>
                <a:latin typeface="+mn-ea"/>
                <a:cs typeface="Times New Roman" panose="02020603050405020304" pitchFamily="18" charset="0"/>
                <a:sym typeface="+mn-ea"/>
              </a:rPr>
              <a:t>什</a:t>
            </a:r>
            <a:r>
              <a:rPr lang="zh-CN" altLang="zh-CN" b="1" kern="100" noProof="0" dirty="0">
                <a:ln>
                  <a:noFill/>
                </a:ln>
                <a:effectLst/>
                <a:uLnTx/>
                <a:uFillTx/>
                <a:latin typeface="+mn-ea"/>
                <a:cs typeface="Times New Roman" panose="02020603050405020304" pitchFamily="18" charset="0"/>
                <a:sym typeface="+mn-ea"/>
              </a:rPr>
              <a:t>么是定态薛定谔方程，写出态薛定谔方程的解的形式？</a:t>
            </a:r>
            <a:endParaRPr kumimoji="0" lang="zh-CN" altLang="zh-CN" sz="1800" b="1" i="0" u="none" strike="noStrike" kern="100" cap="none" spc="0" normalizeH="0" baseline="0" noProof="0" dirty="0">
              <a:ln>
                <a:noFill/>
              </a:ln>
              <a:solidFill>
                <a:schemeClr val="tx1"/>
              </a:solidFill>
              <a:effectLst/>
              <a:uLnTx/>
              <a:uFillTx/>
              <a:latin typeface="+mn-ea"/>
              <a:ea typeface="+mn-ea"/>
              <a:cs typeface="Times New Roman" panose="02020603050405020304" pitchFamily="18" charset="0"/>
            </a:endParaRPr>
          </a:p>
          <a:p>
            <a:pPr marL="342900" marR="0" lvl="0" indent="-342900" algn="just" defTabSz="914400" rtl="0" eaLnBrk="0" fontAlgn="base" latinLnBrk="0" hangingPunct="0">
              <a:lnSpc>
                <a:spcPct val="110000"/>
              </a:lnSpc>
              <a:spcBef>
                <a:spcPts val="0"/>
              </a:spcBef>
              <a:spcAft>
                <a:spcPts val="0"/>
              </a:spcAft>
              <a:buClrTx/>
              <a:buSzTx/>
              <a:buFont typeface="+mj-lt"/>
              <a:buAutoNum type="arabicPeriod"/>
              <a:defRPr/>
            </a:pPr>
            <a:r>
              <a:rPr lang="zh-CN" altLang="zh-CN" b="1" strike="sngStrike" kern="100" noProof="0" dirty="0" smtClean="0">
                <a:ln>
                  <a:noFill/>
                </a:ln>
                <a:effectLst/>
                <a:uLnTx/>
                <a:uFillTx/>
                <a:latin typeface="+mn-ea"/>
                <a:cs typeface="Times New Roman" panose="02020603050405020304" pitchFamily="18" charset="0"/>
                <a:sym typeface="+mn-ea"/>
              </a:rPr>
              <a:t>定</a:t>
            </a:r>
            <a:r>
              <a:rPr lang="zh-CN" altLang="zh-CN" b="1" strike="sngStrike" kern="100" noProof="0" dirty="0">
                <a:ln>
                  <a:noFill/>
                </a:ln>
                <a:effectLst/>
                <a:uLnTx/>
                <a:uFillTx/>
                <a:latin typeface="+mn-ea"/>
                <a:cs typeface="Times New Roman" panose="02020603050405020304" pitchFamily="18" charset="0"/>
                <a:sym typeface="+mn-ea"/>
              </a:rPr>
              <a:t>态的性质有哪些，如何判断量子态是定态</a:t>
            </a:r>
            <a:r>
              <a:rPr lang="zh-CN" altLang="zh-CN" sz="2000" b="1" strike="sngStrike" kern="100" noProof="0" dirty="0" smtClean="0">
                <a:ln>
                  <a:noFill/>
                </a:ln>
                <a:effectLst/>
                <a:uLnTx/>
                <a:uFillTx/>
                <a:latin typeface="+mn-ea"/>
                <a:cs typeface="Times New Roman" panose="02020603050405020304" pitchFamily="18" charset="0"/>
                <a:sym typeface="+mn-ea"/>
              </a:rPr>
              <a:t>？</a:t>
            </a:r>
            <a:endParaRPr kumimoji="0" lang="zh-CN" altLang="zh-CN" sz="2000" b="1" i="0" u="none" strike="sngStrike" kern="100" cap="none" spc="0" normalizeH="0" baseline="0" noProof="0" dirty="0">
              <a:ln>
                <a:noFill/>
              </a:ln>
              <a:solidFill>
                <a:schemeClr val="tx1"/>
              </a:solidFill>
              <a:effectLst/>
              <a:uLnTx/>
              <a:uFillTx/>
              <a:latin typeface="+mn-ea"/>
              <a:ea typeface="+mn-ea"/>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p:cNvSpPr txBox="1">
            <a:spLocks noGrp="1"/>
          </p:cNvSpPr>
          <p:nvPr>
            <p:ph type="sldNum" sz="quarter" idx="4294967295"/>
          </p:nvPr>
        </p:nvSpPr>
        <p:spPr>
          <a:xfrm>
            <a:off x="7204075" y="6572250"/>
            <a:ext cx="1905000" cy="285750"/>
          </a:xfrm>
          <a:prstGeom prst="rect">
            <a:avLst/>
          </a:prstGeom>
        </p:spPr>
        <p:txBody>
          <a:bodyPr/>
          <a:lstStyle/>
          <a:p>
            <a:pPr marL="0" indent="0" algn="r" eaLnBrk="1" hangingPunct="1">
              <a:spcBef>
                <a:spcPct val="0"/>
              </a:spcBef>
              <a:buClrTx/>
              <a:buSzTx/>
              <a:buFontTx/>
              <a:buNone/>
            </a:pPr>
            <a:fld id="{9A0DB2DC-4C9A-4742-B13C-FB6460FD3503}" type="slidenum">
              <a:rPr lang="zh-CN" altLang="en-US" sz="1000" b="0" dirty="0">
                <a:latin typeface="Arial" panose="020B0604020202020204" pitchFamily="34" charset="0"/>
                <a:ea typeface="Arial Unicode MS" pitchFamily="34" charset="-122"/>
                <a:cs typeface="Arial Unicode MS" pitchFamily="34" charset="-122"/>
              </a:rPr>
            </a:fld>
            <a:endParaRPr lang="zh-CN" altLang="en-US" sz="1000" b="0" dirty="0">
              <a:latin typeface="Arial" panose="020B0604020202020204" pitchFamily="34" charset="0"/>
              <a:ea typeface="Arial Unicode MS" pitchFamily="34" charset="-122"/>
              <a:cs typeface="Arial Unicode MS" pitchFamily="34" charset="-122"/>
            </a:endParaRPr>
          </a:p>
        </p:txBody>
      </p:sp>
      <mc:AlternateContent xmlns:mc="http://schemas.openxmlformats.org/markup-compatibility/2006">
        <mc:Choice xmlns:a14="http://schemas.microsoft.com/office/drawing/2010/main" Requires="a14">
          <p:sp>
            <p:nvSpPr>
              <p:cNvPr id="3" name="文本框 2"/>
              <p:cNvSpPr txBox="1">
                <a:spLocks noChangeArrowheads="1"/>
              </p:cNvSpPr>
              <p:nvPr/>
            </p:nvSpPr>
            <p:spPr bwMode="auto">
              <a:xfrm>
                <a:off x="332389" y="1075086"/>
                <a:ext cx="8479221"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800" b="1">
                    <a:solidFill>
                      <a:schemeClr val="tx1"/>
                    </a:solidFill>
                    <a:latin typeface="宋体" panose="02010600030101010101" pitchFamily="2" charset="-122"/>
                    <a:ea typeface="宋体" panose="02010600030101010101" pitchFamily="2" charset="-122"/>
                    <a:cs typeface="Arial Unicode MS" pitchFamily="34" charset="-122"/>
                  </a:defRPr>
                </a:lvl1pPr>
                <a:lvl2pPr marL="742950" indent="-285750">
                  <a:spcBef>
                    <a:spcPct val="20000"/>
                  </a:spcBef>
                  <a:buClr>
                    <a:schemeClr val="accent1"/>
                  </a:buClr>
                  <a:buSzPct val="75000"/>
                  <a:buFont typeface="Wingdings" panose="05000000000000000000" pitchFamily="2" charset="2"/>
                  <a:buChar char="n"/>
                  <a:defRPr sz="2600" b="1">
                    <a:solidFill>
                      <a:schemeClr val="tx1"/>
                    </a:solidFill>
                    <a:latin typeface="宋体" panose="02010600030101010101" pitchFamily="2" charset="-122"/>
                    <a:ea typeface="宋体" panose="02010600030101010101" pitchFamily="2" charset="-122"/>
                    <a:cs typeface="Arial Unicode MS" pitchFamily="34" charset="-122"/>
                  </a:defRPr>
                </a:lvl2pPr>
                <a:lvl3pPr marL="1143000" indent="-228600">
                  <a:spcBef>
                    <a:spcPct val="20000"/>
                  </a:spcBef>
                  <a:buClr>
                    <a:schemeClr val="folHlink"/>
                  </a:buClr>
                  <a:buSzPct val="55000"/>
                  <a:buFont typeface="Wingdings" panose="05000000000000000000" pitchFamily="2" charset="2"/>
                  <a:buChar char="n"/>
                  <a:defRPr sz="2300" b="1">
                    <a:solidFill>
                      <a:schemeClr val="tx1"/>
                    </a:solidFill>
                    <a:latin typeface="宋体" panose="02010600030101010101" pitchFamily="2" charset="-122"/>
                    <a:ea typeface="宋体" panose="02010600030101010101" pitchFamily="2" charset="-122"/>
                    <a:cs typeface="Arial Unicode MS" pitchFamily="34" charset="-122"/>
                  </a:defRPr>
                </a:lvl3pPr>
                <a:lvl4pPr marL="1600200" indent="-228600">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cs typeface="Arial Unicode MS" pitchFamily="34" charset="-122"/>
                  </a:defRPr>
                </a:lvl4pPr>
                <a:lvl5pPr marL="2057400" indent="-228600">
                  <a:spcBef>
                    <a:spcPct val="20000"/>
                  </a:spcBef>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cs typeface="Arial Unicode MS" pitchFamily="3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cs typeface="Arial Unicode MS" pitchFamily="3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cs typeface="Arial Unicode MS" pitchFamily="3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cs typeface="Arial Unicode MS" pitchFamily="3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cs typeface="Arial Unicode MS" pitchFamily="34" charset="-122"/>
                  </a:defRPr>
                </a:lvl9p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zh-CN" altLang="en-US" sz="2400" b="1" i="0" u="none" strike="noStrike" kern="1200" cap="none" spc="0" normalizeH="0" baseline="0" noProof="0" dirty="0">
                    <a:ln>
                      <a:noFill/>
                    </a:ln>
                    <a:solidFill>
                      <a:schemeClr val="tx1"/>
                    </a:solidFill>
                    <a:effectLst/>
                    <a:uLnTx/>
                    <a:uFillTx/>
                    <a:latin typeface="Webdings" panose="05030102010509060703" pitchFamily="18" charset="2"/>
                    <a:ea typeface="宋体" panose="02010600030101010101" pitchFamily="2" charset="-122"/>
                    <a:cs typeface="Arial Unicode MS" pitchFamily="34" charset="-122"/>
                  </a:rPr>
                  <a:t>微观粒子的运动状态用波函数完全描述</a:t>
                </a:r>
                <a:endParaRPr kumimoji="0" lang="en-US" altLang="zh-CN" sz="2400" b="1" i="0" u="none" strike="noStrike" kern="1200" cap="none" spc="0" normalizeH="0" baseline="0" noProof="0" dirty="0">
                  <a:ln>
                    <a:noFill/>
                  </a:ln>
                  <a:solidFill>
                    <a:schemeClr val="tx1"/>
                  </a:solidFill>
                  <a:effectLst/>
                  <a:uLnTx/>
                  <a:uFillTx/>
                  <a:latin typeface="Webdings" panose="05030102010509060703" pitchFamily="18" charset="2"/>
                  <a:ea typeface="宋体" panose="02010600030101010101" pitchFamily="2" charset="-122"/>
                  <a:cs typeface="Arial Unicode MS" pitchFamily="34" charset="-122"/>
                </a:endParaRP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l"/>
                  <a:defRPr/>
                </a:pPr>
                <a:r>
                  <a:rPr kumimoji="0" lang="zh-CN" altLang="en-US" sz="2400" b="1" i="0" u="none" strike="noStrike" kern="1200" cap="none" spc="0" normalizeH="0" baseline="0" noProof="0" dirty="0">
                    <a:ln>
                      <a:noFill/>
                    </a:ln>
                    <a:solidFill>
                      <a:schemeClr val="tx1"/>
                    </a:solidFill>
                    <a:effectLst/>
                    <a:uLnTx/>
                    <a:uFillTx/>
                    <a:latin typeface="Webdings" panose="05030102010509060703" pitchFamily="18" charset="2"/>
                    <a:ea typeface="宋体" panose="02010600030101010101" pitchFamily="2" charset="-122"/>
                    <a:cs typeface="Arial Unicode MS" pitchFamily="34" charset="-122"/>
                  </a:rPr>
                  <a:t>粒子的状态遵循态叠加原理</a:t>
                </a:r>
                <a:r>
                  <a:rPr kumimoji="0" lang="zh-CN" altLang="en-US" sz="2400" b="1" i="0" u="none" strike="noStrike" kern="1200" cap="none" spc="0" normalizeH="0" baseline="0" noProof="0" dirty="0">
                    <a:ln>
                      <a:noFill/>
                    </a:ln>
                    <a:solidFill>
                      <a:srgbClr val="FF0000"/>
                    </a:solidFill>
                    <a:effectLst/>
                    <a:uLnTx/>
                    <a:uFillTx/>
                    <a:latin typeface="Webdings" panose="05030102010509060703" pitchFamily="18" charset="2"/>
                    <a:ea typeface="宋体" panose="02010600030101010101" pitchFamily="2" charset="-122"/>
                    <a:cs typeface="Arial Unicode MS" pitchFamily="34" charset="-122"/>
                  </a:rPr>
                  <a:t>（整个量子力学的核心）</a:t>
                </a:r>
                <a:endParaRPr kumimoji="0" lang="en-US" altLang="zh-CN" sz="2400" b="1" i="0" u="none" strike="noStrike" kern="1200" cap="none" spc="0" normalizeH="0" baseline="0" noProof="0" dirty="0">
                  <a:ln>
                    <a:noFill/>
                  </a:ln>
                  <a:solidFill>
                    <a:srgbClr val="FF0000"/>
                  </a:solidFill>
                  <a:effectLst/>
                  <a:uLnTx/>
                  <a:uFillTx/>
                  <a:latin typeface="Webdings" panose="05030102010509060703" pitchFamily="18" charset="2"/>
                  <a:ea typeface="宋体" panose="02010600030101010101" pitchFamily="2" charset="-122"/>
                  <a:cs typeface="Arial Unicode MS" pitchFamily="34" charset="-122"/>
                </a:endParaRP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l"/>
                  <a:defRPr/>
                </a:pPr>
                <a:endParaRPr kumimoji="0" lang="en-US" altLang="zh-CN" sz="2400" b="1" i="0" u="none" strike="noStrike" kern="1200" cap="none" spc="0" normalizeH="0" baseline="0" noProof="0" dirty="0">
                  <a:ln>
                    <a:noFill/>
                  </a:ln>
                  <a:solidFill>
                    <a:srgbClr val="FF0000"/>
                  </a:solidFill>
                  <a:effectLst/>
                  <a:uLnTx/>
                  <a:uFillTx/>
                  <a:latin typeface="Webdings" panose="05030102010509060703" pitchFamily="18" charset="2"/>
                  <a:ea typeface="宋体" panose="02010600030101010101" pitchFamily="2" charset="-122"/>
                  <a:cs typeface="Arial Unicode MS" pitchFamily="34" charset="-122"/>
                </a:endParaRPr>
              </a:p>
              <a:p>
                <a:pPr marL="342900" lvl="0" indent="-342900">
                  <a:lnSpc>
                    <a:spcPct val="200000"/>
                  </a:lnSpc>
                  <a:spcBef>
                    <a:spcPct val="0"/>
                  </a:spcBef>
                  <a:buClrTx/>
                  <a:buSzTx/>
                  <a:buFont typeface="Wingdings" panose="05000000000000000000" pitchFamily="2" charset="2"/>
                  <a:buChar char="l"/>
                  <a:defRPr/>
                </a:pP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cs typeface="Times New Roman" panose="02020603050405020304" pitchFamily="18" charset="0"/>
                  </a:rPr>
                  <a:t>测量态</a:t>
                </a:r>
                <a14:m>
                  <m:oMath xmlns:m="http://schemas.openxmlformats.org/officeDocument/2006/math">
                    <m:r>
                      <a:rPr kumimoji="0" lang="zh-CN" altLang="en-US" sz="2400" b="1" i="1" u="none" strike="noStrike" kern="1200" cap="none" spc="0" normalizeH="0" baseline="0" noProof="0" smtClean="0">
                        <a:ln>
                          <a:noFill/>
                        </a:ln>
                        <a:solidFill>
                          <a:srgbClr val="0000FF"/>
                        </a:solidFill>
                        <a:effectLst/>
                        <a:uLnTx/>
                        <a:uFillTx/>
                        <a:latin typeface="Cambria Math" panose="02040503050406030204" pitchFamily="18" charset="0"/>
                        <a:cs typeface="Times New Roman" panose="02020603050405020304" pitchFamily="18" charset="0"/>
                      </a:rPr>
                      <m:t>𝝍</m:t>
                    </m:r>
                  </m:oMath>
                </a14:m>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cs typeface="Times New Roman" panose="02020603050405020304" pitchFamily="18" charset="0"/>
                  </a:rPr>
                  <a:t>，测得</a:t>
                </a:r>
                <a14:m>
                  <m:oMath xmlns:m="http://schemas.openxmlformats.org/officeDocument/2006/math">
                    <m:r>
                      <a:rPr lang="zh-CN" altLang="en-US" sz="2400" i="1">
                        <a:solidFill>
                          <a:srgbClr val="0000FF"/>
                        </a:solidFill>
                        <a:latin typeface="Cambria Math" panose="02040503050406030204" pitchFamily="18" charset="0"/>
                        <a:cs typeface="Times New Roman" panose="02020603050405020304" pitchFamily="18" charset="0"/>
                      </a:rPr>
                      <m:t>𝝍</m:t>
                    </m:r>
                  </m:oMath>
                </a14:m>
                <a:r>
                  <a:rPr kumimoji="0" lang="en-US" altLang="zh-CN" sz="2400" b="1" i="0" u="none" strike="noStrike" kern="1200" cap="none" spc="0" normalizeH="0" baseline="-25000" noProof="0" dirty="0">
                    <a:ln>
                      <a:noFill/>
                    </a:ln>
                    <a:solidFill>
                      <a:srgbClr val="0000FF"/>
                    </a:solidFill>
                    <a:effectLst/>
                    <a:uLnTx/>
                    <a:uFillTx/>
                    <a:latin typeface="Times New Roman" panose="02020603050405020304" pitchFamily="18" charset="0"/>
                    <a:cs typeface="Times New Roman" panose="02020603050405020304" pitchFamily="18" charset="0"/>
                  </a:rPr>
                  <a:t>n</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cs typeface="Times New Roman" panose="02020603050405020304" pitchFamily="18" charset="0"/>
                  </a:rPr>
                  <a:t>的概率为</a:t>
                </a: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cs typeface="Times New Roman" panose="02020603050405020304" pitchFamily="18" charset="0"/>
                  </a:rPr>
                  <a:t>|C</a:t>
                </a:r>
                <a:r>
                  <a:rPr kumimoji="0" lang="en-US" altLang="zh-CN" sz="2400" b="1" i="0" u="none" strike="noStrike" kern="1200" cap="none" spc="0" normalizeH="0" baseline="-25000" noProof="0" dirty="0">
                    <a:ln>
                      <a:noFill/>
                    </a:ln>
                    <a:solidFill>
                      <a:srgbClr val="0000FF"/>
                    </a:solidFill>
                    <a:effectLst/>
                    <a:uLnTx/>
                    <a:uFillTx/>
                    <a:latin typeface="Times New Roman" panose="02020603050405020304" pitchFamily="18" charset="0"/>
                    <a:cs typeface="Times New Roman" panose="02020603050405020304" pitchFamily="18" charset="0"/>
                  </a:rPr>
                  <a:t>n</a:t>
                </a:r>
                <a:r>
                  <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cs typeface="Times New Roman" panose="02020603050405020304" pitchFamily="18" charset="0"/>
                  </a:rPr>
                  <a:t>|</a:t>
                </a:r>
                <a:r>
                  <a:rPr kumimoji="0" lang="en-US" altLang="zh-CN" sz="2400" b="1" i="0" u="none" strike="noStrike" kern="1200" cap="none" spc="0" normalizeH="0" baseline="30000" noProof="0" dirty="0">
                    <a:ln>
                      <a:noFill/>
                    </a:ln>
                    <a:solidFill>
                      <a:srgbClr val="0000FF"/>
                    </a:solidFill>
                    <a:effectLst/>
                    <a:uLnTx/>
                    <a:uFillTx/>
                    <a:latin typeface="Times New Roman" panose="02020603050405020304" pitchFamily="18" charset="0"/>
                    <a:cs typeface="Times New Roman" panose="02020603050405020304" pitchFamily="18" charset="0"/>
                  </a:rPr>
                  <a:t>2</a:t>
                </a:r>
                <a:r>
                  <a:rPr kumimoji="0"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cs typeface="Times New Roman" panose="02020603050405020304" pitchFamily="18" charset="0"/>
                  </a:rPr>
                  <a:t>。</a:t>
                </a:r>
                <a:endParaRPr kumimoji="0" lang="en-US" altLang="zh-CN" sz="2400" b="1" i="0" u="none" strike="noStrike" kern="1200" cap="none" spc="0" normalizeH="0" baseline="0" noProof="0" dirty="0">
                  <a:ln>
                    <a:noFill/>
                  </a:ln>
                  <a:solidFill>
                    <a:srgbClr val="0000FF"/>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zh-CN" altLang="en-US" sz="2400" b="1" i="0" u="none" strike="noStrike" kern="1200" cap="none" spc="0" normalizeH="0" baseline="0" noProof="0" dirty="0">
                    <a:ln>
                      <a:noFill/>
                    </a:ln>
                    <a:solidFill>
                      <a:schemeClr val="tx1"/>
                    </a:solidFill>
                    <a:effectLst/>
                    <a:uLnTx/>
                    <a:uFillTx/>
                    <a:latin typeface="Webdings" panose="05030102010509060703" pitchFamily="18" charset="2"/>
                    <a:ea typeface="宋体" panose="02010600030101010101" pitchFamily="2" charset="-122"/>
                    <a:cs typeface="Arial Unicode MS" pitchFamily="34" charset="-122"/>
                  </a:rPr>
                  <a:t>波函数随时间的演化用薛定谔方</a:t>
                </a:r>
                <a:r>
                  <a:rPr kumimoji="0" lang="zh-CN" altLang="en-US" sz="2400" b="1" i="0" u="none" strike="noStrike" kern="1200" cap="none" spc="0" normalizeH="0" baseline="0" noProof="0" dirty="0" smtClean="0">
                    <a:ln>
                      <a:noFill/>
                    </a:ln>
                    <a:solidFill>
                      <a:schemeClr val="tx1"/>
                    </a:solidFill>
                    <a:effectLst/>
                    <a:uLnTx/>
                    <a:uFillTx/>
                    <a:latin typeface="Webdings" panose="05030102010509060703" pitchFamily="18" charset="2"/>
                    <a:ea typeface="宋体" panose="02010600030101010101" pitchFamily="2" charset="-122"/>
                    <a:cs typeface="Arial Unicode MS" pitchFamily="34" charset="-122"/>
                  </a:rPr>
                  <a:t>程描述</a:t>
                </a:r>
                <a:endParaRPr kumimoji="0" lang="en-US" altLang="zh-CN" sz="2400" b="1" i="0" u="none" strike="noStrike" kern="1200" cap="none" spc="0" normalizeH="0" baseline="0" noProof="0" dirty="0">
                  <a:ln>
                    <a:noFill/>
                  </a:ln>
                  <a:solidFill>
                    <a:schemeClr val="tx1"/>
                  </a:solidFill>
                  <a:effectLst/>
                  <a:uLnTx/>
                  <a:uFillTx/>
                  <a:latin typeface="Webdings" panose="05030102010509060703" pitchFamily="18" charset="2"/>
                  <a:ea typeface="宋体" panose="02010600030101010101" pitchFamily="2" charset="-122"/>
                  <a:cs typeface="Arial Unicode MS" pitchFamily="34" charset="-122"/>
                </a:endParaRPr>
              </a:p>
            </p:txBody>
          </p:sp>
        </mc:Choice>
        <mc:Fallback>
          <p:sp>
            <p:nvSpPr>
              <p:cNvPr id="3" name="文本框 2"/>
              <p:cNvSpPr txBox="1">
                <a:spLocks noRot="1" noChangeAspect="1" noMove="1" noResize="1" noEditPoints="1" noAdjustHandles="1" noChangeArrowheads="1" noChangeShapeType="1" noTextEdit="1"/>
              </p:cNvSpPr>
              <p:nvPr/>
            </p:nvSpPr>
            <p:spPr bwMode="auto">
              <a:xfrm>
                <a:off x="332389" y="1075086"/>
                <a:ext cx="8479221" cy="3416320"/>
              </a:xfrm>
              <a:prstGeom prst="rect">
                <a:avLst/>
              </a:prstGeom>
              <a:blipFill rotWithShape="1">
                <a:blip r:embed="rId1"/>
                <a:stretch>
                  <a:fillRect l="-3" t="-1" r="4" b="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4" name="Object 3"/>
          <p:cNvGraphicFramePr>
            <a:graphicFrameLocks noChangeAspect="1"/>
          </p:cNvGraphicFramePr>
          <p:nvPr/>
        </p:nvGraphicFramePr>
        <p:xfrm>
          <a:off x="2391268" y="2384884"/>
          <a:ext cx="4391025" cy="776246"/>
        </p:xfrm>
        <a:graphic>
          <a:graphicData uri="http://schemas.openxmlformats.org/presentationml/2006/ole">
            <mc:AlternateContent xmlns:mc="http://schemas.openxmlformats.org/markup-compatibility/2006">
              <mc:Choice xmlns:v="urn:schemas-microsoft-com:vml" Requires="v">
                <p:oleObj spid="_x0000_s218117" name="Equation" r:id="rId2" imgW="2222500" imgH="431800" progId="Equation.DSMT4">
                  <p:embed/>
                </p:oleObj>
              </mc:Choice>
              <mc:Fallback>
                <p:oleObj name="Equation" r:id="rId2" imgW="2222500" imgH="431800" progId="Equation.DSMT4">
                  <p:embed/>
                  <p:pic>
                    <p:nvPicPr>
                      <p:cNvPr id="0" name="图片 218116"/>
                      <p:cNvPicPr/>
                      <p:nvPr/>
                    </p:nvPicPr>
                    <p:blipFill>
                      <a:blip r:embed="rId3"/>
                      <a:stretch>
                        <a:fillRect/>
                      </a:stretch>
                    </p:blipFill>
                    <p:spPr>
                      <a:xfrm>
                        <a:off x="2391268" y="2384884"/>
                        <a:ext cx="4391025" cy="776246"/>
                      </a:xfrm>
                      <a:prstGeom prst="rect">
                        <a:avLst/>
                      </a:prstGeom>
                      <a:solidFill>
                        <a:schemeClr val="bg2">
                          <a:lumMod val="10000"/>
                          <a:lumOff val="90000"/>
                        </a:schemeClr>
                      </a:solid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79388" y="404813"/>
            <a:ext cx="8964613" cy="971550"/>
          </a:xfrm>
          <a:prstGeom prst="rect">
            <a:avLst/>
          </a:prstGeom>
          <a:noFill/>
          <a:ln w="9525">
            <a:solidFill>
              <a:schemeClr val="bg1"/>
            </a:solidFill>
            <a:miter lim="800000"/>
          </a:ln>
        </p:spPr>
        <p:txBody>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b="1" i="0" u="none" strike="sngStrike" kern="1200" cap="none" spc="0" normalizeH="0" baseline="0" noProof="0" dirty="0">
                <a:ln>
                  <a:noFill/>
                </a:ln>
                <a:solidFill>
                  <a:srgbClr val="FF0000"/>
                </a:solidFill>
                <a:effectLst/>
                <a:uLnTx/>
                <a:uFillTx/>
                <a:latin typeface="+mj-lt"/>
                <a:ea typeface="+mn-ea"/>
                <a:cs typeface="+mn-cs"/>
              </a:rPr>
              <a:t>例： 设</a:t>
            </a:r>
            <a:r>
              <a:rPr kumimoji="0" lang="en-US" altLang="zh-CN" sz="2400" b="1" i="0" u="none" strike="sngStrike" kern="1200" cap="none" spc="0" normalizeH="0" baseline="0" noProof="0" dirty="0">
                <a:ln>
                  <a:noFill/>
                </a:ln>
                <a:solidFill>
                  <a:srgbClr val="FF0000"/>
                </a:solidFill>
                <a:effectLst/>
                <a:uLnTx/>
                <a:uFillTx/>
                <a:latin typeface="+mj-lt"/>
                <a:ea typeface="+mn-ea"/>
                <a:cs typeface="+mn-cs"/>
              </a:rPr>
              <a:t>t=0 </a:t>
            </a:r>
            <a:r>
              <a:rPr kumimoji="0" lang="zh-CN" altLang="en-US" sz="2400" b="1" i="0" u="none" strike="sngStrike" kern="1200" cap="none" spc="0" normalizeH="0" baseline="0" noProof="0" dirty="0">
                <a:ln>
                  <a:noFill/>
                </a:ln>
                <a:solidFill>
                  <a:srgbClr val="FF0000"/>
                </a:solidFill>
                <a:effectLst/>
                <a:uLnTx/>
                <a:uFillTx/>
                <a:latin typeface="+mj-lt"/>
                <a:ea typeface="+mn-ea"/>
                <a:cs typeface="+mn-cs"/>
              </a:rPr>
              <a:t>时，粒子的状态为 </a:t>
            </a:r>
            <a:r>
              <a:rPr kumimoji="0" lang="zh-CN" altLang="en-US" sz="2400" b="1" i="1" u="none" strike="sngStrike" kern="1200" cap="none" spc="0" normalizeH="0" baseline="0" noProof="0" dirty="0">
                <a:ln>
                  <a:noFill/>
                </a:ln>
                <a:solidFill>
                  <a:srgbClr val="FF0000"/>
                </a:solidFill>
                <a:effectLst/>
                <a:uLnTx/>
                <a:uFillTx/>
                <a:latin typeface="+mj-lt"/>
                <a:ea typeface="+mn-ea"/>
                <a:cs typeface="+mn-cs"/>
                <a:sym typeface="Symbol" panose="05050102010706020507" pitchFamily="18" charset="2"/>
              </a:rPr>
              <a:t> </a:t>
            </a:r>
            <a:r>
              <a:rPr kumimoji="0" lang="en-US" altLang="zh-CN" sz="2400" b="1" i="0" u="none" strike="sngStrike" kern="1200" cap="none" spc="0" normalizeH="0" baseline="0" noProof="0" dirty="0">
                <a:ln>
                  <a:noFill/>
                </a:ln>
                <a:solidFill>
                  <a:srgbClr val="FF0000"/>
                </a:solidFill>
                <a:effectLst/>
                <a:uLnTx/>
                <a:uFillTx/>
                <a:latin typeface="+mj-lt"/>
                <a:ea typeface="+mn-ea"/>
                <a:cs typeface="+mn-cs"/>
              </a:rPr>
              <a:t>(</a:t>
            </a:r>
            <a:r>
              <a:rPr kumimoji="0" lang="en-US" altLang="zh-CN" sz="2400" b="1" i="1" u="none" strike="sngStrike" kern="1200" cap="none" spc="0" normalizeH="0" baseline="0" noProof="0" dirty="0">
                <a:ln>
                  <a:noFill/>
                </a:ln>
                <a:solidFill>
                  <a:srgbClr val="FF0000"/>
                </a:solidFill>
                <a:effectLst/>
                <a:uLnTx/>
                <a:uFillTx/>
                <a:latin typeface="+mj-lt"/>
                <a:ea typeface="+mn-ea"/>
                <a:cs typeface="+mn-cs"/>
              </a:rPr>
              <a:t>x</a:t>
            </a:r>
            <a:r>
              <a:rPr kumimoji="0" lang="en-US" altLang="zh-CN" sz="2400" b="1" i="0" u="none" strike="sngStrike" kern="1200" cap="none" spc="0" normalizeH="0" baseline="0" noProof="0" dirty="0">
                <a:ln>
                  <a:noFill/>
                </a:ln>
                <a:solidFill>
                  <a:srgbClr val="FF0000"/>
                </a:solidFill>
                <a:effectLst/>
                <a:uLnTx/>
                <a:uFillTx/>
                <a:latin typeface="+mj-lt"/>
                <a:ea typeface="+mn-ea"/>
                <a:cs typeface="+mn-cs"/>
              </a:rPr>
              <a:t>) = A ( sin</a:t>
            </a:r>
            <a:r>
              <a:rPr kumimoji="0" lang="en-US" altLang="zh-CN" sz="2400" b="1" i="0" u="none" strike="sngStrike" kern="1200" cap="none" spc="0" normalizeH="0" baseline="30000" noProof="0" dirty="0">
                <a:ln>
                  <a:noFill/>
                </a:ln>
                <a:solidFill>
                  <a:srgbClr val="FF0000"/>
                </a:solidFill>
                <a:effectLst/>
                <a:uLnTx/>
                <a:uFillTx/>
                <a:latin typeface="+mj-lt"/>
                <a:ea typeface="+mn-ea"/>
                <a:cs typeface="+mn-cs"/>
              </a:rPr>
              <a:t>2</a:t>
            </a:r>
            <a:r>
              <a:rPr kumimoji="0" lang="en-US" altLang="zh-CN" sz="2400" b="1" i="0" u="none" strike="sngStrike" kern="1200" cap="none" spc="0" normalizeH="0" baseline="0" noProof="0" dirty="0">
                <a:ln>
                  <a:noFill/>
                </a:ln>
                <a:solidFill>
                  <a:srgbClr val="FF0000"/>
                </a:solidFill>
                <a:effectLst/>
                <a:uLnTx/>
                <a:uFillTx/>
                <a:latin typeface="+mj-lt"/>
                <a:ea typeface="+mn-ea"/>
                <a:cs typeface="+mn-cs"/>
              </a:rPr>
              <a:t>kx + </a:t>
            </a:r>
            <a:r>
              <a:rPr kumimoji="0" lang="en-US" altLang="zh-CN" sz="2400" b="1" i="0" u="none" strike="sngStrike" kern="1200" cap="none" spc="0" normalizeH="0" baseline="0" noProof="0" dirty="0" err="1">
                <a:ln>
                  <a:noFill/>
                </a:ln>
                <a:solidFill>
                  <a:srgbClr val="FF0000"/>
                </a:solidFill>
                <a:effectLst/>
                <a:uLnTx/>
                <a:uFillTx/>
                <a:latin typeface="+mj-lt"/>
                <a:ea typeface="+mn-ea"/>
                <a:cs typeface="+mn-cs"/>
              </a:rPr>
              <a:t>coskx</a:t>
            </a:r>
            <a:r>
              <a:rPr kumimoji="0" lang="en-US" altLang="zh-CN" sz="2400" b="1" i="0" u="none" strike="sngStrike" kern="1200" cap="none" spc="0" normalizeH="0" baseline="0" noProof="0" dirty="0">
                <a:ln>
                  <a:noFill/>
                </a:ln>
                <a:solidFill>
                  <a:srgbClr val="FF0000"/>
                </a:solidFill>
                <a:effectLst/>
                <a:uLnTx/>
                <a:uFillTx/>
                <a:latin typeface="+mj-lt"/>
                <a:ea typeface="+mn-ea"/>
                <a:cs typeface="+mn-cs"/>
              </a:rPr>
              <a:t>/2 )</a:t>
            </a:r>
            <a:r>
              <a:rPr kumimoji="0" lang="zh-CN" altLang="en-US" sz="2400" b="1" i="0" u="none" strike="sngStrike" kern="1200" cap="none" spc="0" normalizeH="0" baseline="0" noProof="0" dirty="0">
                <a:ln>
                  <a:noFill/>
                </a:ln>
                <a:solidFill>
                  <a:srgbClr val="FF0000"/>
                </a:solidFill>
                <a:effectLst/>
                <a:uLnTx/>
                <a:uFillTx/>
                <a:latin typeface="+mj-lt"/>
                <a:ea typeface="+mn-ea"/>
                <a:cs typeface="+mn-cs"/>
              </a:rPr>
              <a:t>，请将波函数在</a:t>
            </a:r>
            <a:r>
              <a:rPr kumimoji="0" lang="zh-CN" altLang="en-US" sz="2400" b="1" i="0" u="none" strike="sngStrike" kern="1200" cap="none" spc="0" normalizeH="0" baseline="0" noProof="0" dirty="0">
                <a:ln>
                  <a:noFill/>
                </a:ln>
                <a:solidFill>
                  <a:srgbClr val="FF0000"/>
                </a:solidFill>
                <a:effectLst/>
                <a:highlight>
                  <a:srgbClr val="FFFF00"/>
                </a:highlight>
                <a:uLnTx/>
                <a:uFillTx/>
                <a:latin typeface="+mj-lt"/>
                <a:ea typeface="+mn-ea"/>
                <a:cs typeface="+mn-cs"/>
              </a:rPr>
              <a:t>动量空间</a:t>
            </a:r>
            <a:r>
              <a:rPr kumimoji="0" lang="zh-CN" altLang="en-US" sz="2400" b="1" i="0" u="none" strike="sngStrike" kern="1200" cap="none" spc="0" normalizeH="0" baseline="0" noProof="0" dirty="0">
                <a:ln>
                  <a:noFill/>
                </a:ln>
                <a:solidFill>
                  <a:srgbClr val="FF0000"/>
                </a:solidFill>
                <a:effectLst/>
                <a:uLnTx/>
                <a:uFillTx/>
                <a:latin typeface="+mj-lt"/>
                <a:ea typeface="+mn-ea"/>
                <a:cs typeface="+mn-cs"/>
              </a:rPr>
              <a:t>进行展开。</a:t>
            </a:r>
            <a:endParaRPr kumimoji="0" lang="zh-CN" altLang="en-US" sz="2400" b="1" i="0" u="none" strike="sngStrike" kern="1200" cap="none" spc="0" normalizeH="0" baseline="0" noProof="0" dirty="0">
              <a:ln>
                <a:noFill/>
              </a:ln>
              <a:solidFill>
                <a:srgbClr val="FF0000"/>
              </a:solidFill>
              <a:effectLst/>
              <a:uLnTx/>
              <a:uFillTx/>
              <a:latin typeface="+mj-lt"/>
              <a:ea typeface="+mn-ea"/>
              <a:cs typeface="+mn-cs"/>
              <a:sym typeface="Symbol" panose="05050102010706020507" pitchFamily="18" charset="2"/>
            </a:endParaRPr>
          </a:p>
        </p:txBody>
      </p:sp>
      <p:graphicFrame>
        <p:nvGraphicFramePr>
          <p:cNvPr id="6" name="Object 3"/>
          <p:cNvGraphicFramePr>
            <a:graphicFrameLocks noChangeAspect="1"/>
          </p:cNvGraphicFramePr>
          <p:nvPr/>
        </p:nvGraphicFramePr>
        <p:xfrm>
          <a:off x="3706495" y="1748473"/>
          <a:ext cx="2000250" cy="811212"/>
        </p:xfrm>
        <a:graphic>
          <a:graphicData uri="http://schemas.openxmlformats.org/presentationml/2006/ole">
            <mc:AlternateContent xmlns:mc="http://schemas.openxmlformats.org/markup-compatibility/2006">
              <mc:Choice xmlns:v="urn:schemas-microsoft-com:vml" Requires="v">
                <p:oleObj spid="_x0000_s1045" name="" r:id="rId1" imgW="1066800" imgH="431800" progId="Equation.DSMT4">
                  <p:embed/>
                </p:oleObj>
              </mc:Choice>
              <mc:Fallback>
                <p:oleObj name="" r:id="rId1" imgW="1066800" imgH="431800" progId="Equation.DSMT4">
                  <p:embed/>
                  <p:pic>
                    <p:nvPicPr>
                      <p:cNvPr id="0" name="图片 3170"/>
                      <p:cNvPicPr/>
                      <p:nvPr/>
                    </p:nvPicPr>
                    <p:blipFill>
                      <a:blip r:embed="rId2"/>
                      <a:stretch>
                        <a:fillRect/>
                      </a:stretch>
                    </p:blipFill>
                    <p:spPr>
                      <a:xfrm>
                        <a:off x="3706495" y="1748473"/>
                        <a:ext cx="2000250" cy="811212"/>
                      </a:xfrm>
                      <a:prstGeom prst="rect">
                        <a:avLst/>
                      </a:prstGeom>
                      <a:noFill/>
                      <a:ln w="38100">
                        <a:noFill/>
                        <a:miter/>
                      </a:ln>
                    </p:spPr>
                  </p:pic>
                </p:oleObj>
              </mc:Fallback>
            </mc:AlternateContent>
          </a:graphicData>
        </a:graphic>
      </p:graphicFrame>
      <p:sp>
        <p:nvSpPr>
          <p:cNvPr id="9" name="文本框 8"/>
          <p:cNvSpPr txBox="1"/>
          <p:nvPr/>
        </p:nvSpPr>
        <p:spPr>
          <a:xfrm>
            <a:off x="539433" y="1472248"/>
            <a:ext cx="3671888" cy="461963"/>
          </a:xfrm>
          <a:prstGeom prst="rect">
            <a:avLst/>
          </a:prstGeom>
          <a:noFill/>
        </p:spPr>
        <p:txBody>
          <a:bodyPr>
            <a:spAutoFit/>
          </a:bodyPr>
          <a:lstStyle/>
          <a:p>
            <a:pPr marR="0" defTabSz="914400">
              <a:buClrTx/>
              <a:buSzTx/>
              <a:buFontTx/>
              <a:buNone/>
              <a:defRPr/>
            </a:pPr>
            <a:r>
              <a:rPr kumimoji="0" lang="zh-CN" altLang="en-US" sz="2400" kern="1200" cap="none" spc="0" normalizeH="0" baseline="0" noProof="0" dirty="0">
                <a:latin typeface="+mj-lt"/>
                <a:ea typeface="宋体" panose="02010600030101010101" pitchFamily="2" charset="-122"/>
                <a:cs typeface="+mn-cs"/>
              </a:rPr>
              <a:t>解：根据态叠加原理有：</a:t>
            </a:r>
            <a:endParaRPr kumimoji="0" lang="zh-CN" altLang="en-US" sz="2400" kern="1200" cap="none" spc="0" normalizeH="0" baseline="0" noProof="0" dirty="0">
              <a:latin typeface="+mj-lt"/>
              <a:ea typeface="宋体" panose="02010600030101010101" pitchFamily="2" charset="-122"/>
              <a:cs typeface="+mn-cs"/>
            </a:endParaRPr>
          </a:p>
        </p:txBody>
      </p:sp>
      <p:graphicFrame>
        <p:nvGraphicFramePr>
          <p:cNvPr id="8" name="Object 12"/>
          <p:cNvGraphicFramePr>
            <a:graphicFrameLocks noChangeAspect="1"/>
          </p:cNvGraphicFramePr>
          <p:nvPr/>
        </p:nvGraphicFramePr>
        <p:xfrm>
          <a:off x="4481195" y="2430145"/>
          <a:ext cx="3290570" cy="868045"/>
        </p:xfrm>
        <a:graphic>
          <a:graphicData uri="http://schemas.openxmlformats.org/presentationml/2006/ole">
            <mc:AlternateContent xmlns:mc="http://schemas.openxmlformats.org/markup-compatibility/2006">
              <mc:Choice xmlns:v="urn:schemas-microsoft-com:vml" Requires="v">
                <p:oleObj spid="_x0000_s1046" name="" r:id="rId3" imgW="1587500" imgH="419100" progId="Equation.DSMT4">
                  <p:embed/>
                </p:oleObj>
              </mc:Choice>
              <mc:Fallback>
                <p:oleObj name="" r:id="rId3" imgW="1587500" imgH="419100" progId="Equation.DSMT4">
                  <p:embed/>
                  <p:pic>
                    <p:nvPicPr>
                      <p:cNvPr id="0" name="图片 3172"/>
                      <p:cNvPicPr/>
                      <p:nvPr/>
                    </p:nvPicPr>
                    <p:blipFill>
                      <a:blip r:embed="rId4"/>
                      <a:stretch>
                        <a:fillRect/>
                      </a:stretch>
                    </p:blipFill>
                    <p:spPr>
                      <a:xfrm>
                        <a:off x="4481195" y="2430145"/>
                        <a:ext cx="3290570" cy="868045"/>
                      </a:xfrm>
                      <a:prstGeom prst="rect">
                        <a:avLst/>
                      </a:prstGeom>
                      <a:noFill/>
                      <a:ln w="38100">
                        <a:noFill/>
                        <a:miter/>
                      </a:ln>
                    </p:spPr>
                  </p:pic>
                </p:oleObj>
              </mc:Fallback>
            </mc:AlternateContent>
          </a:graphicData>
        </a:graphic>
      </p:graphicFrame>
      <p:sp>
        <p:nvSpPr>
          <p:cNvPr id="12" name="文本框 11"/>
          <p:cNvSpPr txBox="1"/>
          <p:nvPr/>
        </p:nvSpPr>
        <p:spPr>
          <a:xfrm>
            <a:off x="683260" y="3501390"/>
            <a:ext cx="6748463" cy="461963"/>
          </a:xfrm>
          <a:prstGeom prst="rect">
            <a:avLst/>
          </a:prstGeom>
          <a:solidFill>
            <a:schemeClr val="bg1">
              <a:lumMod val="90000"/>
            </a:schemeClr>
          </a:solidFill>
        </p:spPr>
        <p:txBody>
          <a:bodyPr>
            <a:spAutoFit/>
          </a:bodyPr>
          <a:lstStyle/>
          <a:p>
            <a:pPr marR="0" defTabSz="914400">
              <a:buClrTx/>
              <a:buSzTx/>
              <a:buFontTx/>
              <a:buNone/>
              <a:defRPr/>
            </a:pPr>
            <a:r>
              <a:rPr kumimoji="0" lang="zh-CN" altLang="en-US" sz="2400" kern="1200" cap="none" spc="0" normalizeH="0" baseline="0" noProof="0" dirty="0">
                <a:latin typeface="+mj-lt"/>
                <a:ea typeface="宋体" panose="02010600030101010101" pitchFamily="2" charset="-122"/>
                <a:cs typeface="+mn-cs"/>
                <a:sym typeface="Symbol" panose="05050102010706020507" pitchFamily="18" charset="2"/>
              </a:rPr>
              <a:t>把</a:t>
            </a:r>
            <a:r>
              <a:rPr kumimoji="0" lang="zh-CN" altLang="en-US" sz="2400" i="1" kern="1200" cap="none" spc="0" normalizeH="0" baseline="0" noProof="0" dirty="0">
                <a:latin typeface="+mj-lt"/>
                <a:ea typeface="宋体" panose="02010600030101010101" pitchFamily="2" charset="-122"/>
                <a:cs typeface="+mn-cs"/>
                <a:sym typeface="Symbol" panose="05050102010706020507" pitchFamily="18" charset="2"/>
              </a:rPr>
              <a:t> </a:t>
            </a:r>
            <a:r>
              <a:rPr kumimoji="0" lang="en-US" altLang="zh-CN" sz="2400" kern="1200" cap="none" spc="0" normalizeH="0" baseline="0" noProof="0" dirty="0">
                <a:latin typeface="+mj-lt"/>
                <a:ea typeface="宋体" panose="02010600030101010101" pitchFamily="2" charset="-122"/>
                <a:cs typeface="+mn-cs"/>
              </a:rPr>
              <a:t>(</a:t>
            </a:r>
            <a:r>
              <a:rPr kumimoji="0" lang="en-US" altLang="zh-CN" sz="2400" i="1" kern="1200" cap="none" spc="0" normalizeH="0" baseline="0" noProof="0" dirty="0">
                <a:latin typeface="+mj-lt"/>
                <a:ea typeface="宋体" panose="02010600030101010101" pitchFamily="2" charset="-122"/>
                <a:cs typeface="+mn-cs"/>
              </a:rPr>
              <a:t>x</a:t>
            </a:r>
            <a:r>
              <a:rPr kumimoji="0" lang="en-US" altLang="zh-CN" sz="2400" kern="1200" cap="none" spc="0" normalizeH="0" baseline="0" noProof="0" dirty="0">
                <a:latin typeface="+mj-lt"/>
                <a:ea typeface="宋体" panose="02010600030101010101" pitchFamily="2" charset="-122"/>
                <a:cs typeface="+mn-cs"/>
              </a:rPr>
              <a:t>) </a:t>
            </a:r>
            <a:r>
              <a:rPr kumimoji="0" lang="zh-CN" altLang="en-US" sz="2400" kern="1200" cap="none" spc="0" normalizeH="0" baseline="0" noProof="0" dirty="0">
                <a:latin typeface="+mj-lt"/>
                <a:ea typeface="宋体" panose="02010600030101010101" pitchFamily="2" charset="-122"/>
                <a:cs typeface="+mn-cs"/>
              </a:rPr>
              <a:t>按照</a:t>
            </a:r>
            <a:r>
              <a:rPr kumimoji="0" lang="zh-CN" altLang="en-US" sz="2400" i="1" kern="1200" cap="none" spc="0" normalizeH="0" baseline="0" noProof="0" dirty="0">
                <a:latin typeface="+mj-lt"/>
                <a:ea typeface="宋体" panose="02010600030101010101" pitchFamily="2" charset="-122"/>
                <a:cs typeface="+mn-cs"/>
                <a:sym typeface="Symbol" panose="05050102010706020507" pitchFamily="18" charset="2"/>
              </a:rPr>
              <a:t> </a:t>
            </a:r>
            <a:r>
              <a:rPr kumimoji="0" lang="en-US" altLang="zh-CN" sz="2400" i="1" kern="1200" cap="none" spc="0" normalizeH="0" baseline="-25000" noProof="0" dirty="0">
                <a:latin typeface="+mj-lt"/>
                <a:ea typeface="宋体" panose="02010600030101010101" pitchFamily="2" charset="-122"/>
                <a:cs typeface="+mn-cs"/>
                <a:sym typeface="Symbol" panose="05050102010706020507" pitchFamily="18" charset="2"/>
              </a:rPr>
              <a:t>p</a:t>
            </a:r>
            <a:r>
              <a:rPr kumimoji="0" lang="en-US" altLang="zh-CN" sz="2400" kern="1200" cap="none" spc="0" normalizeH="0" baseline="0" noProof="0" dirty="0">
                <a:latin typeface="+mj-lt"/>
                <a:ea typeface="宋体" panose="02010600030101010101" pitchFamily="2" charset="-122"/>
                <a:cs typeface="+mn-cs"/>
              </a:rPr>
              <a:t>(</a:t>
            </a:r>
            <a:r>
              <a:rPr kumimoji="0" lang="en-US" altLang="zh-CN" sz="2400" i="1" kern="1200" cap="none" spc="0" normalizeH="0" baseline="0" noProof="0" dirty="0">
                <a:latin typeface="+mj-lt"/>
                <a:ea typeface="宋体" panose="02010600030101010101" pitchFamily="2" charset="-122"/>
                <a:cs typeface="+mn-cs"/>
              </a:rPr>
              <a:t>x</a:t>
            </a:r>
            <a:r>
              <a:rPr kumimoji="0" lang="en-US" altLang="zh-CN" sz="2400" kern="1200" cap="none" spc="0" normalizeH="0" baseline="0" noProof="0" dirty="0">
                <a:latin typeface="+mj-lt"/>
                <a:ea typeface="宋体" panose="02010600030101010101" pitchFamily="2" charset="-122"/>
                <a:cs typeface="+mn-cs"/>
              </a:rPr>
              <a:t>) </a:t>
            </a:r>
            <a:r>
              <a:rPr kumimoji="0" lang="zh-CN" altLang="en-US" sz="2400" kern="1200" cap="none" spc="0" normalizeH="0" baseline="0" noProof="0" dirty="0">
                <a:latin typeface="+mj-lt"/>
                <a:ea typeface="宋体" panose="02010600030101010101" pitchFamily="2" charset="-122"/>
                <a:cs typeface="+mn-cs"/>
              </a:rPr>
              <a:t>的形式展开，然后求出  </a:t>
            </a:r>
            <a:r>
              <a:rPr kumimoji="0" lang="en-US" altLang="zh-CN" sz="2400" i="1" kern="1200" cap="none" spc="0" normalizeH="0" baseline="0" noProof="0" dirty="0" err="1">
                <a:latin typeface="+mj-lt"/>
                <a:ea typeface="宋体" panose="02010600030101010101" pitchFamily="2" charset="-122"/>
                <a:cs typeface="+mn-cs"/>
              </a:rPr>
              <a:t>c</a:t>
            </a:r>
            <a:r>
              <a:rPr kumimoji="0" lang="en-US" altLang="zh-CN" sz="2400" i="1" kern="1200" cap="none" spc="0" normalizeH="0" baseline="-25000" noProof="0" dirty="0" err="1">
                <a:latin typeface="+mj-lt"/>
                <a:ea typeface="宋体" panose="02010600030101010101" pitchFamily="2" charset="-122"/>
                <a:cs typeface="+mn-cs"/>
              </a:rPr>
              <a:t>pn</a:t>
            </a:r>
            <a:r>
              <a:rPr kumimoji="0" lang="zh-CN" altLang="en-US" sz="2400" i="1" kern="1200" cap="none" spc="0" normalizeH="0" baseline="-25000" noProof="0" dirty="0">
                <a:latin typeface="+mj-lt"/>
                <a:ea typeface="宋体" panose="02010600030101010101" pitchFamily="2" charset="-122"/>
                <a:cs typeface="+mn-cs"/>
              </a:rPr>
              <a:t>，</a:t>
            </a:r>
            <a:r>
              <a:rPr kumimoji="0" lang="en-US" altLang="zh-CN" sz="2400" i="1" kern="1200" cap="none" spc="0" normalizeH="0" baseline="0" noProof="0" dirty="0" err="1">
                <a:latin typeface="+mj-lt"/>
                <a:ea typeface="宋体" panose="02010600030101010101" pitchFamily="2" charset="-122"/>
                <a:cs typeface="+mn-cs"/>
              </a:rPr>
              <a:t>p</a:t>
            </a:r>
            <a:r>
              <a:rPr kumimoji="0" lang="en-US" altLang="zh-CN" sz="2400" i="1" kern="1200" cap="none" spc="0" normalizeH="0" baseline="-25000" noProof="0" dirty="0" err="1">
                <a:latin typeface="+mj-lt"/>
                <a:ea typeface="宋体" panose="02010600030101010101" pitchFamily="2" charset="-122"/>
                <a:cs typeface="+mn-cs"/>
              </a:rPr>
              <a:t>x</a:t>
            </a:r>
            <a:r>
              <a:rPr kumimoji="0" lang="en-US" altLang="zh-CN" sz="2400" i="1" kern="1200" cap="none" spc="0" normalizeH="0" baseline="0" noProof="0" dirty="0">
                <a:latin typeface="+mj-lt"/>
                <a:ea typeface="宋体" panose="02010600030101010101" pitchFamily="2" charset="-122"/>
                <a:cs typeface="+mn-cs"/>
              </a:rPr>
              <a:t> </a:t>
            </a:r>
            <a:endParaRPr kumimoji="0" lang="en-US" altLang="zh-CN" sz="2400" i="1" kern="1200" cap="none" spc="0" normalizeH="0" baseline="0" noProof="0" dirty="0">
              <a:latin typeface="+mj-lt"/>
              <a:ea typeface="宋体" panose="02010600030101010101" pitchFamily="2" charset="-122"/>
              <a:cs typeface="+mn-cs"/>
            </a:endParaRPr>
          </a:p>
        </p:txBody>
      </p:sp>
      <p:graphicFrame>
        <p:nvGraphicFramePr>
          <p:cNvPr id="13" name="Object 12"/>
          <p:cNvGraphicFramePr>
            <a:graphicFrameLocks noChangeAspect="1"/>
          </p:cNvGraphicFramePr>
          <p:nvPr/>
        </p:nvGraphicFramePr>
        <p:xfrm>
          <a:off x="2065020" y="5637848"/>
          <a:ext cx="5076825" cy="661987"/>
        </p:xfrm>
        <a:graphic>
          <a:graphicData uri="http://schemas.openxmlformats.org/presentationml/2006/ole">
            <mc:AlternateContent xmlns:mc="http://schemas.openxmlformats.org/markup-compatibility/2006">
              <mc:Choice xmlns:v="urn:schemas-microsoft-com:vml" Requires="v">
                <p:oleObj spid="_x0000_s1047" name="" r:id="rId5" imgW="3022600" imgH="393700" progId="Equation.DSMT4">
                  <p:embed/>
                </p:oleObj>
              </mc:Choice>
              <mc:Fallback>
                <p:oleObj name="" r:id="rId5" imgW="3022600" imgH="393700" progId="Equation.DSMT4">
                  <p:embed/>
                  <p:pic>
                    <p:nvPicPr>
                      <p:cNvPr id="0" name="图片 3175"/>
                      <p:cNvPicPr/>
                      <p:nvPr/>
                    </p:nvPicPr>
                    <p:blipFill>
                      <a:blip r:embed="rId6"/>
                      <a:stretch>
                        <a:fillRect/>
                      </a:stretch>
                    </p:blipFill>
                    <p:spPr>
                      <a:xfrm>
                        <a:off x="2065020" y="5637848"/>
                        <a:ext cx="5076825" cy="661987"/>
                      </a:xfrm>
                      <a:prstGeom prst="rect">
                        <a:avLst/>
                      </a:prstGeom>
                      <a:noFill/>
                      <a:ln w="9525" cap="flat" cmpd="sng">
                        <a:solidFill>
                          <a:schemeClr val="accent2"/>
                        </a:solidFill>
                        <a:prstDash val="solid"/>
                        <a:miter/>
                        <a:headEnd type="none" w="med" len="med"/>
                        <a:tailEnd type="none" w="med" len="med"/>
                      </a:ln>
                    </p:spPr>
                  </p:pic>
                </p:oleObj>
              </mc:Fallback>
            </mc:AlternateContent>
          </a:graphicData>
        </a:graphic>
      </p:graphicFrame>
      <p:graphicFrame>
        <p:nvGraphicFramePr>
          <p:cNvPr id="15" name="Object 12"/>
          <p:cNvGraphicFramePr>
            <a:graphicFrameLocks noChangeAspect="1"/>
          </p:cNvGraphicFramePr>
          <p:nvPr/>
        </p:nvGraphicFramePr>
        <p:xfrm>
          <a:off x="1660208" y="4207510"/>
          <a:ext cx="5519737" cy="1230313"/>
        </p:xfrm>
        <a:graphic>
          <a:graphicData uri="http://schemas.openxmlformats.org/presentationml/2006/ole">
            <mc:AlternateContent xmlns:mc="http://schemas.openxmlformats.org/markup-compatibility/2006">
              <mc:Choice xmlns:v="urn:schemas-microsoft-com:vml" Requires="v">
                <p:oleObj spid="_x0000_s1048" name="" r:id="rId7" imgW="2857500" imgH="635000" progId="Equation.DSMT4">
                  <p:embed/>
                </p:oleObj>
              </mc:Choice>
              <mc:Fallback>
                <p:oleObj name="" r:id="rId7" imgW="2857500" imgH="635000" progId="Equation.DSMT4">
                  <p:embed/>
                  <p:pic>
                    <p:nvPicPr>
                      <p:cNvPr id="0" name="图片 3174"/>
                      <p:cNvPicPr/>
                      <p:nvPr/>
                    </p:nvPicPr>
                    <p:blipFill>
                      <a:blip r:embed="rId8"/>
                      <a:stretch>
                        <a:fillRect/>
                      </a:stretch>
                    </p:blipFill>
                    <p:spPr>
                      <a:xfrm>
                        <a:off x="1660208" y="4207510"/>
                        <a:ext cx="5519737" cy="1230313"/>
                      </a:xfrm>
                      <a:prstGeom prst="rect">
                        <a:avLst/>
                      </a:prstGeom>
                      <a:noFill/>
                      <a:ln w="38100">
                        <a:noFill/>
                        <a:miter/>
                      </a:ln>
                    </p:spPr>
                  </p:pic>
                </p:oleObj>
              </mc:Fallback>
            </mc:AlternateContent>
          </a:graphicData>
        </a:graphic>
      </p:graphicFrame>
      <p:sp>
        <p:nvSpPr>
          <p:cNvPr id="17" name="矩形 16"/>
          <p:cNvSpPr/>
          <p:nvPr/>
        </p:nvSpPr>
        <p:spPr>
          <a:xfrm>
            <a:off x="434658" y="2740660"/>
            <a:ext cx="416179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a:solidFill>
                  <a:schemeClr val="tx1"/>
                </a:solidFill>
                <a:latin typeface="+mj-ea"/>
                <a:ea typeface="+mj-ea"/>
                <a:cs typeface="Arial Unicode MS" pitchFamily="34" charset="-122"/>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b="1">
                <a:solidFill>
                  <a:schemeClr val="tx1"/>
                </a:solidFill>
                <a:latin typeface="+mj-ea"/>
                <a:ea typeface="+mj-ea"/>
                <a:cs typeface="Arial Unicode MS" pitchFamily="34" charset="-122"/>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b="1">
                <a:solidFill>
                  <a:schemeClr val="tx1"/>
                </a:solidFill>
                <a:latin typeface="+mj-ea"/>
                <a:ea typeface="+mj-ea"/>
                <a:cs typeface="Arial Unicode MS" pitchFamily="34" charset="-122"/>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mj-ea"/>
                <a:ea typeface="+mj-ea"/>
                <a:cs typeface="Arial Unicode MS" pitchFamily="34" charset="-122"/>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b="1">
                <a:solidFill>
                  <a:schemeClr val="tx1"/>
                </a:solidFill>
                <a:latin typeface="+mj-ea"/>
                <a:ea typeface="+mj-ea"/>
                <a:cs typeface="Arial Unicode MS" pitchFamily="34" charset="-122"/>
              </a:defRPr>
            </a:lvl5pPr>
          </a:lstStyle>
          <a:p>
            <a:pPr marL="0" lvl="0" indent="0">
              <a:spcBef>
                <a:spcPct val="0"/>
              </a:spcBef>
              <a:buClrTx/>
              <a:buSzTx/>
              <a:buFontTx/>
              <a:buNone/>
            </a:pPr>
            <a:r>
              <a:rPr lang="zh-CN" altLang="en-US" sz="2400" dirty="0">
                <a:latin typeface="Webdings" panose="05030102010509060703" pitchFamily="18" charset="2"/>
              </a:rPr>
              <a:t>其中，动量的本征波函数为：</a:t>
            </a:r>
            <a:endParaRPr lang="zh-CN" altLang="en-US" sz="2400" dirty="0">
              <a:latin typeface="Webdings" panose="05030102010509060703" pitchFamily="18" charset="2"/>
            </a:endParaRPr>
          </a:p>
        </p:txBody>
      </p:sp>
      <p:sp>
        <p:nvSpPr>
          <p:cNvPr id="2" name="文本框 1"/>
          <p:cNvSpPr txBox="1"/>
          <p:nvPr/>
        </p:nvSpPr>
        <p:spPr>
          <a:xfrm>
            <a:off x="107315" y="45085"/>
            <a:ext cx="5047615" cy="521970"/>
          </a:xfrm>
          <a:prstGeom prst="rect">
            <a:avLst/>
          </a:prstGeom>
          <a:noFill/>
        </p:spPr>
        <p:txBody>
          <a:bodyPr wrap="square" rtlCol="0">
            <a:spAutoFit/>
          </a:bodyPr>
          <a:lstStyle/>
          <a:p>
            <a:r>
              <a:rPr lang="zh-CN" altLang="en-US" sz="2800" b="1"/>
              <a:t>典型作业：</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ppt_x"/>
                                          </p:val>
                                        </p:tav>
                                        <p:tav tm="100000">
                                          <p:val>
                                            <p:strVal val="#ppt_x"/>
                                          </p:val>
                                        </p:tav>
                                      </p:tavLst>
                                    </p:anim>
                                    <p:anim calcmode="lin" valueType="num">
                                      <p:cBhvr additive="base">
                                        <p:cTn id="3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bldLvl="0" animBg="1"/>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94310" y="1002030"/>
            <a:ext cx="8521065" cy="48539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83260" y="908685"/>
            <a:ext cx="7731760" cy="43021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23850" y="227965"/>
            <a:ext cx="8064500" cy="2751522"/>
          </a:xfrm>
          <a:prstGeom prst="rect">
            <a:avLst/>
          </a:prstGeom>
          <a:noFill/>
        </p:spPr>
        <p:txBody>
          <a:bodyPr wrap="square" rtlCol="0" anchor="t">
            <a:spAutoFit/>
          </a:bodyPr>
          <a:lstStyle/>
          <a:p>
            <a:pPr marL="0" indent="0">
              <a:lnSpc>
                <a:spcPct val="150000"/>
              </a:lnSpc>
              <a:buNone/>
            </a:pPr>
            <a:r>
              <a:rPr lang="zh-CN" altLang="en-US" sz="2400" b="1" dirty="0">
                <a:sym typeface="+mn-ea"/>
              </a:rPr>
              <a:t>第三章</a:t>
            </a:r>
            <a:endParaRPr lang="zh-CN" altLang="en-US" sz="2400" b="1" dirty="0">
              <a:sym typeface="+mn-ea"/>
            </a:endParaRPr>
          </a:p>
          <a:p>
            <a:pPr marL="0" indent="0">
              <a:lnSpc>
                <a:spcPct val="150000"/>
              </a:lnSpc>
              <a:buNone/>
            </a:pPr>
            <a:r>
              <a:rPr lang="zh-CN" altLang="en-US" sz="2400" b="1" dirty="0">
                <a:sym typeface="+mn-ea"/>
              </a:rPr>
              <a:t>思考题：</a:t>
            </a:r>
            <a:endParaRPr lang="en-US" altLang="zh-CN" sz="2400" b="1" dirty="0"/>
          </a:p>
          <a:p>
            <a:pPr marL="0" indent="0">
              <a:lnSpc>
                <a:spcPct val="150000"/>
              </a:lnSpc>
              <a:buNone/>
            </a:pPr>
            <a:r>
              <a:rPr lang="en-US" altLang="zh-CN" sz="2400" b="1" dirty="0">
                <a:sym typeface="+mn-ea"/>
              </a:rPr>
              <a:t>1.</a:t>
            </a:r>
            <a:r>
              <a:rPr lang="zh-CN" altLang="zh-CN" sz="2400" b="1" dirty="0">
                <a:sym typeface="+mn-ea"/>
              </a:rPr>
              <a:t>请列出定态薛定谔方程求解的一般步骤</a:t>
            </a:r>
            <a:endParaRPr lang="zh-CN" altLang="zh-CN" sz="2400" b="1" dirty="0"/>
          </a:p>
          <a:p>
            <a:pPr marL="0" indent="0">
              <a:lnSpc>
                <a:spcPct val="150000"/>
              </a:lnSpc>
              <a:buNone/>
            </a:pPr>
            <a:r>
              <a:rPr lang="en-US" altLang="zh-CN" sz="2400" b="1" dirty="0">
                <a:sym typeface="+mn-ea"/>
              </a:rPr>
              <a:t>2</a:t>
            </a:r>
            <a:r>
              <a:rPr lang="en-US" altLang="zh-CN" sz="2400" b="1" dirty="0" smtClean="0">
                <a:sym typeface="+mn-ea"/>
              </a:rPr>
              <a:t>.</a:t>
            </a:r>
            <a:r>
              <a:rPr lang="zh-CN" altLang="zh-CN" sz="2400" b="1" dirty="0">
                <a:sym typeface="+mn-ea"/>
              </a:rPr>
              <a:t>请写出一维无限深势阱的本征能量和本征波函数</a:t>
            </a:r>
            <a:endParaRPr lang="zh-CN" altLang="zh-CN" sz="2400" b="1" dirty="0"/>
          </a:p>
          <a:p>
            <a:pPr marL="0" indent="0">
              <a:lnSpc>
                <a:spcPct val="120000"/>
              </a:lnSpc>
              <a:buNone/>
            </a:pPr>
            <a:endParaRPr lang="zh-CN" altLang="zh-CN" sz="2400" b="1" strike="sngStrike" dirty="0">
              <a:solidFill>
                <a:schemeClr val="tx1"/>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3260" y="405130"/>
            <a:ext cx="7781925" cy="903605"/>
          </a:xfrm>
          <a:prstGeom prst="rect">
            <a:avLst/>
          </a:prstGeom>
          <a:noFill/>
        </p:spPr>
        <p:txBody>
          <a:bodyPr wrap="square" rtlCol="0" anchor="t">
            <a:spAutoFit/>
          </a:bodyPr>
          <a:lstStyle/>
          <a:p>
            <a:pPr>
              <a:lnSpc>
                <a:spcPct val="120000"/>
              </a:lnSpc>
            </a:pPr>
            <a:r>
              <a:rPr lang="zh-CN" altLang="en-US" sz="2400" b="1" strike="sngStrike"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2400" b="1" strike="sngStrike"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000" b="1" strike="sngStrike"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计算一个电子被限制在尺寸为 </a:t>
            </a:r>
            <a:r>
              <a:rPr lang="en-US" altLang="zh-CN" sz="2000" b="1" strike="sngStrike"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5.0*10</a:t>
            </a:r>
            <a:r>
              <a:rPr lang="en-US" altLang="zh-CN" sz="2000" b="1" strike="sngStrike" baseline="3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-10</a:t>
            </a:r>
            <a:r>
              <a:rPr lang="en-US" altLang="zh-CN" sz="2000" b="1" strike="sngStrike"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 m </a:t>
            </a:r>
            <a:r>
              <a:rPr lang="en-US" altLang="zh-CN" sz="2000" b="1" strike="sngStrike"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strike="sngStrike"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大约一个原子的直径</a:t>
            </a:r>
            <a:r>
              <a:rPr lang="en-US" altLang="zh-CN" sz="2000" b="1" strike="sngStrike"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strike="sngStrike"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一维盒子里的前两个能级。</a:t>
            </a:r>
            <a:endParaRPr lang="zh-CN" altLang="en-US" sz="2000" b="1" strike="sngStrike"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p:txBody>
      </p:sp>
      <p:graphicFrame>
        <p:nvGraphicFramePr>
          <p:cNvPr id="10" name="Object 12"/>
          <p:cNvGraphicFramePr>
            <a:graphicFrameLocks noChangeAspect="1"/>
          </p:cNvGraphicFramePr>
          <p:nvPr/>
        </p:nvGraphicFramePr>
        <p:xfrm>
          <a:off x="611666" y="1412994"/>
          <a:ext cx="3993225" cy="987441"/>
        </p:xfrm>
        <a:graphic>
          <a:graphicData uri="http://schemas.openxmlformats.org/presentationml/2006/ole">
            <mc:AlternateContent xmlns:mc="http://schemas.openxmlformats.org/markup-compatibility/2006">
              <mc:Choice xmlns:v="urn:schemas-microsoft-com:vml" Requires="v">
                <p:oleObj spid="_x0000_s15581" name="Equation" r:id="rId1" imgW="38404800" imgH="10668000" progId="Equation.DSMT4">
                  <p:embed/>
                </p:oleObj>
              </mc:Choice>
              <mc:Fallback>
                <p:oleObj name="Equation" r:id="rId1" imgW="38404800" imgH="10668000" progId="Equation.DSMT4">
                  <p:embed/>
                  <p:pic>
                    <p:nvPicPr>
                      <p:cNvPr id="0" name="Object 12"/>
                      <p:cNvPicPr>
                        <a:picLocks noChangeAspect="1" noChangeArrowheads="1"/>
                      </p:cNvPicPr>
                      <p:nvPr/>
                    </p:nvPicPr>
                    <p:blipFill>
                      <a:blip r:embed="rId2"/>
                      <a:srcRect/>
                      <a:stretch>
                        <a:fillRect/>
                      </a:stretch>
                    </p:blipFill>
                    <p:spPr bwMode="auto">
                      <a:xfrm>
                        <a:off x="611666" y="1412994"/>
                        <a:ext cx="3993225" cy="987441"/>
                      </a:xfrm>
                      <a:prstGeom prst="rect">
                        <a:avLst/>
                      </a:prstGeom>
                      <a:solidFill>
                        <a:srgbClr val="FFFFCC"/>
                      </a:solidFill>
                      <a:ln>
                        <a:noFill/>
                      </a:ln>
                    </p:spPr>
                  </p:pic>
                </p:oleObj>
              </mc:Fallback>
            </mc:AlternateContent>
          </a:graphicData>
        </a:graphic>
      </p:graphicFrame>
      <p:sp>
        <p:nvSpPr>
          <p:cNvPr id="5" name="文本框 4"/>
          <p:cNvSpPr txBox="1"/>
          <p:nvPr/>
        </p:nvSpPr>
        <p:spPr>
          <a:xfrm>
            <a:off x="5120005" y="1421130"/>
            <a:ext cx="3497580" cy="645160"/>
          </a:xfrm>
          <a:prstGeom prst="rect">
            <a:avLst/>
          </a:prstGeom>
          <a:noFill/>
        </p:spPr>
        <p:txBody>
          <a:bodyPr wrap="square" rtlCol="0">
            <a:spAutoFit/>
          </a:bodyPr>
          <a:lstStyle/>
          <a:p>
            <a:r>
              <a:rPr lang="en-US" altLang="zh-CN"/>
              <a:t>a</a:t>
            </a:r>
            <a:r>
              <a:rPr lang="zh-CN" altLang="en-US"/>
              <a:t>是无限深势阱的半宽！</a:t>
            </a:r>
            <a:endParaRPr lang="zh-CN" altLang="en-US"/>
          </a:p>
          <a:p>
            <a:r>
              <a:rPr lang="en-US" altLang="zh-CN"/>
              <a:t>L=2a</a:t>
            </a:r>
            <a:endParaRPr lang="en-US" altLang="zh-CN"/>
          </a:p>
        </p:txBody>
      </p:sp>
      <p:pic>
        <p:nvPicPr>
          <p:cNvPr id="7" name="图片 6"/>
          <p:cNvPicPr>
            <a:picLocks noChangeAspect="1"/>
          </p:cNvPicPr>
          <p:nvPr/>
        </p:nvPicPr>
        <p:blipFill>
          <a:blip r:embed="rId3"/>
          <a:stretch>
            <a:fillRect/>
          </a:stretch>
        </p:blipFill>
        <p:spPr>
          <a:xfrm>
            <a:off x="1092200" y="2504440"/>
            <a:ext cx="7152005" cy="2976880"/>
          </a:xfrm>
          <a:prstGeom prst="rect">
            <a:avLst/>
          </a:prstGeom>
        </p:spPr>
      </p:pic>
      <p:sp>
        <p:nvSpPr>
          <p:cNvPr id="2" name="文本框 1"/>
          <p:cNvSpPr txBox="1"/>
          <p:nvPr/>
        </p:nvSpPr>
        <p:spPr>
          <a:xfrm>
            <a:off x="107315" y="45085"/>
            <a:ext cx="5047615" cy="521970"/>
          </a:xfrm>
          <a:prstGeom prst="rect">
            <a:avLst/>
          </a:prstGeom>
          <a:noFill/>
        </p:spPr>
        <p:txBody>
          <a:bodyPr wrap="square" rtlCol="0">
            <a:spAutoFit/>
          </a:bodyPr>
          <a:lstStyle/>
          <a:p>
            <a:r>
              <a:rPr lang="zh-CN" altLang="en-US" sz="2800" b="1"/>
              <a:t>典型作业：</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467360" y="332740"/>
            <a:ext cx="7450455" cy="521970"/>
          </a:xfrm>
          <a:prstGeom prst="rect">
            <a:avLst/>
          </a:prstGeom>
        </p:spPr>
        <p:txBody>
          <a:bodyPr wrap="square">
            <a:spAutoFit/>
          </a:bodyPr>
          <a:lstStyle/>
          <a:p>
            <a:pPr marL="0" indent="0" algn="just" defTabSz="266700">
              <a:spcBef>
                <a:spcPct val="0"/>
              </a:spcBef>
              <a:spcAft>
                <a:spcPct val="0"/>
              </a:spcAft>
            </a:pPr>
            <a:r>
              <a:rPr lang="zh-CN" altLang="en-US" sz="2800" b="1">
                <a:latin typeface="宋体" panose="02010600030101010101" pitchFamily="2" charset="-122"/>
                <a:ea typeface="宋体" panose="02010600030101010101" pitchFamily="2" charset="-122"/>
              </a:rPr>
              <a:t>知识单元三 </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量子力学中的力学量</a:t>
            </a:r>
            <a:endParaRPr lang="zh-CN" altLang="en-US" sz="2800" b="1">
              <a:latin typeface="宋体" panose="02010600030101010101" pitchFamily="2" charset="-122"/>
              <a:ea typeface="宋体" panose="02010600030101010101" pitchFamily="2" charset="-122"/>
            </a:endParaRPr>
          </a:p>
        </p:txBody>
      </p:sp>
      <p:sp>
        <p:nvSpPr>
          <p:cNvPr id="3" name="文本框 2"/>
          <p:cNvSpPr txBox="1"/>
          <p:nvPr/>
        </p:nvSpPr>
        <p:spPr>
          <a:xfrm>
            <a:off x="683895" y="1124585"/>
            <a:ext cx="7992745" cy="3449955"/>
          </a:xfrm>
          <a:prstGeom prst="rect">
            <a:avLst/>
          </a:prstGeom>
        </p:spPr>
        <p:txBody>
          <a:bodyPr>
            <a:noAutofit/>
          </a:bodyPr>
          <a:lstStyle/>
          <a:p>
            <a:pPr marL="0" indent="0" algn="just" defTabSz="266700">
              <a:lnSpc>
                <a:spcPct val="150000"/>
              </a:lnSpc>
              <a:spcBef>
                <a:spcPct val="0"/>
              </a:spcBef>
              <a:spcAft>
                <a:spcPct val="0"/>
              </a:spcAft>
            </a:pPr>
            <a:r>
              <a:rPr lang="zh-CN" altLang="en-US" sz="2400" dirty="0" smtClean="0">
                <a:highlight>
                  <a:srgbClr val="FFFF00"/>
                </a:highlight>
                <a:latin typeface="宋体" panose="02010600030101010101" pitchFamily="2" charset="-122"/>
                <a:ea typeface="宋体" panose="02010600030101010101" pitchFamily="2" charset="-122"/>
              </a:rPr>
              <a:t>力</a:t>
            </a:r>
            <a:r>
              <a:rPr lang="zh-CN" altLang="en-US" sz="2400" dirty="0">
                <a:highlight>
                  <a:srgbClr val="FFFF00"/>
                </a:highlight>
                <a:latin typeface="宋体" panose="02010600030101010101" pitchFamily="2" charset="-122"/>
                <a:ea typeface="宋体" panose="02010600030101010101" pitchFamily="2" charset="-122"/>
              </a:rPr>
              <a:t>学量算符的性质为线性厄米算符</a:t>
            </a:r>
            <a:r>
              <a:rPr lang="zh-CN" altLang="en-US" sz="2400" dirty="0" smtClean="0">
                <a:highlight>
                  <a:srgbClr val="FFFF00"/>
                </a:highlight>
                <a:latin typeface="宋体" panose="02010600030101010101" pitchFamily="2" charset="-122"/>
                <a:ea typeface="宋体" panose="02010600030101010101" pitchFamily="2" charset="-122"/>
              </a:rPr>
              <a:t>，常</a:t>
            </a:r>
            <a:r>
              <a:rPr lang="zh-CN" altLang="en-US" sz="2400" dirty="0">
                <a:highlight>
                  <a:srgbClr val="FFFF00"/>
                </a:highlight>
                <a:latin typeface="宋体" panose="02010600030101010101" pitchFamily="2" charset="-122"/>
                <a:ea typeface="宋体" panose="02010600030101010101" pitchFamily="2" charset="-122"/>
              </a:rPr>
              <a:t>见力学量算符的构成</a:t>
            </a:r>
            <a:r>
              <a:rPr lang="zh-CN" altLang="en-US" sz="2400" dirty="0" smtClean="0">
                <a:highlight>
                  <a:srgbClr val="FFFF00"/>
                </a:highlight>
                <a:latin typeface="宋体" panose="02010600030101010101" pitchFamily="2" charset="-122"/>
                <a:ea typeface="宋体" panose="02010600030101010101" pitchFamily="2" charset="-122"/>
              </a:rPr>
              <a:t>；厄</a:t>
            </a:r>
            <a:r>
              <a:rPr lang="zh-CN" altLang="en-US" sz="2400" dirty="0">
                <a:highlight>
                  <a:srgbClr val="FFFF00"/>
                </a:highlight>
                <a:latin typeface="宋体" panose="02010600030101010101" pitchFamily="2" charset="-122"/>
                <a:ea typeface="宋体" panose="02010600030101010101" pitchFamily="2" charset="-122"/>
              </a:rPr>
              <a:t>米算符的本征值和本征函数的特点</a:t>
            </a:r>
            <a:r>
              <a:rPr lang="zh-CN" altLang="en-US" sz="2400" dirty="0" smtClean="0">
                <a:highlight>
                  <a:srgbClr val="FFFF00"/>
                </a:highlight>
                <a:latin typeface="宋体" panose="02010600030101010101" pitchFamily="2" charset="-122"/>
                <a:ea typeface="宋体" panose="02010600030101010101" pitchFamily="2" charset="-122"/>
              </a:rPr>
              <a:t>；常</a:t>
            </a:r>
            <a:r>
              <a:rPr lang="zh-CN" altLang="en-US" sz="2400" dirty="0">
                <a:highlight>
                  <a:srgbClr val="FFFF00"/>
                </a:highlight>
                <a:latin typeface="宋体" panose="02010600030101010101" pitchFamily="2" charset="-122"/>
                <a:ea typeface="宋体" panose="02010600030101010101" pitchFamily="2" charset="-122"/>
              </a:rPr>
              <a:t>见的力学量算符的基本对易关系，能够用基本对易关系式对其它力学量的对易关系进行证明</a:t>
            </a:r>
            <a:r>
              <a:rPr lang="zh-CN" altLang="en-US" sz="2400" dirty="0" smtClean="0">
                <a:highlight>
                  <a:srgbClr val="FFFF00"/>
                </a:highlight>
                <a:latin typeface="宋体" panose="02010600030101010101" pitchFamily="2" charset="-122"/>
                <a:ea typeface="宋体" panose="02010600030101010101" pitchFamily="2" charset="-122"/>
              </a:rPr>
              <a:t>。力</a:t>
            </a:r>
            <a:r>
              <a:rPr lang="zh-CN" altLang="en-US" sz="2400" dirty="0">
                <a:highlight>
                  <a:srgbClr val="FFFF00"/>
                </a:highlight>
                <a:latin typeface="宋体" panose="02010600030101010101" pitchFamily="2" charset="-122"/>
                <a:ea typeface="宋体" panose="02010600030101010101" pitchFamily="2" charset="-122"/>
              </a:rPr>
              <a:t>学量平均值的两种计算方法。</a:t>
            </a:r>
            <a:r>
              <a:rPr lang="zh-CN" altLang="en-US" sz="2400" dirty="0">
                <a:latin typeface="宋体" panose="02010600030101010101" pitchFamily="2" charset="-122"/>
                <a:ea typeface="宋体" panose="02010600030101010101" pitchFamily="2" charset="-122"/>
              </a:rPr>
              <a:t>掌握不确定性原</a:t>
            </a:r>
            <a:r>
              <a:rPr lang="zh-CN" altLang="en-US" sz="2400" dirty="0" smtClean="0">
                <a:latin typeface="宋体" panose="02010600030101010101" pitchFamily="2" charset="-122"/>
                <a:ea typeface="宋体" panose="02010600030101010101" pitchFamily="2" charset="-122"/>
              </a:rPr>
              <a:t>理。</a:t>
            </a:r>
            <a:r>
              <a:rPr lang="zh-CN" altLang="en-US" sz="2400" dirty="0" smtClean="0">
                <a:highlight>
                  <a:srgbClr val="FFFF00"/>
                </a:highlight>
                <a:latin typeface="宋体" panose="02010600030101010101" pitchFamily="2" charset="-122"/>
                <a:ea typeface="宋体" panose="02010600030101010101" pitchFamily="2" charset="-122"/>
              </a:rPr>
              <a:t>本</a:t>
            </a:r>
            <a:r>
              <a:rPr lang="zh-CN" altLang="en-US" sz="2400" dirty="0">
                <a:highlight>
                  <a:srgbClr val="FFFF00"/>
                </a:highlight>
                <a:latin typeface="宋体" panose="02010600030101010101" pitchFamily="2" charset="-122"/>
                <a:ea typeface="宋体" panose="02010600030101010101" pitchFamily="2" charset="-122"/>
              </a:rPr>
              <a:t>征函数的归一化问题</a:t>
            </a:r>
            <a:r>
              <a:rPr lang="zh-CN" altLang="en-US" sz="2400" dirty="0" smtClean="0">
                <a:highlight>
                  <a:srgbClr val="FFFF00"/>
                </a:highlight>
                <a:latin typeface="宋体" panose="02010600030101010101" pitchFamily="2" charset="-122"/>
                <a:ea typeface="宋体" panose="02010600030101010101" pitchFamily="2" charset="-122"/>
              </a:rPr>
              <a:t>，量</a:t>
            </a:r>
            <a:r>
              <a:rPr lang="zh-CN" altLang="en-US" sz="2400" dirty="0">
                <a:highlight>
                  <a:srgbClr val="FFFF00"/>
                </a:highlight>
                <a:latin typeface="宋体" panose="02010600030101010101" pitchFamily="2" charset="-122"/>
                <a:ea typeface="宋体" panose="02010600030101010101" pitchFamily="2" charset="-122"/>
              </a:rPr>
              <a:t>子力学的基本假设三和四。</a:t>
            </a:r>
            <a:endParaRPr lang="zh-CN" altLang="en-US" sz="2400" dirty="0">
              <a:highlight>
                <a:srgbClr val="FFFF00"/>
              </a:highlight>
              <a:latin typeface="宋体" panose="02010600030101010101" pitchFamily="2" charset="-122"/>
              <a:ea typeface="宋体" panose="02010600030101010101" pitchFamily="2" charset="-122"/>
            </a:endParaRPr>
          </a:p>
        </p:txBody>
      </p:sp>
      <p:sp>
        <p:nvSpPr>
          <p:cNvPr id="4" name="文本框 3"/>
          <p:cNvSpPr txBox="1"/>
          <p:nvPr/>
        </p:nvSpPr>
        <p:spPr>
          <a:xfrm>
            <a:off x="755650" y="6021705"/>
            <a:ext cx="7150100" cy="521970"/>
          </a:xfrm>
          <a:prstGeom prst="rect">
            <a:avLst/>
          </a:prstGeom>
          <a:noFill/>
        </p:spPr>
        <p:txBody>
          <a:bodyPr wrap="square" rtlCol="0" anchor="t">
            <a:spAutoFit/>
          </a:bodyPr>
          <a:lstStyle/>
          <a:p>
            <a:pPr defTabSz="457200"/>
            <a:r>
              <a:rPr lang="zh-CN" altLang="en-US" sz="2800" b="1" dirty="0" smtClean="0">
                <a:sym typeface="+mn-ea"/>
              </a:rPr>
              <a:t>题型：</a:t>
            </a:r>
            <a:r>
              <a:rPr lang="zh-CN" altLang="en-US" sz="2800" b="1" dirty="0" smtClean="0">
                <a:solidFill>
                  <a:schemeClr val="tx1"/>
                </a:solidFill>
                <a:sym typeface="+mn-ea"/>
              </a:rPr>
              <a:t>简答，</a:t>
            </a:r>
            <a:r>
              <a:rPr lang="zh-CN" altLang="en-US" sz="2800" b="1" dirty="0" smtClean="0">
                <a:sym typeface="+mn-ea"/>
              </a:rPr>
              <a:t>计算（</a:t>
            </a:r>
            <a:r>
              <a:rPr lang="zh-CN" altLang="en-US" sz="2800" b="1" dirty="0" smtClean="0">
                <a:sym typeface="+mn-ea"/>
              </a:rPr>
              <a:t>证明）</a:t>
            </a:r>
            <a:endParaRPr lang="zh-CN" altLang="en-US" sz="2800" b="1" dirty="0" smtClean="0">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36245" y="306070"/>
            <a:ext cx="8365490" cy="5723890"/>
          </a:xfrm>
          <a:prstGeom prst="rect">
            <a:avLst/>
          </a:prstGeom>
          <a:noFill/>
        </p:spPr>
        <p:txBody>
          <a:bodyPr wrap="square" rtlCol="0">
            <a:spAutoFit/>
          </a:bodyPr>
          <a:lstStyle/>
          <a:p>
            <a:pPr marL="0" indent="0">
              <a:lnSpc>
                <a:spcPct val="150000"/>
              </a:lnSpc>
              <a:buNone/>
            </a:pPr>
            <a:r>
              <a:rPr lang="zh-CN" altLang="en-US" sz="2400" dirty="0">
                <a:sym typeface="+mn-ea"/>
              </a:rPr>
              <a:t>思考题：</a:t>
            </a:r>
            <a:r>
              <a:rPr lang="en-US" altLang="zh-CN" sz="2400" dirty="0">
                <a:sym typeface="+mn-ea"/>
              </a:rPr>
              <a:t>  </a:t>
            </a:r>
            <a:endParaRPr lang="en-US" altLang="zh-CN" sz="2400" dirty="0" smtClean="0"/>
          </a:p>
          <a:p>
            <a:pPr marL="457200" indent="-457200">
              <a:lnSpc>
                <a:spcPct val="150000"/>
              </a:lnSpc>
              <a:buFont typeface="+mj-lt"/>
              <a:buAutoNum type="arabicPeriod"/>
            </a:pPr>
            <a:r>
              <a:rPr lang="zh-CN" altLang="zh-CN" sz="2000" dirty="0" smtClean="0">
                <a:sym typeface="+mn-ea"/>
              </a:rPr>
              <a:t>力学量用算符表示的实质是什么？</a:t>
            </a:r>
            <a:endParaRPr lang="zh-CN" altLang="zh-CN" sz="2000" dirty="0" smtClean="0"/>
          </a:p>
          <a:p>
            <a:pPr marL="457200" indent="-457200">
              <a:lnSpc>
                <a:spcPct val="150000"/>
              </a:lnSpc>
              <a:buFont typeface="+mj-lt"/>
              <a:buAutoNum type="arabicPeriod"/>
            </a:pPr>
            <a:r>
              <a:rPr lang="zh-CN" altLang="zh-CN" sz="2000" dirty="0" smtClean="0">
                <a:sym typeface="+mn-ea"/>
              </a:rPr>
              <a:t>什</a:t>
            </a:r>
            <a:r>
              <a:rPr lang="zh-CN" altLang="zh-CN" sz="2000" dirty="0">
                <a:sym typeface="+mn-ea"/>
              </a:rPr>
              <a:t>么样的算符可以表示力学量</a:t>
            </a:r>
            <a:r>
              <a:rPr lang="zh-CN" altLang="zh-CN" sz="2000" dirty="0" smtClean="0">
                <a:sym typeface="+mn-ea"/>
              </a:rPr>
              <a:t>？</a:t>
            </a:r>
            <a:endParaRPr lang="en-US" altLang="zh-CN" sz="2000" dirty="0" smtClean="0">
              <a:sym typeface="+mn-ea"/>
            </a:endParaRPr>
          </a:p>
          <a:p>
            <a:pPr marL="457200" indent="-457200">
              <a:lnSpc>
                <a:spcPct val="150000"/>
              </a:lnSpc>
              <a:buFont typeface="+mj-lt"/>
              <a:buAutoNum type="arabicPeriod"/>
            </a:pPr>
            <a:r>
              <a:rPr lang="zh-CN" altLang="en-US" sz="2000" dirty="0" smtClean="0">
                <a:sym typeface="+mn-ea"/>
              </a:rPr>
              <a:t>常见力学</a:t>
            </a:r>
            <a:r>
              <a:rPr lang="zh-CN" altLang="en-US" sz="2000" dirty="0" smtClean="0">
                <a:sym typeface="+mn-ea"/>
              </a:rPr>
              <a:t>量在坐标空间（坐标表象）中的算</a:t>
            </a:r>
            <a:r>
              <a:rPr lang="zh-CN" altLang="en-US" sz="2000" dirty="0" smtClean="0">
                <a:sym typeface="+mn-ea"/>
              </a:rPr>
              <a:t>符表达式（讲义</a:t>
            </a:r>
            <a:r>
              <a:rPr lang="en-US" altLang="zh-CN" sz="2000" dirty="0" smtClean="0">
                <a:sym typeface="+mn-ea"/>
              </a:rPr>
              <a:t>pp.23</a:t>
            </a:r>
            <a:r>
              <a:rPr lang="zh-CN" altLang="en-US" sz="2000" dirty="0" smtClean="0">
                <a:sym typeface="+mn-ea"/>
              </a:rPr>
              <a:t>，</a:t>
            </a:r>
            <a:r>
              <a:rPr lang="en-US" altLang="zh-CN" sz="2000" dirty="0" smtClean="0">
                <a:sym typeface="+mn-ea"/>
              </a:rPr>
              <a:t>pp24</a:t>
            </a:r>
            <a:r>
              <a:rPr lang="zh-CN" altLang="en-US" sz="2000" dirty="0" smtClean="0">
                <a:sym typeface="+mn-ea"/>
              </a:rPr>
              <a:t>页</a:t>
            </a:r>
            <a:r>
              <a:rPr lang="zh-CN" altLang="en-US" sz="2000" dirty="0">
                <a:sym typeface="+mn-ea"/>
              </a:rPr>
              <a:t>）</a:t>
            </a:r>
            <a:endParaRPr lang="zh-CN" altLang="zh-CN" sz="2000" dirty="0"/>
          </a:p>
          <a:p>
            <a:pPr marL="457200" indent="-457200">
              <a:lnSpc>
                <a:spcPct val="150000"/>
              </a:lnSpc>
              <a:buFont typeface="+mj-lt"/>
              <a:buAutoNum type="arabicPeriod"/>
            </a:pPr>
            <a:r>
              <a:rPr lang="zh-CN" altLang="zh-CN" sz="2000" dirty="0" smtClean="0">
                <a:sym typeface="+mn-ea"/>
              </a:rPr>
              <a:t>掌</a:t>
            </a:r>
            <a:r>
              <a:rPr lang="zh-CN" altLang="zh-CN" sz="2000" dirty="0">
                <a:sym typeface="+mn-ea"/>
              </a:rPr>
              <a:t>握算符的运算规则，特别是对易关系的计算如位置和动量对易关</a:t>
            </a:r>
            <a:r>
              <a:rPr lang="zh-CN" altLang="zh-CN" sz="2000" dirty="0" smtClean="0">
                <a:sym typeface="+mn-ea"/>
              </a:rPr>
              <a:t>系</a:t>
            </a:r>
            <a:r>
              <a:rPr lang="zh-CN" altLang="en-US" sz="2000" dirty="0" smtClean="0">
                <a:sym typeface="+mn-ea"/>
              </a:rPr>
              <a:t>、位置和角动量对易关系</a:t>
            </a:r>
            <a:endParaRPr lang="en-US" altLang="zh-CN" sz="2000" dirty="0" smtClean="0">
              <a:sym typeface="+mn-ea"/>
            </a:endParaRPr>
          </a:p>
          <a:p>
            <a:pPr marL="457200" indent="-457200">
              <a:lnSpc>
                <a:spcPct val="150000"/>
              </a:lnSpc>
              <a:buFont typeface="+mj-lt"/>
              <a:buAutoNum type="arabicPeriod"/>
            </a:pPr>
            <a:r>
              <a:rPr lang="zh-CN" altLang="zh-CN" sz="2000" dirty="0" smtClean="0">
                <a:sym typeface="+mn-ea"/>
              </a:rPr>
              <a:t>厄</a:t>
            </a:r>
            <a:r>
              <a:rPr lang="zh-CN" altLang="zh-CN" sz="2000" dirty="0">
                <a:sym typeface="+mn-ea"/>
              </a:rPr>
              <a:t>密算符的基本性质有哪些</a:t>
            </a:r>
            <a:r>
              <a:rPr lang="zh-CN" altLang="en-US" sz="2000" dirty="0">
                <a:sym typeface="+mn-ea"/>
              </a:rPr>
              <a:t>。</a:t>
            </a:r>
            <a:endParaRPr lang="zh-CN" altLang="zh-CN" sz="2000" dirty="0"/>
          </a:p>
          <a:p>
            <a:pPr marL="457200" indent="-457200">
              <a:lnSpc>
                <a:spcPct val="150000"/>
              </a:lnSpc>
              <a:buFont typeface="+mj-lt"/>
              <a:buAutoNum type="arabicPeriod"/>
            </a:pPr>
            <a:r>
              <a:rPr lang="zh-CN" altLang="zh-CN" sz="2000" dirty="0" smtClean="0">
                <a:sym typeface="+mn-ea"/>
              </a:rPr>
              <a:t>什</a:t>
            </a:r>
            <a:r>
              <a:rPr lang="zh-CN" altLang="zh-CN" sz="2000" dirty="0">
                <a:sym typeface="+mn-ea"/>
              </a:rPr>
              <a:t>么体系中测量力学量有确定值，什么体系中没有。</a:t>
            </a:r>
            <a:endParaRPr lang="zh-CN" altLang="zh-CN" sz="2000" dirty="0"/>
          </a:p>
          <a:p>
            <a:pPr marL="457200" indent="-457200">
              <a:lnSpc>
                <a:spcPct val="150000"/>
              </a:lnSpc>
              <a:buFont typeface="+mj-lt"/>
              <a:buAutoNum type="arabicPeriod"/>
            </a:pPr>
            <a:r>
              <a:rPr lang="zh-CN" altLang="zh-CN" sz="2000" dirty="0" smtClean="0">
                <a:sym typeface="+mn-ea"/>
              </a:rPr>
              <a:t>什</a:t>
            </a:r>
            <a:r>
              <a:rPr lang="zh-CN" altLang="zh-CN" sz="2000" dirty="0">
                <a:sym typeface="+mn-ea"/>
              </a:rPr>
              <a:t>么情况下几个力学量可以同时准确测量。</a:t>
            </a:r>
            <a:endParaRPr lang="zh-CN" altLang="zh-CN" sz="2000" dirty="0"/>
          </a:p>
          <a:p>
            <a:pPr marL="457200" indent="-457200">
              <a:lnSpc>
                <a:spcPct val="150000"/>
              </a:lnSpc>
              <a:buFont typeface="+mj-lt"/>
              <a:buAutoNum type="arabicPeriod"/>
            </a:pPr>
            <a:r>
              <a:rPr lang="zh-CN" altLang="zh-CN" sz="2000" dirty="0" smtClean="0">
                <a:sym typeface="+mn-ea"/>
              </a:rPr>
              <a:t>什</a:t>
            </a:r>
            <a:r>
              <a:rPr lang="zh-CN" altLang="zh-CN" sz="2000" dirty="0">
                <a:sym typeface="+mn-ea"/>
              </a:rPr>
              <a:t>么情况下不能同时测量得到确定</a:t>
            </a:r>
            <a:r>
              <a:rPr lang="zh-CN" altLang="zh-CN" sz="2000" dirty="0" smtClean="0">
                <a:sym typeface="+mn-ea"/>
              </a:rPr>
              <a:t>值</a:t>
            </a:r>
            <a:endParaRPr lang="zh-CN" altLang="zh-CN" sz="2000" dirty="0"/>
          </a:p>
          <a:p>
            <a:pPr marL="457200" indent="-457200">
              <a:lnSpc>
                <a:spcPct val="150000"/>
              </a:lnSpc>
              <a:buFont typeface="+mj-lt"/>
              <a:buAutoNum type="arabicPeriod"/>
            </a:pPr>
            <a:r>
              <a:rPr lang="zh-CN" altLang="zh-CN" sz="2000" dirty="0" smtClean="0">
                <a:sym typeface="+mn-ea"/>
              </a:rPr>
              <a:t>力</a:t>
            </a:r>
            <a:r>
              <a:rPr lang="zh-CN" altLang="zh-CN" sz="2000" dirty="0">
                <a:sym typeface="+mn-ea"/>
              </a:rPr>
              <a:t>学量本征值和本征函数系相关特性。</a:t>
            </a:r>
            <a:r>
              <a:rPr lang="en-US" altLang="zh-CN" sz="2000" dirty="0">
                <a:sym typeface="+mn-ea"/>
              </a:rPr>
              <a:t> </a:t>
            </a:r>
            <a:r>
              <a:rPr lang="zh-CN" altLang="en-US" sz="2000" dirty="0">
                <a:solidFill>
                  <a:srgbClr val="FF0000"/>
                </a:solidFill>
                <a:sym typeface="+mn-ea"/>
              </a:rPr>
              <a:t>完成</a:t>
            </a:r>
            <a:r>
              <a:rPr lang="en-US" altLang="zh-CN" sz="2000" dirty="0">
                <a:solidFill>
                  <a:srgbClr val="FF0000"/>
                </a:solidFill>
                <a:sym typeface="+mn-ea"/>
              </a:rPr>
              <a:t>56</a:t>
            </a:r>
            <a:r>
              <a:rPr lang="zh-CN" altLang="en-US" sz="2000" dirty="0">
                <a:solidFill>
                  <a:srgbClr val="FF0000"/>
                </a:solidFill>
                <a:sym typeface="+mn-ea"/>
              </a:rPr>
              <a:t>页例</a:t>
            </a:r>
            <a:r>
              <a:rPr lang="en-US" altLang="zh-CN" sz="2000" dirty="0">
                <a:solidFill>
                  <a:srgbClr val="FF0000"/>
                </a:solidFill>
                <a:sym typeface="+mn-ea"/>
              </a:rPr>
              <a:t>1.</a:t>
            </a:r>
            <a:endParaRPr lang="zh-CN" altLang="zh-CN" sz="2000" dirty="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6"/>
          <p:cNvGraphicFramePr>
            <a:graphicFrameLocks noChangeAspect="1"/>
          </p:cNvGraphicFramePr>
          <p:nvPr/>
        </p:nvGraphicFramePr>
        <p:xfrm>
          <a:off x="2341735" y="1340869"/>
          <a:ext cx="1230478" cy="461665"/>
        </p:xfrm>
        <a:graphic>
          <a:graphicData uri="http://schemas.openxmlformats.org/presentationml/2006/ole">
            <mc:AlternateContent xmlns:mc="http://schemas.openxmlformats.org/markup-compatibility/2006">
              <mc:Choice xmlns:v="urn:schemas-microsoft-com:vml" Requires="v">
                <p:oleObj spid="_x0000_s219144" name="Equation" r:id="rId1" imgW="14630400" imgH="5486400" progId="Equation.DSMT4">
                  <p:embed/>
                </p:oleObj>
              </mc:Choice>
              <mc:Fallback>
                <p:oleObj name="Equation" r:id="rId1" imgW="14630400" imgH="5486400" progId="Equation.DSMT4">
                  <p:embed/>
                  <p:pic>
                    <p:nvPicPr>
                      <p:cNvPr id="0" name="图片 219143"/>
                      <p:cNvPicPr>
                        <a:picLocks noChangeAspect="1" noChangeArrowheads="1"/>
                      </p:cNvPicPr>
                      <p:nvPr/>
                    </p:nvPicPr>
                    <p:blipFill>
                      <a:blip r:embed="rId2"/>
                      <a:srcRect/>
                      <a:stretch>
                        <a:fillRect/>
                      </a:stretch>
                    </p:blipFill>
                    <p:spPr bwMode="auto">
                      <a:xfrm>
                        <a:off x="2341735" y="1340869"/>
                        <a:ext cx="1230478" cy="461665"/>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3" name="矩形 12"/>
              <p:cNvSpPr/>
              <p:nvPr/>
            </p:nvSpPr>
            <p:spPr>
              <a:xfrm>
                <a:off x="288732" y="1340768"/>
                <a:ext cx="8727311" cy="1568450"/>
              </a:xfrm>
              <a:prstGeom prst="rect">
                <a:avLst/>
              </a:prstGeom>
            </p:spPr>
            <p:txBody>
              <a:bodyPr wrap="square">
                <a:spAutoFit/>
              </a:bodyPr>
              <a:lstStyle/>
              <a:p>
                <a:pPr>
                  <a:spcBef>
                    <a:spcPct val="0"/>
                  </a:spcBef>
                </a:pPr>
                <a:r>
                  <a:rPr lang="zh-CN" altLang="en-US"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练习</a:t>
                </a:r>
                <a:r>
                  <a:rPr lang="en-US" altLang="zh-CN"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2</a:t>
                </a:r>
                <a:r>
                  <a:rPr lang="zh-CN" altLang="en-US"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：已知                       ，请根据力学量算符构造规则，写出角动量算符        在</a:t>
                </a:r>
                <a:r>
                  <a:rPr lang="en-US" altLang="zh-CN"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x</a:t>
                </a:r>
                <a:r>
                  <a:rPr lang="zh-CN" altLang="en-US"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y</a:t>
                </a:r>
                <a:r>
                  <a:rPr lang="zh-CN" altLang="en-US"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z</a:t>
                </a:r>
                <a:r>
                  <a:rPr lang="zh-CN" altLang="en-US"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方向的表达式。计算</a:t>
                </a:r>
                <a:r>
                  <a:rPr lang="en-US" altLang="zh-CN"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与</a:t>
                </a:r>
                <a:r>
                  <a:rPr lang="en-US" altLang="zh-CN"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以及</a:t>
                </a:r>
                <a:r>
                  <a:rPr lang="en-US" altLang="zh-CN"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与</a:t>
                </a:r>
                <a14:m>
                  <m:oMath xmlns:m="http://schemas.openxmlformats.org/officeDocument/2006/math">
                    <m:acc>
                      <m:accPr>
                        <m:ctrlPr>
                          <a:rPr lang="en-US" altLang="zh-CN" sz="2400" b="1" i="1" dirty="0">
                            <a:solidFill>
                              <a:srgbClr val="000099"/>
                            </a:solidFill>
                            <a:latin typeface="Cambria Math" panose="02040503050406030204"/>
                            <a:ea typeface="微软雅黑" panose="020B0503020204020204" charset="-122"/>
                            <a:cs typeface="Cambria Math" panose="02040503050406030204" pitchFamily="18" charset="0"/>
                          </a:rPr>
                        </m:ctrlPr>
                      </m:accPr>
                      <m:e>
                        <m:r>
                          <a:rPr lang="en-US" altLang="zh-CN" sz="2400" b="1" i="1" dirty="0">
                            <a:solidFill>
                              <a:srgbClr val="000099"/>
                            </a:solidFill>
                            <a:latin typeface="Cambria Math" panose="02040503050406030204" pitchFamily="18" charset="0"/>
                            <a:ea typeface="微软雅黑" panose="020B0503020204020204" charset="-122"/>
                            <a:cs typeface="Cambria Math" panose="02040503050406030204" pitchFamily="18" charset="0"/>
                          </a:rPr>
                          <m:t>𝑦</m:t>
                        </m:r>
                      </m:e>
                    </m:acc>
                  </m:oMath>
                </a14:m>
                <a:r>
                  <a:rPr lang="zh-CN" altLang="en-US" sz="2400" dirty="0">
                    <a:solidFill>
                      <a:srgbClr val="000099"/>
                    </a:solidFill>
                    <a:latin typeface="Cambria Math" panose="02040503050406030204" pitchFamily="18" charset="0"/>
                    <a:ea typeface="微软雅黑" panose="020B0503020204020204" charset="-122"/>
                    <a:cs typeface="Cambria Math" panose="02040503050406030204" pitchFamily="18" charset="0"/>
                  </a:rPr>
                  <a:t>的对易关系。</a:t>
                </a:r>
                <a:endParaRPr lang="zh-CN" altLang="en-US" sz="2400" dirty="0">
                  <a:solidFill>
                    <a:srgbClr val="000099"/>
                  </a:solidFill>
                  <a:latin typeface="Cambria Math" panose="02040503050406030204" pitchFamily="18" charset="0"/>
                  <a:ea typeface="微软雅黑" panose="020B0503020204020204" charset="-122"/>
                  <a:cs typeface="Cambria Math" panose="02040503050406030204" pitchFamily="18" charset="0"/>
                </a:endParaRPr>
              </a:p>
              <a:p>
                <a:pPr>
                  <a:spcBef>
                    <a:spcPct val="0"/>
                  </a:spcBef>
                </a:pPr>
                <a:r>
                  <a:rPr lang="zh-CN" altLang="en-US" sz="2400" dirty="0">
                    <a:solidFill>
                      <a:srgbClr val="000099"/>
                    </a:solidFill>
                    <a:latin typeface="Cambria Math" panose="02040503050406030204" pitchFamily="18" charset="0"/>
                    <a:ea typeface="微软雅黑" panose="020B0503020204020204" charset="-122"/>
                    <a:cs typeface="Cambria Math" panose="02040503050406030204" pitchFamily="18" charset="0"/>
                  </a:rPr>
                  <a:t>对易关系证明。</a:t>
                </a:r>
                <a:endParaRPr lang="zh-CN" altLang="en-US" sz="2400" dirty="0">
                  <a:solidFill>
                    <a:srgbClr val="000099"/>
                  </a:solidFill>
                  <a:latin typeface="Cambria Math" panose="02040503050406030204" pitchFamily="18" charset="0"/>
                  <a:ea typeface="微软雅黑" panose="020B0503020204020204" charset="-122"/>
                  <a:cs typeface="Cambria Math" panose="02040503050406030204" pitchFamily="18" charset="0"/>
                </a:endParaRPr>
              </a:p>
            </p:txBody>
          </p:sp>
        </mc:Choice>
        <mc:Fallback>
          <p:sp>
            <p:nvSpPr>
              <p:cNvPr id="3" name="矩形 12"/>
              <p:cNvSpPr>
                <a:spLocks noRot="1" noChangeAspect="1" noMove="1" noResize="1" noEditPoints="1" noAdjustHandles="1" noChangeArrowheads="1" noChangeShapeType="1" noTextEdit="1"/>
              </p:cNvSpPr>
              <p:nvPr/>
            </p:nvSpPr>
            <p:spPr>
              <a:xfrm>
                <a:off x="288732" y="1340768"/>
                <a:ext cx="8727311" cy="1568450"/>
              </a:xfrm>
              <a:prstGeom prst="rect">
                <a:avLst/>
              </a:prstGeom>
              <a:blipFill rotWithShape="1">
                <a:blip r:embed="rId3"/>
                <a:stretch>
                  <a:fillRect l="-5" t="-18" r="4" b="18"/>
                </a:stretch>
              </a:blipFill>
            </p:spPr>
            <p:txBody>
              <a:bodyPr/>
              <a:lstStyle/>
              <a:p>
                <a:r>
                  <a:rPr lang="zh-CN" altLang="en-US">
                    <a:noFill/>
                  </a:rPr>
                  <a:t> </a:t>
                </a:r>
              </a:p>
            </p:txBody>
          </p:sp>
        </mc:Fallback>
      </mc:AlternateContent>
      <p:graphicFrame>
        <p:nvGraphicFramePr>
          <p:cNvPr id="4" name="Object 16"/>
          <p:cNvGraphicFramePr>
            <a:graphicFrameLocks noChangeAspect="1"/>
          </p:cNvGraphicFramePr>
          <p:nvPr/>
        </p:nvGraphicFramePr>
        <p:xfrm>
          <a:off x="2014762" y="1681624"/>
          <a:ext cx="322263" cy="430212"/>
        </p:xfrm>
        <a:graphic>
          <a:graphicData uri="http://schemas.openxmlformats.org/presentationml/2006/ole">
            <mc:AlternateContent xmlns:mc="http://schemas.openxmlformats.org/markup-compatibility/2006">
              <mc:Choice xmlns:v="urn:schemas-microsoft-com:vml" Requires="v">
                <p:oleObj spid="_x0000_s219145" name="Equation" r:id="rId4" imgW="3657600" imgH="4876800" progId="Equation.DSMT4">
                  <p:embed/>
                </p:oleObj>
              </mc:Choice>
              <mc:Fallback>
                <p:oleObj name="Equation" r:id="rId4" imgW="3657600" imgH="4876800" progId="Equation.DSMT4">
                  <p:embed/>
                  <p:pic>
                    <p:nvPicPr>
                      <p:cNvPr id="0" name="图片 219144"/>
                      <p:cNvPicPr>
                        <a:picLocks noChangeAspect="1" noChangeArrowheads="1"/>
                      </p:cNvPicPr>
                      <p:nvPr/>
                    </p:nvPicPr>
                    <p:blipFill>
                      <a:blip r:embed="rId5"/>
                      <a:srcRect/>
                      <a:stretch>
                        <a:fillRect/>
                      </a:stretch>
                    </p:blipFill>
                    <p:spPr bwMode="auto">
                      <a:xfrm>
                        <a:off x="2014762" y="1681624"/>
                        <a:ext cx="322263" cy="430212"/>
                      </a:xfrm>
                      <a:prstGeom prst="rect">
                        <a:avLst/>
                      </a:prstGeom>
                      <a:solidFill>
                        <a:schemeClr val="bg1"/>
                      </a:solidFill>
                      <a:ln>
                        <a:noFill/>
                      </a:ln>
                      <a:effectLst/>
                    </p:spPr>
                  </p:pic>
                </p:oleObj>
              </mc:Fallback>
            </mc:AlternateContent>
          </a:graphicData>
        </a:graphic>
      </p:graphicFrame>
      <p:pic>
        <p:nvPicPr>
          <p:cNvPr id="5" name="图片 18"/>
          <p:cNvPicPr>
            <a:picLocks noChangeAspect="1"/>
          </p:cNvPicPr>
          <p:nvPr/>
        </p:nvPicPr>
        <p:blipFill>
          <a:blip r:embed="rId6"/>
          <a:stretch>
            <a:fillRect/>
          </a:stretch>
        </p:blipFill>
        <p:spPr>
          <a:xfrm>
            <a:off x="7376160" y="1898170"/>
            <a:ext cx="160020" cy="213360"/>
          </a:xfrm>
          <a:prstGeom prst="rect">
            <a:avLst/>
          </a:prstGeom>
        </p:spPr>
      </p:pic>
      <p:pic>
        <p:nvPicPr>
          <p:cNvPr id="6" name="图片 20"/>
          <p:cNvPicPr>
            <a:picLocks noChangeAspect="1"/>
          </p:cNvPicPr>
          <p:nvPr/>
        </p:nvPicPr>
        <p:blipFill>
          <a:blip r:embed="rId7"/>
          <a:stretch>
            <a:fillRect/>
          </a:stretch>
        </p:blipFill>
        <p:spPr>
          <a:xfrm>
            <a:off x="6644640" y="1730530"/>
            <a:ext cx="289560" cy="381000"/>
          </a:xfrm>
          <a:prstGeom prst="rect">
            <a:avLst/>
          </a:prstGeom>
        </p:spPr>
      </p:pic>
      <p:pic>
        <p:nvPicPr>
          <p:cNvPr id="7" name="图片 21"/>
          <p:cNvPicPr>
            <a:picLocks noChangeAspect="1"/>
          </p:cNvPicPr>
          <p:nvPr/>
        </p:nvPicPr>
        <p:blipFill>
          <a:blip r:embed="rId7"/>
          <a:stretch>
            <a:fillRect/>
          </a:stretch>
        </p:blipFill>
        <p:spPr>
          <a:xfrm>
            <a:off x="8096250" y="1681635"/>
            <a:ext cx="289560" cy="381000"/>
          </a:xfrm>
          <a:prstGeom prst="rect">
            <a:avLst/>
          </a:prstGeom>
        </p:spPr>
      </p:pic>
      <p:sp>
        <p:nvSpPr>
          <p:cNvPr id="8" name="TextBox 7"/>
          <p:cNvSpPr txBox="1"/>
          <p:nvPr/>
        </p:nvSpPr>
        <p:spPr>
          <a:xfrm>
            <a:off x="288732" y="399123"/>
            <a:ext cx="3240360" cy="461665"/>
          </a:xfrm>
          <a:prstGeom prst="rect">
            <a:avLst/>
          </a:prstGeom>
          <a:noFill/>
        </p:spPr>
        <p:txBody>
          <a:bodyPr wrap="square" rtlCol="0">
            <a:spAutoFit/>
          </a:bodyPr>
          <a:lstStyle/>
          <a:p>
            <a:r>
              <a:rPr lang="zh-CN" altLang="en-US" sz="2400" dirty="0" smtClean="0"/>
              <a:t>典型作业</a:t>
            </a:r>
            <a:endParaRPr lang="en-US" sz="2400" dirty="0"/>
          </a:p>
        </p:txBody>
      </p:sp>
      <p:sp>
        <p:nvSpPr>
          <p:cNvPr id="10" name="TextBox 9"/>
          <p:cNvSpPr txBox="1"/>
          <p:nvPr/>
        </p:nvSpPr>
        <p:spPr>
          <a:xfrm>
            <a:off x="395779" y="3501643"/>
            <a:ext cx="4777846" cy="369332"/>
          </a:xfrm>
          <a:prstGeom prst="rect">
            <a:avLst/>
          </a:prstGeom>
          <a:noFill/>
        </p:spPr>
        <p:txBody>
          <a:bodyPr wrap="none" rtlCol="0">
            <a:spAutoFit/>
          </a:bodyPr>
          <a:lstStyle/>
          <a:p>
            <a:r>
              <a:rPr lang="zh-CN" altLang="en-US" dirty="0" smtClean="0"/>
              <a:t>证明过程参照</a:t>
            </a:r>
            <a:r>
              <a:rPr lang="en-US" altLang="zh-CN" dirty="0" smtClean="0"/>
              <a:t>PPT64</a:t>
            </a:r>
            <a:r>
              <a:rPr lang="zh-CN" altLang="en-US" dirty="0" smtClean="0"/>
              <a:t>页，</a:t>
            </a:r>
            <a:r>
              <a:rPr lang="en-US" altLang="zh-CN" dirty="0" smtClean="0"/>
              <a:t>x</a:t>
            </a:r>
            <a:r>
              <a:rPr lang="zh-CN" altLang="en-US" dirty="0" smtClean="0"/>
              <a:t>与</a:t>
            </a:r>
            <a:r>
              <a:rPr lang="en-US" altLang="zh-CN" dirty="0" err="1" smtClean="0"/>
              <a:t>Px</a:t>
            </a:r>
            <a:r>
              <a:rPr lang="zh-CN" altLang="en-US" dirty="0" smtClean="0"/>
              <a:t>对易关系的证明</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611505" y="404813"/>
            <a:ext cx="5080000" cy="521970"/>
          </a:xfrm>
          <a:prstGeom prst="rect">
            <a:avLst/>
          </a:prstGeom>
        </p:spPr>
        <p:txBody>
          <a:bodyPr>
            <a:spAutoFit/>
          </a:bodyPr>
          <a:lstStyle/>
          <a:p>
            <a:pPr marL="0" indent="0" algn="just" defTabSz="266700">
              <a:spcBef>
                <a:spcPct val="0"/>
              </a:spcBef>
              <a:spcAft>
                <a:spcPct val="0"/>
              </a:spcAft>
            </a:pPr>
            <a:r>
              <a:rPr lang="zh-CN" altLang="en-US" sz="2800" b="1">
                <a:latin typeface="宋体" panose="02010600030101010101" pitchFamily="2" charset="-122"/>
                <a:ea typeface="宋体" panose="02010600030101010101" pitchFamily="2" charset="-122"/>
              </a:rPr>
              <a:t>知识单元四 </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表象</a:t>
            </a:r>
            <a:endParaRPr lang="zh-CN" altLang="en-US" sz="2800" b="1">
              <a:latin typeface="宋体" panose="02010600030101010101" pitchFamily="2" charset="-122"/>
              <a:ea typeface="宋体" panose="02010600030101010101" pitchFamily="2" charset="-122"/>
            </a:endParaRPr>
          </a:p>
        </p:txBody>
      </p:sp>
      <p:sp>
        <p:nvSpPr>
          <p:cNvPr id="3" name="文本框 2"/>
          <p:cNvSpPr txBox="1"/>
          <p:nvPr/>
        </p:nvSpPr>
        <p:spPr>
          <a:xfrm>
            <a:off x="755650" y="1124585"/>
            <a:ext cx="7687310" cy="1919605"/>
          </a:xfrm>
          <a:prstGeom prst="rect">
            <a:avLst/>
          </a:prstGeom>
        </p:spPr>
        <p:txBody>
          <a:bodyPr>
            <a:noAutofit/>
          </a:bodyPr>
          <a:lstStyle/>
          <a:p>
            <a:pPr marL="0" indent="0" algn="just" defTabSz="266700">
              <a:lnSpc>
                <a:spcPct val="150000"/>
              </a:lnSpc>
              <a:spcBef>
                <a:spcPct val="0"/>
              </a:spcBef>
              <a:spcAft>
                <a:spcPct val="0"/>
              </a:spcAft>
            </a:pPr>
            <a:r>
              <a:rPr lang="zh-CN" altLang="en-US" sz="2400" dirty="0">
                <a:latin typeface="宋体" panose="02010600030101010101" pitchFamily="2" charset="-122"/>
                <a:ea typeface="宋体" panose="02010600030101010101" pitchFamily="2" charset="-122"/>
              </a:rPr>
              <a:t>了解态的矩阵表示、力学量的矩阵表示、量子力学中力学量平均值公式、本征值方程和薛定谔方程的矩阵表示</a:t>
            </a:r>
            <a:r>
              <a:rPr lang="zh-CN" altLang="en-US" sz="2400" dirty="0" smtClean="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
        <p:nvSpPr>
          <p:cNvPr id="4" name="文本框 3"/>
          <p:cNvSpPr txBox="1"/>
          <p:nvPr/>
        </p:nvSpPr>
        <p:spPr>
          <a:xfrm>
            <a:off x="827405" y="5877560"/>
            <a:ext cx="7150100" cy="521970"/>
          </a:xfrm>
          <a:prstGeom prst="rect">
            <a:avLst/>
          </a:prstGeom>
          <a:noFill/>
        </p:spPr>
        <p:txBody>
          <a:bodyPr wrap="square" rtlCol="0" anchor="t">
            <a:spAutoFit/>
          </a:bodyPr>
          <a:lstStyle/>
          <a:p>
            <a:pPr defTabSz="457200"/>
            <a:r>
              <a:rPr lang="zh-CN" altLang="en-US" sz="2800" b="1" dirty="0" smtClean="0">
                <a:sym typeface="+mn-ea"/>
              </a:rPr>
              <a:t>题型：</a:t>
            </a:r>
            <a:r>
              <a:rPr lang="zh-CN" altLang="en-US" sz="2800" b="1" dirty="0" smtClean="0">
                <a:highlight>
                  <a:srgbClr val="FFFF00"/>
                </a:highlight>
                <a:sym typeface="+mn-ea"/>
              </a:rPr>
              <a:t>联合第五单元</a:t>
            </a:r>
            <a:endParaRPr lang="zh-CN" altLang="en-US" sz="2800" b="1" dirty="0" smtClean="0">
              <a:highlight>
                <a:srgbClr val="FFFF00"/>
              </a:highlight>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89280" y="548640"/>
            <a:ext cx="7883525" cy="4397375"/>
          </a:xfrm>
          <a:prstGeom prst="rect">
            <a:avLst/>
          </a:prstGeom>
          <a:noFill/>
        </p:spPr>
        <p:txBody>
          <a:bodyPr wrap="square" rtlCol="0" anchor="t">
            <a:noAutofit/>
          </a:bodyPr>
          <a:lstStyle/>
          <a:p>
            <a:pPr marL="457200" indent="-457200" algn="just">
              <a:lnSpc>
                <a:spcPct val="120000"/>
              </a:lnSpc>
              <a:buFont typeface="+mj-lt"/>
              <a:buAutoNum type="arabicPeriod"/>
            </a:pPr>
            <a:r>
              <a:rPr lang="zh-CN" altLang="zh-CN" sz="2200" dirty="0" smtClean="0">
                <a:solidFill>
                  <a:schemeClr val="tx1"/>
                </a:solidFill>
                <a:latin typeface="+mn-ea"/>
                <a:sym typeface="+mn-ea"/>
              </a:rPr>
              <a:t>什</a:t>
            </a:r>
            <a:r>
              <a:rPr lang="zh-CN" altLang="zh-CN" sz="2200" dirty="0">
                <a:solidFill>
                  <a:schemeClr val="tx1"/>
                </a:solidFill>
                <a:latin typeface="+mn-ea"/>
                <a:sym typeface="+mn-ea"/>
              </a:rPr>
              <a:t>么是表象，和坐标系有什么异同。</a:t>
            </a:r>
            <a:endParaRPr lang="zh-CN" altLang="zh-CN" sz="2200" dirty="0">
              <a:solidFill>
                <a:schemeClr val="tx1"/>
              </a:solidFill>
              <a:latin typeface="+mn-ea"/>
            </a:endParaRPr>
          </a:p>
          <a:p>
            <a:pPr marL="457200" indent="-457200" algn="just">
              <a:lnSpc>
                <a:spcPct val="120000"/>
              </a:lnSpc>
              <a:buFont typeface="+mj-lt"/>
              <a:buAutoNum type="arabicPeriod"/>
            </a:pPr>
            <a:r>
              <a:rPr lang="zh-CN" altLang="zh-CN" sz="2200" dirty="0" smtClean="0">
                <a:solidFill>
                  <a:schemeClr val="tx1"/>
                </a:solidFill>
                <a:latin typeface="+mn-ea"/>
                <a:sym typeface="+mn-ea"/>
              </a:rPr>
              <a:t>什</a:t>
            </a:r>
            <a:r>
              <a:rPr lang="zh-CN" altLang="zh-CN" sz="2200" dirty="0">
                <a:solidFill>
                  <a:schemeClr val="tx1"/>
                </a:solidFill>
                <a:latin typeface="+mn-ea"/>
                <a:sym typeface="+mn-ea"/>
              </a:rPr>
              <a:t>么是</a:t>
            </a:r>
            <a:r>
              <a:rPr lang="en-US" altLang="zh-CN" sz="2200" dirty="0">
                <a:solidFill>
                  <a:schemeClr val="tx1"/>
                </a:solidFill>
                <a:latin typeface="+mn-ea"/>
                <a:sym typeface="+mn-ea"/>
              </a:rPr>
              <a:t>Q</a:t>
            </a:r>
            <a:r>
              <a:rPr lang="zh-CN" altLang="zh-CN" sz="2200" dirty="0">
                <a:solidFill>
                  <a:schemeClr val="tx1"/>
                </a:solidFill>
                <a:latin typeface="+mn-ea"/>
                <a:sym typeface="+mn-ea"/>
              </a:rPr>
              <a:t>表象的基矢</a:t>
            </a:r>
            <a:r>
              <a:rPr lang="zh-CN" altLang="zh-CN" sz="2200" dirty="0" smtClean="0">
                <a:solidFill>
                  <a:schemeClr val="tx1"/>
                </a:solidFill>
                <a:latin typeface="+mn-ea"/>
                <a:sym typeface="+mn-ea"/>
              </a:rPr>
              <a:t>。</a:t>
            </a:r>
            <a:endParaRPr lang="en-US" altLang="zh-CN" sz="2200" dirty="0">
              <a:latin typeface="+mn-ea"/>
              <a:sym typeface="+mn-ea"/>
            </a:endParaRPr>
          </a:p>
          <a:p>
            <a:pPr marL="457200" indent="-457200" algn="just">
              <a:lnSpc>
                <a:spcPct val="120000"/>
              </a:lnSpc>
              <a:buFont typeface="+mj-lt"/>
              <a:buAutoNum type="arabicPeriod"/>
            </a:pPr>
            <a:r>
              <a:rPr lang="zh-CN" altLang="zh-CN" sz="2200" dirty="0" smtClean="0">
                <a:solidFill>
                  <a:schemeClr val="tx1"/>
                </a:solidFill>
                <a:latin typeface="+mn-ea"/>
                <a:sym typeface="+mn-ea"/>
              </a:rPr>
              <a:t>波</a:t>
            </a:r>
            <a:r>
              <a:rPr lang="zh-CN" altLang="zh-CN" sz="2200" dirty="0">
                <a:solidFill>
                  <a:schemeClr val="tx1"/>
                </a:solidFill>
                <a:latin typeface="+mn-ea"/>
                <a:sym typeface="+mn-ea"/>
              </a:rPr>
              <a:t>函数、算符等在</a:t>
            </a:r>
            <a:r>
              <a:rPr lang="en-US" altLang="zh-CN" sz="2200" dirty="0">
                <a:solidFill>
                  <a:schemeClr val="tx1"/>
                </a:solidFill>
                <a:latin typeface="+mn-ea"/>
                <a:sym typeface="+mn-ea"/>
              </a:rPr>
              <a:t>Q</a:t>
            </a:r>
            <a:r>
              <a:rPr lang="zh-CN" altLang="zh-CN" sz="2200" dirty="0">
                <a:solidFill>
                  <a:schemeClr val="tx1"/>
                </a:solidFill>
                <a:latin typeface="+mn-ea"/>
                <a:sym typeface="+mn-ea"/>
              </a:rPr>
              <a:t>表象中的表示形式是什么，本征函数在自身表象中的矩阵表示是什么</a:t>
            </a:r>
            <a:r>
              <a:rPr lang="zh-CN" altLang="zh-CN" sz="2200" dirty="0" smtClean="0">
                <a:solidFill>
                  <a:schemeClr val="tx1"/>
                </a:solidFill>
                <a:latin typeface="+mn-ea"/>
                <a:sym typeface="+mn-ea"/>
              </a:rPr>
              <a:t>？</a:t>
            </a:r>
            <a:endParaRPr lang="en-US" altLang="zh-CN" sz="2200" dirty="0" smtClean="0">
              <a:solidFill>
                <a:schemeClr val="tx1"/>
              </a:solidFill>
              <a:latin typeface="+mn-ea"/>
              <a:sym typeface="+mn-ea"/>
            </a:endParaRPr>
          </a:p>
          <a:p>
            <a:pPr marL="457200" indent="-457200" algn="just">
              <a:lnSpc>
                <a:spcPct val="120000"/>
              </a:lnSpc>
              <a:buFont typeface="+mj-lt"/>
              <a:buAutoNum type="arabicPeriod"/>
            </a:pPr>
            <a:r>
              <a:rPr lang="zh-CN" altLang="zh-CN" sz="2200" dirty="0" smtClean="0">
                <a:solidFill>
                  <a:schemeClr val="tx1"/>
                </a:solidFill>
                <a:latin typeface="+mn-ea"/>
                <a:sym typeface="+mn-ea"/>
              </a:rPr>
              <a:t>力</a:t>
            </a:r>
            <a:r>
              <a:rPr lang="zh-CN" altLang="zh-CN" sz="2200" dirty="0">
                <a:solidFill>
                  <a:schemeClr val="tx1"/>
                </a:solidFill>
                <a:latin typeface="+mn-ea"/>
                <a:sym typeface="+mn-ea"/>
              </a:rPr>
              <a:t>学量算符在自身表象的作用矩阵是什么矩阵，矩阵元有什么特点？</a:t>
            </a:r>
            <a:endParaRPr lang="zh-CN" altLang="zh-CN" sz="2200" dirty="0">
              <a:solidFill>
                <a:schemeClr val="tx1"/>
              </a:solidFill>
              <a:latin typeface="+mn-ea"/>
              <a:ea typeface="等线" panose="02010600030101010101" charset="-122"/>
            </a:endParaRPr>
          </a:p>
          <a:p>
            <a:pPr algn="just">
              <a:lnSpc>
                <a:spcPct val="120000"/>
              </a:lnSpc>
            </a:pPr>
            <a:endParaRPr lang="zh-CN" altLang="en-US" sz="2200" dirty="0">
              <a:solidFill>
                <a:schemeClr val="tx1"/>
              </a:solidFill>
              <a:latin typeface="+mn-ea"/>
              <a:sym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467360" y="188278"/>
            <a:ext cx="5080000" cy="521970"/>
          </a:xfrm>
          <a:prstGeom prst="rect">
            <a:avLst/>
          </a:prstGeom>
        </p:spPr>
        <p:txBody>
          <a:bodyPr>
            <a:spAutoFit/>
          </a:bodyPr>
          <a:lstStyle/>
          <a:p>
            <a:pPr marL="0" indent="0" algn="just" defTabSz="266700">
              <a:spcBef>
                <a:spcPct val="0"/>
              </a:spcBef>
              <a:spcAft>
                <a:spcPct val="0"/>
              </a:spcAft>
            </a:pPr>
            <a:r>
              <a:rPr lang="zh-CN" altLang="en-US" sz="2800" b="1">
                <a:latin typeface="宋体" panose="02010600030101010101" pitchFamily="2" charset="-122"/>
                <a:ea typeface="宋体" panose="02010600030101010101" pitchFamily="2" charset="-122"/>
              </a:rPr>
              <a:t>知识单元五 </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定态微扰论</a:t>
            </a:r>
            <a:endParaRPr lang="zh-CN" altLang="en-US" sz="2800" b="1">
              <a:latin typeface="宋体" panose="02010600030101010101" pitchFamily="2" charset="-122"/>
              <a:ea typeface="宋体" panose="02010600030101010101" pitchFamily="2" charset="-122"/>
            </a:endParaRPr>
          </a:p>
        </p:txBody>
      </p:sp>
      <p:sp>
        <p:nvSpPr>
          <p:cNvPr id="3" name="文本框 2"/>
          <p:cNvSpPr txBox="1"/>
          <p:nvPr/>
        </p:nvSpPr>
        <p:spPr>
          <a:xfrm>
            <a:off x="827405" y="981075"/>
            <a:ext cx="7241540" cy="1200329"/>
          </a:xfrm>
          <a:prstGeom prst="rect">
            <a:avLst/>
          </a:prstGeom>
        </p:spPr>
        <p:txBody>
          <a:bodyPr wrap="square">
            <a:spAutoFit/>
          </a:bodyPr>
          <a:lstStyle/>
          <a:p>
            <a:pPr marL="0" indent="0" algn="just" defTabSz="266700">
              <a:lnSpc>
                <a:spcPct val="150000"/>
              </a:lnSpc>
              <a:spcBef>
                <a:spcPct val="0"/>
              </a:spcBef>
              <a:spcAft>
                <a:spcPct val="0"/>
              </a:spcAft>
            </a:pPr>
            <a:r>
              <a:rPr lang="zh-CN" altLang="en-US" sz="2400" dirty="0">
                <a:latin typeface="宋体" panose="02010600030101010101" pitchFamily="2" charset="-122"/>
                <a:ea typeface="宋体" panose="02010600030101010101" pitchFamily="2" charset="-122"/>
              </a:rPr>
              <a:t>掌握非简并定态微扰论，掌握波函数的一级修正公式和能量的二级修正公</a:t>
            </a:r>
            <a:r>
              <a:rPr lang="zh-CN" altLang="en-US" sz="2400" dirty="0" smtClean="0">
                <a:latin typeface="宋体" panose="02010600030101010101" pitchFamily="2" charset="-122"/>
                <a:ea typeface="宋体" panose="02010600030101010101" pitchFamily="2" charset="-122"/>
              </a:rPr>
              <a:t>式</a:t>
            </a:r>
            <a:endParaRPr lang="zh-CN" altLang="en-US" sz="2400" dirty="0">
              <a:latin typeface="宋体" panose="02010600030101010101" pitchFamily="2" charset="-122"/>
              <a:ea typeface="宋体" panose="02010600030101010101" pitchFamily="2" charset="-122"/>
            </a:endParaRPr>
          </a:p>
        </p:txBody>
      </p:sp>
      <p:sp>
        <p:nvSpPr>
          <p:cNvPr id="4" name="文本框 3"/>
          <p:cNvSpPr txBox="1"/>
          <p:nvPr/>
        </p:nvSpPr>
        <p:spPr>
          <a:xfrm>
            <a:off x="755650" y="6021705"/>
            <a:ext cx="7150100" cy="521970"/>
          </a:xfrm>
          <a:prstGeom prst="rect">
            <a:avLst/>
          </a:prstGeom>
          <a:noFill/>
        </p:spPr>
        <p:txBody>
          <a:bodyPr wrap="square" rtlCol="0" anchor="t">
            <a:spAutoFit/>
          </a:bodyPr>
          <a:lstStyle/>
          <a:p>
            <a:pPr defTabSz="457200"/>
            <a:r>
              <a:rPr lang="zh-CN" altLang="en-US" sz="2800" b="1" dirty="0" smtClean="0">
                <a:sym typeface="+mn-ea"/>
              </a:rPr>
              <a:t>题型：计算</a:t>
            </a:r>
            <a:endParaRPr lang="zh-CN" altLang="en-US" sz="2800" b="1" dirty="0" smtClean="0">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57"/>
          <p:cNvGraphicFramePr>
            <a:graphicFrameLocks noChangeAspect="1"/>
          </p:cNvGraphicFramePr>
          <p:nvPr/>
        </p:nvGraphicFramePr>
        <p:xfrm>
          <a:off x="3060125" y="1268651"/>
          <a:ext cx="4384675" cy="923925"/>
        </p:xfrm>
        <a:graphic>
          <a:graphicData uri="http://schemas.openxmlformats.org/presentationml/2006/ole">
            <mc:AlternateContent xmlns:mc="http://schemas.openxmlformats.org/markup-compatibility/2006">
              <mc:Choice xmlns:v="urn:schemas-microsoft-com:vml" Requires="v">
                <p:oleObj spid="_x0000_s178250" name="Equation" r:id="rId1" imgW="56083200" imgH="10668000" progId="Equation.DSMT4">
                  <p:embed/>
                </p:oleObj>
              </mc:Choice>
              <mc:Fallback>
                <p:oleObj name="Equation" r:id="rId1" imgW="56083200" imgH="10668000" progId="Equation.DSMT4">
                  <p:embed/>
                  <p:pic>
                    <p:nvPicPr>
                      <p:cNvPr id="0" name="Object 57"/>
                      <p:cNvPicPr>
                        <a:picLocks noChangeAspect="1" noChangeArrowheads="1"/>
                      </p:cNvPicPr>
                      <p:nvPr/>
                    </p:nvPicPr>
                    <p:blipFill>
                      <a:blip r:embed="rId2"/>
                      <a:srcRect/>
                      <a:stretch>
                        <a:fillRect/>
                      </a:stretch>
                    </p:blipFill>
                    <p:spPr bwMode="auto">
                      <a:xfrm>
                        <a:off x="3060125" y="1268651"/>
                        <a:ext cx="4384675" cy="923925"/>
                      </a:xfrm>
                      <a:prstGeom prst="rect">
                        <a:avLst/>
                      </a:prstGeom>
                      <a:solidFill>
                        <a:srgbClr val="FFFF99"/>
                      </a:solidFill>
                      <a:ln w="9525">
                        <a:noFill/>
                        <a:miter lim="800000"/>
                        <a:headEnd/>
                        <a:tailEnd/>
                      </a:ln>
                    </p:spPr>
                  </p:pic>
                </p:oleObj>
              </mc:Fallback>
            </mc:AlternateContent>
          </a:graphicData>
        </a:graphic>
      </p:graphicFrame>
      <p:pic>
        <p:nvPicPr>
          <p:cNvPr id="4" name="图片 3"/>
          <p:cNvPicPr>
            <a:picLocks noChangeAspect="1"/>
          </p:cNvPicPr>
          <p:nvPr/>
        </p:nvPicPr>
        <p:blipFill>
          <a:blip r:embed="rId3"/>
          <a:stretch>
            <a:fillRect/>
          </a:stretch>
        </p:blipFill>
        <p:spPr>
          <a:xfrm>
            <a:off x="1115695" y="2348865"/>
            <a:ext cx="6606540" cy="4392930"/>
          </a:xfrm>
          <a:prstGeom prst="rect">
            <a:avLst/>
          </a:prstGeom>
        </p:spPr>
      </p:pic>
      <p:grpSp>
        <p:nvGrpSpPr>
          <p:cNvPr id="3" name="组合 2"/>
          <p:cNvGrpSpPr/>
          <p:nvPr/>
        </p:nvGrpSpPr>
        <p:grpSpPr>
          <a:xfrm>
            <a:off x="3347720" y="49530"/>
            <a:ext cx="3925570" cy="956310"/>
            <a:chOff x="5726" y="184"/>
            <a:chExt cx="6182" cy="1506"/>
          </a:xfrm>
        </p:grpSpPr>
        <p:graphicFrame>
          <p:nvGraphicFramePr>
            <p:cNvPr id="11" name="Object 64"/>
            <p:cNvGraphicFramePr>
              <a:graphicFrameLocks noChangeAspect="1"/>
            </p:cNvGraphicFramePr>
            <p:nvPr/>
          </p:nvGraphicFramePr>
          <p:xfrm>
            <a:off x="6520" y="184"/>
            <a:ext cx="5388" cy="1507"/>
          </p:xfrm>
          <a:graphic>
            <a:graphicData uri="http://schemas.openxmlformats.org/presentationml/2006/ole">
              <mc:AlternateContent xmlns:mc="http://schemas.openxmlformats.org/markup-compatibility/2006">
                <mc:Choice xmlns:v="urn:schemas-microsoft-com:vml" Requires="v">
                  <p:oleObj spid="_x0000_s178251" name="Equation" r:id="rId4" imgW="43586400" imgH="10972800" progId="Equation.DSMT4">
                    <p:embed/>
                  </p:oleObj>
                </mc:Choice>
                <mc:Fallback>
                  <p:oleObj name="Equation" r:id="rId4" imgW="43586400" imgH="10972800" progId="Equation.DSMT4">
                    <p:embed/>
                    <p:pic>
                      <p:nvPicPr>
                        <p:cNvPr id="0" name="Object 64"/>
                        <p:cNvPicPr>
                          <a:picLocks noChangeAspect="1" noChangeArrowheads="1"/>
                        </p:cNvPicPr>
                        <p:nvPr/>
                      </p:nvPicPr>
                      <p:blipFill>
                        <a:blip r:embed="rId5"/>
                        <a:srcRect/>
                        <a:stretch>
                          <a:fillRect/>
                        </a:stretch>
                      </p:blipFill>
                      <p:spPr bwMode="auto">
                        <a:xfrm>
                          <a:off x="6520" y="184"/>
                          <a:ext cx="5388" cy="1507"/>
                        </a:xfrm>
                        <a:prstGeom prst="rect">
                          <a:avLst/>
                        </a:prstGeom>
                        <a:solidFill>
                          <a:srgbClr val="FFFF99"/>
                        </a:solidFill>
                        <a:ln>
                          <a:noFill/>
                        </a:ln>
                      </p:spPr>
                    </p:pic>
                  </p:oleObj>
                </mc:Fallback>
              </mc:AlternateContent>
            </a:graphicData>
          </a:graphic>
        </p:graphicFrame>
        <p:pic>
          <p:nvPicPr>
            <p:cNvPr id="2" name="图片 1"/>
            <p:cNvPicPr>
              <a:picLocks noChangeAspect="1"/>
            </p:cNvPicPr>
            <p:nvPr/>
          </p:nvPicPr>
          <p:blipFill>
            <a:blip r:embed="rId6"/>
            <a:stretch>
              <a:fillRect/>
            </a:stretch>
          </p:blipFill>
          <p:spPr>
            <a:xfrm>
              <a:off x="5726" y="297"/>
              <a:ext cx="741" cy="994"/>
            </a:xfrm>
            <a:prstGeom prst="rect">
              <a:avLst/>
            </a:prstGeom>
          </p:spPr>
        </p:pic>
      </p:grpSp>
      <p:sp>
        <p:nvSpPr>
          <p:cNvPr id="6" name="文本框 5"/>
          <p:cNvSpPr txBox="1"/>
          <p:nvPr/>
        </p:nvSpPr>
        <p:spPr>
          <a:xfrm>
            <a:off x="107315" y="45085"/>
            <a:ext cx="5047615" cy="521970"/>
          </a:xfrm>
          <a:prstGeom prst="rect">
            <a:avLst/>
          </a:prstGeom>
          <a:noFill/>
        </p:spPr>
        <p:txBody>
          <a:bodyPr wrap="square" rtlCol="0">
            <a:spAutoFit/>
          </a:bodyPr>
          <a:lstStyle/>
          <a:p>
            <a:r>
              <a:rPr lang="zh-CN" altLang="en-US" sz="2800" b="1"/>
              <a:t>典型作业：</a:t>
            </a:r>
            <a:endParaRPr lang="zh-CN" altLang="en-US" sz="2800" b="1"/>
          </a:p>
        </p:txBody>
      </p:sp>
      <p:sp>
        <p:nvSpPr>
          <p:cNvPr id="5" name="Rectangle 4"/>
          <p:cNvSpPr/>
          <p:nvPr/>
        </p:nvSpPr>
        <p:spPr>
          <a:xfrm>
            <a:off x="323528" y="3933056"/>
            <a:ext cx="7056784"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0-#ppt_w/2"/>
                                          </p:val>
                                        </p:tav>
                                        <p:tav tm="100000">
                                          <p:val>
                                            <p:strVal val="#ppt_x"/>
                                          </p:val>
                                        </p:tav>
                                      </p:tavLst>
                                    </p:anim>
                                    <p:anim calcmode="lin" valueType="num">
                                      <p:cBhvr additive="base">
                                        <p:cTn id="13"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8"/>
          <p:cNvSpPr txBox="1">
            <a:spLocks noChangeArrowheads="1"/>
          </p:cNvSpPr>
          <p:nvPr/>
        </p:nvSpPr>
        <p:spPr bwMode="auto">
          <a:xfrm>
            <a:off x="35560" y="94139"/>
            <a:ext cx="86115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a:spcBef>
                <a:spcPct val="0"/>
              </a:spcBef>
              <a:buClrTx/>
              <a:buSzTx/>
              <a:buNone/>
            </a:pPr>
            <a:r>
              <a:rPr kumimoji="1" lang="zh-CN" altLang="en-US" sz="2400" b="1" dirty="0">
                <a:latin typeface="+mn-lt"/>
                <a:ea typeface="+mn-ea"/>
              </a:rPr>
              <a:t>（</a:t>
            </a:r>
            <a:r>
              <a:rPr kumimoji="1" lang="en-US" altLang="zh-CN" sz="2400" b="1" dirty="0">
                <a:latin typeface="+mn-lt"/>
                <a:ea typeface="+mn-ea"/>
              </a:rPr>
              <a:t>2</a:t>
            </a:r>
            <a:r>
              <a:rPr kumimoji="1" lang="zh-CN" altLang="en-US" sz="2400" b="1" dirty="0">
                <a:latin typeface="+mn-lt"/>
                <a:ea typeface="+mn-ea"/>
              </a:rPr>
              <a:t>）求解 </a:t>
            </a:r>
            <a:r>
              <a:rPr kumimoji="1" lang="en-US" altLang="zh-CN" sz="2400" b="1" dirty="0">
                <a:latin typeface="+mn-lt"/>
                <a:ea typeface="+mn-ea"/>
              </a:rPr>
              <a:t>0 </a:t>
            </a:r>
            <a:r>
              <a:rPr kumimoji="1" lang="zh-CN" altLang="en-US" sz="2400" b="1" dirty="0">
                <a:latin typeface="+mn-lt"/>
                <a:ea typeface="+mn-ea"/>
              </a:rPr>
              <a:t>级（非微扰）</a:t>
            </a:r>
            <a:r>
              <a:rPr kumimoji="1" lang="en-US" altLang="zh-CN" sz="2400" b="1" dirty="0">
                <a:latin typeface="+mn-lt"/>
                <a:ea typeface="+mn-ea"/>
              </a:rPr>
              <a:t> Hamilton </a:t>
            </a:r>
            <a:r>
              <a:rPr kumimoji="1" lang="zh-CN" altLang="en-US" sz="2400" b="1" dirty="0">
                <a:latin typeface="+mn-lt"/>
                <a:ea typeface="+mn-ea"/>
              </a:rPr>
              <a:t>量本征值和态矢</a:t>
            </a:r>
            <a:endParaRPr kumimoji="1" lang="zh-CN" altLang="en-US" sz="2400" b="1" dirty="0">
              <a:latin typeface="+mn-lt"/>
              <a:ea typeface="+mn-ea"/>
            </a:endParaRPr>
          </a:p>
        </p:txBody>
      </p:sp>
      <p:sp>
        <p:nvSpPr>
          <p:cNvPr id="9" name="Text Box 8"/>
          <p:cNvSpPr txBox="1">
            <a:spLocks noChangeArrowheads="1"/>
          </p:cNvSpPr>
          <p:nvPr/>
        </p:nvSpPr>
        <p:spPr bwMode="auto">
          <a:xfrm>
            <a:off x="323987" y="555467"/>
            <a:ext cx="70721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a:spcBef>
                <a:spcPct val="0"/>
              </a:spcBef>
              <a:buClrTx/>
              <a:buSzTx/>
              <a:buNone/>
            </a:pPr>
            <a:r>
              <a:rPr kumimoji="1" lang="zh-CN" altLang="en-US" sz="2400" b="1" dirty="0">
                <a:latin typeface="+mn-lt"/>
                <a:ea typeface="+mn-ea"/>
              </a:rPr>
              <a:t>本征方程为：           </a:t>
            </a:r>
            <a:r>
              <a:rPr kumimoji="1" lang="en-US" altLang="zh-CN" sz="2400" b="1" i="1" dirty="0">
                <a:latin typeface="+mn-lt"/>
                <a:ea typeface="+mn-ea"/>
              </a:rPr>
              <a:t>H</a:t>
            </a:r>
            <a:r>
              <a:rPr kumimoji="1" lang="en-US" altLang="zh-CN" sz="2400" b="1" baseline="30000" dirty="0">
                <a:latin typeface="+mn-lt"/>
                <a:ea typeface="+mn-ea"/>
              </a:rPr>
              <a:t>(0)</a:t>
            </a:r>
            <a:r>
              <a:rPr kumimoji="1" lang="en-US" altLang="zh-CN" sz="2400" b="1" dirty="0">
                <a:latin typeface="+mn-lt"/>
                <a:ea typeface="+mn-ea"/>
              </a:rPr>
              <a:t> </a:t>
            </a:r>
            <a:r>
              <a:rPr kumimoji="1" lang="el-GR" altLang="zh-CN" sz="2400" b="1" i="1" dirty="0">
                <a:latin typeface="+mn-lt"/>
                <a:ea typeface="+mn-ea"/>
              </a:rPr>
              <a:t>ψ</a:t>
            </a:r>
            <a:r>
              <a:rPr kumimoji="1" lang="en-US" altLang="zh-CN" sz="2400" b="1" baseline="30000" dirty="0">
                <a:latin typeface="+mn-lt"/>
                <a:ea typeface="+mn-ea"/>
              </a:rPr>
              <a:t>(0)</a:t>
            </a:r>
            <a:r>
              <a:rPr kumimoji="1" lang="en-US" altLang="zh-CN" sz="2400" b="1" dirty="0">
                <a:latin typeface="+mn-lt"/>
                <a:ea typeface="+mn-ea"/>
              </a:rPr>
              <a:t>=</a:t>
            </a:r>
            <a:r>
              <a:rPr kumimoji="1" lang="en-US" altLang="zh-CN" sz="2400" b="1" i="1" dirty="0"/>
              <a:t> </a:t>
            </a:r>
            <a:r>
              <a:rPr kumimoji="1" lang="en-US" altLang="zh-CN" sz="2400" b="1" i="1" dirty="0">
                <a:latin typeface="+mn-lt"/>
              </a:rPr>
              <a:t>E</a:t>
            </a:r>
            <a:r>
              <a:rPr kumimoji="1" lang="en-US" altLang="zh-CN" sz="2400" b="1" baseline="30000" dirty="0">
                <a:latin typeface="+mn-lt"/>
              </a:rPr>
              <a:t>(0)</a:t>
            </a:r>
            <a:r>
              <a:rPr kumimoji="1" lang="en-US" altLang="zh-CN" sz="2400" b="1" dirty="0">
                <a:latin typeface="+mn-lt"/>
              </a:rPr>
              <a:t> </a:t>
            </a:r>
            <a:r>
              <a:rPr kumimoji="1" lang="el-GR" altLang="zh-CN" sz="2400" b="1" i="1" dirty="0">
                <a:latin typeface="+mn-lt"/>
              </a:rPr>
              <a:t>ψ</a:t>
            </a:r>
            <a:r>
              <a:rPr kumimoji="1" lang="en-US" altLang="zh-CN" sz="2400" b="1" baseline="30000" dirty="0">
                <a:latin typeface="+mn-lt"/>
              </a:rPr>
              <a:t>(0)</a:t>
            </a:r>
            <a:endParaRPr kumimoji="1" lang="zh-CN" altLang="en-US" sz="2400" b="1" dirty="0">
              <a:latin typeface="+mn-lt"/>
              <a:ea typeface="+mn-ea"/>
            </a:endParaRPr>
          </a:p>
        </p:txBody>
      </p:sp>
      <p:graphicFrame>
        <p:nvGraphicFramePr>
          <p:cNvPr id="10" name="Object 9"/>
          <p:cNvGraphicFramePr>
            <a:graphicFrameLocks noChangeAspect="1"/>
          </p:cNvGraphicFramePr>
          <p:nvPr/>
        </p:nvGraphicFramePr>
        <p:xfrm>
          <a:off x="684053" y="1042498"/>
          <a:ext cx="4124698" cy="1482725"/>
        </p:xfrm>
        <a:graphic>
          <a:graphicData uri="http://schemas.openxmlformats.org/presentationml/2006/ole">
            <mc:AlternateContent xmlns:mc="http://schemas.openxmlformats.org/markup-compatibility/2006">
              <mc:Choice xmlns:v="urn:schemas-microsoft-com:vml" Requires="v">
                <p:oleObj spid="_x0000_s191710" name="Equation" r:id="rId1" imgW="42062400" imgH="17068800" progId="Equation.DSMT4">
                  <p:embed/>
                </p:oleObj>
              </mc:Choice>
              <mc:Fallback>
                <p:oleObj name="Equation" r:id="rId1" imgW="42062400" imgH="17068800" progId="Equation.DSMT4">
                  <p:embed/>
                  <p:pic>
                    <p:nvPicPr>
                      <p:cNvPr id="0" name="Object 9"/>
                      <p:cNvPicPr>
                        <a:picLocks noChangeAspect="1" noChangeArrowheads="1"/>
                      </p:cNvPicPr>
                      <p:nvPr/>
                    </p:nvPicPr>
                    <p:blipFill>
                      <a:blip r:embed="rId2"/>
                      <a:srcRect/>
                      <a:stretch>
                        <a:fillRect/>
                      </a:stretch>
                    </p:blipFill>
                    <p:spPr bwMode="auto">
                      <a:xfrm>
                        <a:off x="684053" y="1042498"/>
                        <a:ext cx="4124698" cy="1482725"/>
                      </a:xfrm>
                      <a:prstGeom prst="rect">
                        <a:avLst/>
                      </a:prstGeom>
                      <a:noFill/>
                      <a:ln>
                        <a:noFill/>
                      </a:ln>
                    </p:spPr>
                  </p:pic>
                </p:oleObj>
              </mc:Fallback>
            </mc:AlternateContent>
          </a:graphicData>
        </a:graphic>
      </p:graphicFrame>
      <p:sp>
        <p:nvSpPr>
          <p:cNvPr id="20" name="Text Box 8"/>
          <p:cNvSpPr txBox="1">
            <a:spLocks noChangeArrowheads="1"/>
          </p:cNvSpPr>
          <p:nvPr/>
        </p:nvSpPr>
        <p:spPr bwMode="auto">
          <a:xfrm>
            <a:off x="107474" y="2708898"/>
            <a:ext cx="222411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a:spcBef>
                <a:spcPct val="0"/>
              </a:spcBef>
              <a:buClrTx/>
              <a:buSzTx/>
              <a:buNone/>
            </a:pPr>
            <a:r>
              <a:rPr kumimoji="1" lang="zh-CN" altLang="en-US" sz="2400" b="1" dirty="0">
                <a:latin typeface="+mn-lt"/>
                <a:ea typeface="+mn-ea"/>
              </a:rPr>
              <a:t>对应的态矢为：</a:t>
            </a:r>
            <a:endParaRPr kumimoji="1" lang="zh-CN" altLang="en-US" sz="1800" b="1" dirty="0">
              <a:solidFill>
                <a:srgbClr val="0000FF"/>
              </a:solidFill>
              <a:latin typeface="+mn-lt"/>
              <a:ea typeface="+mn-ea"/>
            </a:endParaRPr>
          </a:p>
        </p:txBody>
      </p:sp>
      <p:graphicFrame>
        <p:nvGraphicFramePr>
          <p:cNvPr id="21" name="Object 9"/>
          <p:cNvGraphicFramePr>
            <a:graphicFrameLocks noChangeAspect="1"/>
          </p:cNvGraphicFramePr>
          <p:nvPr/>
        </p:nvGraphicFramePr>
        <p:xfrm>
          <a:off x="2340133" y="2564764"/>
          <a:ext cx="1731963" cy="1482725"/>
        </p:xfrm>
        <a:graphic>
          <a:graphicData uri="http://schemas.openxmlformats.org/presentationml/2006/ole">
            <mc:AlternateContent xmlns:mc="http://schemas.openxmlformats.org/markup-compatibility/2006">
              <mc:Choice xmlns:v="urn:schemas-microsoft-com:vml" Requires="v">
                <p:oleObj spid="_x0000_s191711" name="Equation" r:id="rId3" imgW="17678400" imgH="17068800" progId="Equation.DSMT4">
                  <p:embed/>
                </p:oleObj>
              </mc:Choice>
              <mc:Fallback>
                <p:oleObj name="Equation" r:id="rId3" imgW="17678400" imgH="17068800" progId="Equation.DSMT4">
                  <p:embed/>
                  <p:pic>
                    <p:nvPicPr>
                      <p:cNvPr id="0" name="Object 9"/>
                      <p:cNvPicPr>
                        <a:picLocks noChangeAspect="1" noChangeArrowheads="1"/>
                      </p:cNvPicPr>
                      <p:nvPr/>
                    </p:nvPicPr>
                    <p:blipFill>
                      <a:blip r:embed="rId4"/>
                      <a:srcRect/>
                      <a:stretch>
                        <a:fillRect/>
                      </a:stretch>
                    </p:blipFill>
                    <p:spPr bwMode="auto">
                      <a:xfrm>
                        <a:off x="2340133" y="2564764"/>
                        <a:ext cx="1731963" cy="1482725"/>
                      </a:xfrm>
                      <a:prstGeom prst="rect">
                        <a:avLst/>
                      </a:prstGeom>
                      <a:noFill/>
                      <a:ln>
                        <a:noFill/>
                      </a:ln>
                    </p:spPr>
                  </p:pic>
                </p:oleObj>
              </mc:Fallback>
            </mc:AlternateContent>
          </a:graphicData>
        </a:graphic>
      </p:graphicFrame>
      <p:graphicFrame>
        <p:nvGraphicFramePr>
          <p:cNvPr id="22" name="Object 9"/>
          <p:cNvGraphicFramePr>
            <a:graphicFrameLocks noChangeAspect="1"/>
          </p:cNvGraphicFramePr>
          <p:nvPr/>
        </p:nvGraphicFramePr>
        <p:xfrm>
          <a:off x="4355783" y="2588895"/>
          <a:ext cx="1731962" cy="1482725"/>
        </p:xfrm>
        <a:graphic>
          <a:graphicData uri="http://schemas.openxmlformats.org/presentationml/2006/ole">
            <mc:AlternateContent xmlns:mc="http://schemas.openxmlformats.org/markup-compatibility/2006">
              <mc:Choice xmlns:v="urn:schemas-microsoft-com:vml" Requires="v">
                <p:oleObj spid="_x0000_s191712" name="Equation" r:id="rId5" imgW="17678400" imgH="17068800" progId="Equation.DSMT4">
                  <p:embed/>
                </p:oleObj>
              </mc:Choice>
              <mc:Fallback>
                <p:oleObj name="Equation" r:id="rId5" imgW="17678400" imgH="17068800" progId="Equation.DSMT4">
                  <p:embed/>
                  <p:pic>
                    <p:nvPicPr>
                      <p:cNvPr id="0" name="Object 9"/>
                      <p:cNvPicPr>
                        <a:picLocks noChangeAspect="1" noChangeArrowheads="1"/>
                      </p:cNvPicPr>
                      <p:nvPr/>
                    </p:nvPicPr>
                    <p:blipFill>
                      <a:blip r:embed="rId6"/>
                      <a:srcRect/>
                      <a:stretch>
                        <a:fillRect/>
                      </a:stretch>
                    </p:blipFill>
                    <p:spPr bwMode="auto">
                      <a:xfrm>
                        <a:off x="4355783" y="2588895"/>
                        <a:ext cx="1731962" cy="1482725"/>
                      </a:xfrm>
                      <a:prstGeom prst="rect">
                        <a:avLst/>
                      </a:prstGeom>
                      <a:noFill/>
                      <a:ln>
                        <a:noFill/>
                      </a:ln>
                    </p:spPr>
                  </p:pic>
                </p:oleObj>
              </mc:Fallback>
            </mc:AlternateContent>
          </a:graphicData>
        </a:graphic>
      </p:graphicFrame>
      <p:graphicFrame>
        <p:nvGraphicFramePr>
          <p:cNvPr id="23" name="Object 9"/>
          <p:cNvGraphicFramePr>
            <a:graphicFrameLocks noChangeAspect="1"/>
          </p:cNvGraphicFramePr>
          <p:nvPr/>
        </p:nvGraphicFramePr>
        <p:xfrm>
          <a:off x="6516370" y="2649220"/>
          <a:ext cx="1582738" cy="1482725"/>
        </p:xfrm>
        <a:graphic>
          <a:graphicData uri="http://schemas.openxmlformats.org/presentationml/2006/ole">
            <mc:AlternateContent xmlns:mc="http://schemas.openxmlformats.org/markup-compatibility/2006">
              <mc:Choice xmlns:v="urn:schemas-microsoft-com:vml" Requires="v">
                <p:oleObj spid="_x0000_s191713" name="Equation" r:id="rId7" imgW="16154400" imgH="17068800" progId="Equation.DSMT4">
                  <p:embed/>
                </p:oleObj>
              </mc:Choice>
              <mc:Fallback>
                <p:oleObj name="Equation" r:id="rId7" imgW="16154400" imgH="17068800" progId="Equation.DSMT4">
                  <p:embed/>
                  <p:pic>
                    <p:nvPicPr>
                      <p:cNvPr id="0" name="Object 9"/>
                      <p:cNvPicPr>
                        <a:picLocks noChangeAspect="1" noChangeArrowheads="1"/>
                      </p:cNvPicPr>
                      <p:nvPr/>
                    </p:nvPicPr>
                    <p:blipFill>
                      <a:blip r:embed="rId8"/>
                      <a:srcRect/>
                      <a:stretch>
                        <a:fillRect/>
                      </a:stretch>
                    </p:blipFill>
                    <p:spPr bwMode="auto">
                      <a:xfrm>
                        <a:off x="6516370" y="2649220"/>
                        <a:ext cx="1582738" cy="1482725"/>
                      </a:xfrm>
                      <a:prstGeom prst="rect">
                        <a:avLst/>
                      </a:prstGeom>
                      <a:noFill/>
                      <a:ln>
                        <a:noFill/>
                      </a:ln>
                    </p:spPr>
                  </p:pic>
                </p:oleObj>
              </mc:Fallback>
            </mc:AlternateContent>
          </a:graphicData>
        </a:graphic>
      </p:graphicFrame>
      <p:grpSp>
        <p:nvGrpSpPr>
          <p:cNvPr id="16" name="组合 15"/>
          <p:cNvGrpSpPr/>
          <p:nvPr/>
        </p:nvGrpSpPr>
        <p:grpSpPr>
          <a:xfrm>
            <a:off x="4613910" y="1052195"/>
            <a:ext cx="3195320" cy="1471295"/>
            <a:chOff x="7654" y="1139"/>
            <a:chExt cx="5032" cy="2317"/>
          </a:xfrm>
        </p:grpSpPr>
        <p:sp>
          <p:nvSpPr>
            <p:cNvPr id="19" name="Text Box 8"/>
            <p:cNvSpPr txBox="1">
              <a:spLocks noChangeArrowheads="1"/>
            </p:cNvSpPr>
            <p:nvPr/>
          </p:nvSpPr>
          <p:spPr bwMode="auto">
            <a:xfrm>
              <a:off x="7654" y="1845"/>
              <a:ext cx="3046"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a:spcBef>
                  <a:spcPct val="0"/>
                </a:spcBef>
                <a:buClrTx/>
                <a:buSzTx/>
                <a:buNone/>
              </a:pPr>
              <a:r>
                <a:rPr kumimoji="1" lang="zh-CN" altLang="en-US" sz="2400" b="1" dirty="0">
                  <a:latin typeface="+mn-lt"/>
                  <a:ea typeface="+mn-ea"/>
                </a:rPr>
                <a:t>本征能量为：</a:t>
              </a:r>
              <a:endParaRPr kumimoji="1" lang="zh-CN" altLang="en-US" sz="2400" b="1" dirty="0">
                <a:latin typeface="+mn-lt"/>
                <a:ea typeface="+mn-ea"/>
              </a:endParaRPr>
            </a:p>
          </p:txBody>
        </p:sp>
        <p:pic>
          <p:nvPicPr>
            <p:cNvPr id="12" name="图片 11"/>
            <p:cNvPicPr>
              <a:picLocks noChangeAspect="1"/>
            </p:cNvPicPr>
            <p:nvPr/>
          </p:nvPicPr>
          <p:blipFill>
            <a:blip r:embed="rId9"/>
            <a:stretch>
              <a:fillRect/>
            </a:stretch>
          </p:blipFill>
          <p:spPr>
            <a:xfrm>
              <a:off x="10829" y="1139"/>
              <a:ext cx="1653" cy="673"/>
            </a:xfrm>
            <a:prstGeom prst="rect">
              <a:avLst/>
            </a:prstGeom>
          </p:spPr>
        </p:pic>
        <p:pic>
          <p:nvPicPr>
            <p:cNvPr id="14" name="图片 13"/>
            <p:cNvPicPr>
              <a:picLocks noChangeAspect="1"/>
            </p:cNvPicPr>
            <p:nvPr/>
          </p:nvPicPr>
          <p:blipFill>
            <a:blip r:embed="rId10"/>
            <a:stretch>
              <a:fillRect/>
            </a:stretch>
          </p:blipFill>
          <p:spPr>
            <a:xfrm>
              <a:off x="10700" y="1884"/>
              <a:ext cx="1770" cy="790"/>
            </a:xfrm>
            <a:prstGeom prst="rect">
              <a:avLst/>
            </a:prstGeom>
          </p:spPr>
        </p:pic>
        <p:pic>
          <p:nvPicPr>
            <p:cNvPr id="15" name="图片 14"/>
            <p:cNvPicPr>
              <a:picLocks noChangeAspect="1"/>
            </p:cNvPicPr>
            <p:nvPr/>
          </p:nvPicPr>
          <p:blipFill>
            <a:blip r:embed="rId11"/>
            <a:stretch>
              <a:fillRect/>
            </a:stretch>
          </p:blipFill>
          <p:spPr>
            <a:xfrm>
              <a:off x="10700" y="2814"/>
              <a:ext cx="1987" cy="643"/>
            </a:xfrm>
            <a:prstGeom prst="rect">
              <a:avLst/>
            </a:prstGeom>
          </p:spPr>
        </p:pic>
      </p:grpSp>
      <p:sp>
        <p:nvSpPr>
          <p:cNvPr id="18" name="Text Box 8"/>
          <p:cNvSpPr txBox="1">
            <a:spLocks noChangeArrowheads="1"/>
          </p:cNvSpPr>
          <p:nvPr/>
        </p:nvSpPr>
        <p:spPr bwMode="auto">
          <a:xfrm>
            <a:off x="34926" y="4076859"/>
            <a:ext cx="28860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a:spcBef>
                <a:spcPct val="0"/>
              </a:spcBef>
              <a:buClrTx/>
              <a:buSzTx/>
              <a:buNone/>
            </a:pPr>
            <a:r>
              <a:rPr kumimoji="1" lang="zh-CN" altLang="en-US" sz="2400" b="1" dirty="0">
                <a:latin typeface="+mn-lt"/>
                <a:ea typeface="+mn-ea"/>
              </a:rPr>
              <a:t>（</a:t>
            </a:r>
            <a:r>
              <a:rPr kumimoji="1" lang="en-US" altLang="zh-CN" sz="2400" b="1" dirty="0">
                <a:latin typeface="+mn-lt"/>
                <a:ea typeface="+mn-ea"/>
              </a:rPr>
              <a:t>3</a:t>
            </a:r>
            <a:r>
              <a:rPr kumimoji="1" lang="zh-CN" altLang="en-US" sz="2400" b="1" dirty="0">
                <a:latin typeface="+mn-lt"/>
                <a:ea typeface="+mn-ea"/>
              </a:rPr>
              <a:t>）本征能量修正</a:t>
            </a:r>
            <a:endParaRPr kumimoji="1" lang="zh-CN" altLang="en-US" sz="2400" b="1" dirty="0">
              <a:latin typeface="+mn-lt"/>
              <a:ea typeface="+mn-ea"/>
            </a:endParaRPr>
          </a:p>
        </p:txBody>
      </p:sp>
      <p:sp>
        <p:nvSpPr>
          <p:cNvPr id="24" name="Text Box 58"/>
          <p:cNvSpPr txBox="1">
            <a:spLocks noChangeArrowheads="1"/>
          </p:cNvSpPr>
          <p:nvPr/>
        </p:nvSpPr>
        <p:spPr bwMode="auto">
          <a:xfrm>
            <a:off x="508916" y="4652677"/>
            <a:ext cx="2836762" cy="461962"/>
          </a:xfrm>
          <a:prstGeom prst="rect">
            <a:avLst/>
          </a:prstGeom>
          <a:solidFill>
            <a:schemeClr val="bg1"/>
          </a:solidFill>
          <a:ln w="9525">
            <a:noFill/>
            <a:miter lim="800000"/>
          </a:ln>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eaLnBrk="1" hangingPunct="1">
              <a:spcBef>
                <a:spcPct val="50000"/>
              </a:spcBef>
              <a:buClrTx/>
              <a:buSzTx/>
              <a:buFontTx/>
              <a:buNone/>
            </a:pPr>
            <a:r>
              <a:rPr kumimoji="1" lang="zh-CN" altLang="en-US" sz="2400" b="1" dirty="0">
                <a:latin typeface="+mn-ea"/>
                <a:ea typeface="+mn-ea"/>
              </a:rPr>
              <a:t>非简并微扰公式</a:t>
            </a:r>
            <a:r>
              <a:rPr kumimoji="1" lang="en-US" altLang="zh-CN" sz="2400" b="1" dirty="0">
                <a:latin typeface="+mn-ea"/>
                <a:ea typeface="+mn-ea"/>
              </a:rPr>
              <a:t>:</a:t>
            </a:r>
            <a:endParaRPr kumimoji="1" lang="en-US" altLang="zh-CN" sz="2400" b="1" dirty="0">
              <a:latin typeface="+mn-ea"/>
              <a:ea typeface="+mn-ea"/>
            </a:endParaRPr>
          </a:p>
        </p:txBody>
      </p:sp>
      <p:graphicFrame>
        <p:nvGraphicFramePr>
          <p:cNvPr id="25" name="Object 59"/>
          <p:cNvGraphicFramePr>
            <a:graphicFrameLocks noChangeAspect="1"/>
          </p:cNvGraphicFramePr>
          <p:nvPr/>
        </p:nvGraphicFramePr>
        <p:xfrm>
          <a:off x="3203527" y="4230543"/>
          <a:ext cx="3028709" cy="1570390"/>
        </p:xfrm>
        <a:graphic>
          <a:graphicData uri="http://schemas.openxmlformats.org/presentationml/2006/ole">
            <mc:AlternateContent xmlns:mc="http://schemas.openxmlformats.org/markup-compatibility/2006">
              <mc:Choice xmlns:v="urn:schemas-microsoft-com:vml" Requires="v">
                <p:oleObj spid="_x0000_s191714" name="Equation" r:id="rId12" imgW="33832800" imgH="17678400" progId="Equation.DSMT4">
                  <p:embed/>
                </p:oleObj>
              </mc:Choice>
              <mc:Fallback>
                <p:oleObj name="Equation" r:id="rId12" imgW="33832800" imgH="17678400" progId="Equation.DSMT4">
                  <p:embed/>
                  <p:pic>
                    <p:nvPicPr>
                      <p:cNvPr id="0" name="Object 59"/>
                      <p:cNvPicPr>
                        <a:picLocks noChangeAspect="1" noChangeArrowheads="1"/>
                      </p:cNvPicPr>
                      <p:nvPr/>
                    </p:nvPicPr>
                    <p:blipFill>
                      <a:blip r:embed="rId13"/>
                      <a:srcRect/>
                      <a:stretch>
                        <a:fillRect/>
                      </a:stretch>
                    </p:blipFill>
                    <p:spPr bwMode="auto">
                      <a:xfrm>
                        <a:off x="3203527" y="4230543"/>
                        <a:ext cx="3028709" cy="1570390"/>
                      </a:xfrm>
                      <a:prstGeom prst="rect">
                        <a:avLst/>
                      </a:prstGeom>
                      <a:noFill/>
                      <a:ln>
                        <a:noFill/>
                      </a:ln>
                    </p:spPr>
                  </p:pic>
                </p:oleObj>
              </mc:Fallback>
            </mc:AlternateContent>
          </a:graphicData>
        </a:graphic>
      </p:graphicFrame>
      <p:graphicFrame>
        <p:nvGraphicFramePr>
          <p:cNvPr id="26" name="Object 9"/>
          <p:cNvGraphicFramePr>
            <a:graphicFrameLocks noChangeAspect="1"/>
          </p:cNvGraphicFramePr>
          <p:nvPr/>
        </p:nvGraphicFramePr>
        <p:xfrm>
          <a:off x="6660745" y="4364868"/>
          <a:ext cx="2316163" cy="1482725"/>
        </p:xfrm>
        <a:graphic>
          <a:graphicData uri="http://schemas.openxmlformats.org/presentationml/2006/ole">
            <mc:AlternateContent xmlns:mc="http://schemas.openxmlformats.org/markup-compatibility/2006">
              <mc:Choice xmlns:v="urn:schemas-microsoft-com:vml" Requires="v">
                <p:oleObj spid="_x0000_s191715" name="Equation" r:id="rId14" imgW="24993600" imgH="17068800" progId="Equation.DSMT4">
                  <p:embed/>
                </p:oleObj>
              </mc:Choice>
              <mc:Fallback>
                <p:oleObj name="Equation" r:id="rId14" imgW="24993600" imgH="17068800" progId="Equation.DSMT4">
                  <p:embed/>
                  <p:pic>
                    <p:nvPicPr>
                      <p:cNvPr id="0" name="Object 9"/>
                      <p:cNvPicPr>
                        <a:picLocks noChangeAspect="1" noChangeArrowheads="1"/>
                      </p:cNvPicPr>
                      <p:nvPr/>
                    </p:nvPicPr>
                    <p:blipFill>
                      <a:blip r:embed="rId15"/>
                      <a:srcRect/>
                      <a:stretch>
                        <a:fillRect/>
                      </a:stretch>
                    </p:blipFill>
                    <p:spPr bwMode="auto">
                      <a:xfrm>
                        <a:off x="6660745" y="4364868"/>
                        <a:ext cx="2316163"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9"/>
          <p:cNvGraphicFramePr>
            <a:graphicFrameLocks noChangeAspect="1"/>
          </p:cNvGraphicFramePr>
          <p:nvPr/>
        </p:nvGraphicFramePr>
        <p:xfrm>
          <a:off x="2988310" y="6165215"/>
          <a:ext cx="3359150" cy="503238"/>
        </p:xfrm>
        <a:graphic>
          <a:graphicData uri="http://schemas.openxmlformats.org/presentationml/2006/ole">
            <mc:AlternateContent xmlns:mc="http://schemas.openxmlformats.org/markup-compatibility/2006">
              <mc:Choice xmlns:v="urn:schemas-microsoft-com:vml" Requires="v">
                <p:oleObj spid="_x0000_s191716" name="Equation" r:id="rId16" imgW="36271200" imgH="5791200" progId="Equation.DSMT4">
                  <p:embed/>
                </p:oleObj>
              </mc:Choice>
              <mc:Fallback>
                <p:oleObj name="Equation" r:id="rId16" imgW="36271200" imgH="5791200" progId="Equation.DSMT4">
                  <p:embed/>
                  <p:pic>
                    <p:nvPicPr>
                      <p:cNvPr id="0" name="Object 9"/>
                      <p:cNvPicPr>
                        <a:picLocks noChangeAspect="1" noChangeArrowheads="1"/>
                      </p:cNvPicPr>
                      <p:nvPr/>
                    </p:nvPicPr>
                    <p:blipFill>
                      <a:blip r:embed="rId17"/>
                      <a:srcRect/>
                      <a:stretch>
                        <a:fillRect/>
                      </a:stretch>
                    </p:blipFill>
                    <p:spPr bwMode="auto">
                      <a:xfrm>
                        <a:off x="2988310" y="6165215"/>
                        <a:ext cx="33591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heckerboard(across)">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checkerboard(across)">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checkerboard(across)">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checkerboard(across)">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dissolve">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 calcmode="lin" valueType="num">
                                      <p:cBhvr additive="base">
                                        <p:cTn id="52" dur="500" fill="hold"/>
                                        <p:tgtEl>
                                          <p:spTgt spid="24"/>
                                        </p:tgtEl>
                                        <p:attrNameLst>
                                          <p:attrName>ppt_x</p:attrName>
                                        </p:attrNameLst>
                                      </p:cBhvr>
                                      <p:tavLst>
                                        <p:tav tm="0">
                                          <p:val>
                                            <p:strVal val="1+#ppt_w/2"/>
                                          </p:val>
                                        </p:tav>
                                        <p:tav tm="100000">
                                          <p:val>
                                            <p:strVal val="#ppt_x"/>
                                          </p:val>
                                        </p:tav>
                                      </p:tavLst>
                                    </p:anim>
                                    <p:anim calcmode="lin" valueType="num">
                                      <p:cBhvr additive="base">
                                        <p:cTn id="53"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additive="base">
                                        <p:cTn id="58" dur="500" fill="hold"/>
                                        <p:tgtEl>
                                          <p:spTgt spid="25"/>
                                        </p:tgtEl>
                                        <p:attrNameLst>
                                          <p:attrName>ppt_x</p:attrName>
                                        </p:attrNameLst>
                                      </p:cBhvr>
                                      <p:tavLst>
                                        <p:tav tm="0">
                                          <p:val>
                                            <p:strVal val="1+#ppt_w/2"/>
                                          </p:val>
                                        </p:tav>
                                        <p:tav tm="100000">
                                          <p:val>
                                            <p:strVal val="#ppt_x"/>
                                          </p:val>
                                        </p:tav>
                                      </p:tavLst>
                                    </p:anim>
                                    <p:anim calcmode="lin" valueType="num">
                                      <p:cBhvr additive="base">
                                        <p:cTn id="59"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5" presetClass="entr" presetSubtype="10" fill="hold"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checkerboard(across)">
                                      <p:cBhvr>
                                        <p:cTn id="64" dur="5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5" presetClass="entr" presetSubtype="10" fill="hold"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checkerboard(across)">
                                      <p:cBhvr>
                                        <p:cTn id="6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9" grpId="0" autoUpdateAnimBg="0"/>
      <p:bldP spid="20" grpId="0" autoUpdateAnimBg="0"/>
      <p:bldP spid="18" grpId="0" autoUpdateAnimBg="0"/>
      <p:bldP spid="24"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60"/>
          <p:cNvSpPr txBox="1">
            <a:spLocks noChangeArrowheads="1"/>
          </p:cNvSpPr>
          <p:nvPr/>
        </p:nvSpPr>
        <p:spPr bwMode="auto">
          <a:xfrm>
            <a:off x="467554" y="836005"/>
            <a:ext cx="2536101" cy="461962"/>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eaLnBrk="1" hangingPunct="1">
              <a:spcBef>
                <a:spcPct val="50000"/>
              </a:spcBef>
              <a:buClrTx/>
              <a:buSzTx/>
              <a:buFontTx/>
              <a:buNone/>
            </a:pPr>
            <a:r>
              <a:rPr kumimoji="1" lang="zh-CN" altLang="en-US" sz="2400" b="1" dirty="0">
                <a:latin typeface="宋体" panose="02010600030101010101" pitchFamily="2" charset="-122"/>
                <a:ea typeface="宋体" panose="02010600030101010101" pitchFamily="2" charset="-122"/>
              </a:rPr>
              <a:t>得能量一级修正：</a:t>
            </a:r>
            <a:endParaRPr kumimoji="1" lang="zh-CN" altLang="en-US" sz="2400" b="1" dirty="0">
              <a:latin typeface="宋体" panose="02010600030101010101" pitchFamily="2" charset="-122"/>
              <a:ea typeface="宋体" panose="02010600030101010101" pitchFamily="2" charset="-122"/>
            </a:endParaRPr>
          </a:p>
        </p:txBody>
      </p:sp>
      <p:graphicFrame>
        <p:nvGraphicFramePr>
          <p:cNvPr id="18" name="Object 61"/>
          <p:cNvGraphicFramePr>
            <a:graphicFrameLocks noChangeAspect="1"/>
          </p:cNvGraphicFramePr>
          <p:nvPr/>
        </p:nvGraphicFramePr>
        <p:xfrm>
          <a:off x="253365" y="1333500"/>
          <a:ext cx="2896870" cy="1673225"/>
        </p:xfrm>
        <a:graphic>
          <a:graphicData uri="http://schemas.openxmlformats.org/presentationml/2006/ole">
            <mc:AlternateContent xmlns:mc="http://schemas.openxmlformats.org/markup-compatibility/2006">
              <mc:Choice xmlns:v="urn:schemas-microsoft-com:vml" Requires="v">
                <p:oleObj spid="_x0000_s193609" name="Equation" r:id="rId1" imgW="1002665" imgH="786765" progId="Equation.DSMT4">
                  <p:embed/>
                </p:oleObj>
              </mc:Choice>
              <mc:Fallback>
                <p:oleObj name="Equation" r:id="rId1" imgW="1002665" imgH="786765" progId="Equation.DSMT4">
                  <p:embed/>
                  <p:pic>
                    <p:nvPicPr>
                      <p:cNvPr id="0" name="Object 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365" y="1333500"/>
                        <a:ext cx="2896870" cy="167322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4"/>
          <p:cNvSpPr txBox="1">
            <a:spLocks noChangeArrowheads="1"/>
          </p:cNvSpPr>
          <p:nvPr/>
        </p:nvSpPr>
        <p:spPr bwMode="auto">
          <a:xfrm>
            <a:off x="4355963" y="764589"/>
            <a:ext cx="3048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eaLnBrk="1" hangingPunct="1">
              <a:spcBef>
                <a:spcPct val="50000"/>
              </a:spcBef>
              <a:buClrTx/>
              <a:buSzTx/>
              <a:buFont typeface="Wingdings" panose="05000000000000000000" pitchFamily="2" charset="2"/>
              <a:buNone/>
            </a:pPr>
            <a:r>
              <a:rPr kumimoji="1" lang="zh-CN" altLang="en-US" sz="2400" b="1" dirty="0">
                <a:latin typeface="宋体" panose="02010600030101010101" pitchFamily="2" charset="-122"/>
                <a:ea typeface="宋体" panose="02010600030101010101" pitchFamily="2" charset="-122"/>
              </a:rPr>
              <a:t>能量二级修正为：</a:t>
            </a:r>
            <a:endParaRPr kumimoji="1" lang="zh-CN" altLang="en-US" sz="2400" b="1" dirty="0">
              <a:latin typeface="宋体" panose="02010600030101010101" pitchFamily="2" charset="-122"/>
              <a:ea typeface="宋体" panose="02010600030101010101" pitchFamily="2" charset="-122"/>
            </a:endParaRPr>
          </a:p>
        </p:txBody>
      </p:sp>
      <p:graphicFrame>
        <p:nvGraphicFramePr>
          <p:cNvPr id="11" name="Object 5"/>
          <p:cNvGraphicFramePr>
            <a:graphicFrameLocks noChangeAspect="1"/>
          </p:cNvGraphicFramePr>
          <p:nvPr/>
        </p:nvGraphicFramePr>
        <p:xfrm>
          <a:off x="3494405" y="1333500"/>
          <a:ext cx="5614670" cy="742950"/>
        </p:xfrm>
        <a:graphic>
          <a:graphicData uri="http://schemas.openxmlformats.org/presentationml/2006/ole">
            <mc:AlternateContent xmlns:mc="http://schemas.openxmlformats.org/markup-compatibility/2006">
              <mc:Choice xmlns:v="urn:schemas-microsoft-com:vml" Requires="v">
                <p:oleObj spid="_x0000_s193610" name="Equation" r:id="rId3" imgW="5816600" imgH="762000" progId="Equation.DSMT4">
                  <p:embed/>
                </p:oleObj>
              </mc:Choice>
              <mc:Fallback>
                <p:oleObj name="Equation" r:id="rId3" imgW="5816600" imgH="7620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4405" y="1333500"/>
                        <a:ext cx="5614670" cy="742950"/>
                      </a:xfrm>
                      <a:prstGeom prst="rect">
                        <a:avLst/>
                      </a:prstGeom>
                      <a:noFill/>
                      <a:ln>
                        <a:noFill/>
                      </a:ln>
                    </p:spPr>
                  </p:pic>
                </p:oleObj>
              </mc:Fallback>
            </mc:AlternateContent>
          </a:graphicData>
        </a:graphic>
      </p:graphicFrame>
      <p:graphicFrame>
        <p:nvGraphicFramePr>
          <p:cNvPr id="13" name="Object 6"/>
          <p:cNvGraphicFramePr>
            <a:graphicFrameLocks noChangeAspect="1"/>
          </p:cNvGraphicFramePr>
          <p:nvPr/>
        </p:nvGraphicFramePr>
        <p:xfrm>
          <a:off x="3420110" y="2226945"/>
          <a:ext cx="5510530" cy="779780"/>
        </p:xfrm>
        <a:graphic>
          <a:graphicData uri="http://schemas.openxmlformats.org/presentationml/2006/ole">
            <mc:AlternateContent xmlns:mc="http://schemas.openxmlformats.org/markup-compatibility/2006">
              <mc:Choice xmlns:v="urn:schemas-microsoft-com:vml" Requires="v">
                <p:oleObj spid="_x0000_s193611" name="Equation" r:id="rId5" imgW="3378200" imgH="457200" progId="Equation.DSMT4">
                  <p:embed/>
                </p:oleObj>
              </mc:Choice>
              <mc:Fallback>
                <p:oleObj name="Equation" r:id="rId5" imgW="3378200" imgH="4572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0110" y="2226945"/>
                        <a:ext cx="5510530" cy="779780"/>
                      </a:xfrm>
                      <a:prstGeom prst="rect">
                        <a:avLst/>
                      </a:prstGeom>
                      <a:noFill/>
                      <a:ln>
                        <a:noFill/>
                      </a:ln>
                    </p:spPr>
                  </p:pic>
                </p:oleObj>
              </mc:Fallback>
            </mc:AlternateContent>
          </a:graphicData>
        </a:graphic>
      </p:graphicFrame>
      <p:graphicFrame>
        <p:nvGraphicFramePr>
          <p:cNvPr id="19" name="Object 7"/>
          <p:cNvGraphicFramePr>
            <a:graphicFrameLocks noChangeAspect="1"/>
          </p:cNvGraphicFramePr>
          <p:nvPr/>
        </p:nvGraphicFramePr>
        <p:xfrm>
          <a:off x="3491865" y="3068955"/>
          <a:ext cx="5541010" cy="854710"/>
        </p:xfrm>
        <a:graphic>
          <a:graphicData uri="http://schemas.openxmlformats.org/presentationml/2006/ole">
            <mc:AlternateContent xmlns:mc="http://schemas.openxmlformats.org/markup-compatibility/2006">
              <mc:Choice xmlns:v="urn:schemas-microsoft-com:vml" Requires="v">
                <p:oleObj spid="_x0000_s193612" name="Equation" r:id="rId7" imgW="5334000" imgH="762000" progId="Equation.DSMT4">
                  <p:embed/>
                </p:oleObj>
              </mc:Choice>
              <mc:Fallback>
                <p:oleObj name="Equation" r:id="rId7" imgW="5334000" imgH="7620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1865" y="3068955"/>
                        <a:ext cx="5541010" cy="854710"/>
                      </a:xfrm>
                      <a:prstGeom prst="rect">
                        <a:avLst/>
                      </a:prstGeom>
                      <a:noFill/>
                      <a:ln>
                        <a:noFill/>
                      </a:ln>
                    </p:spPr>
                  </p:pic>
                </p:oleObj>
              </mc:Fallback>
            </mc:AlternateContent>
          </a:graphicData>
        </a:graphic>
      </p:graphicFrame>
      <p:sp>
        <p:nvSpPr>
          <p:cNvPr id="5" name="Text Box 8"/>
          <p:cNvSpPr txBox="1">
            <a:spLocks noChangeArrowheads="1"/>
          </p:cNvSpPr>
          <p:nvPr/>
        </p:nvSpPr>
        <p:spPr bwMode="auto">
          <a:xfrm>
            <a:off x="252096" y="260509"/>
            <a:ext cx="28860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a:spcBef>
                <a:spcPct val="0"/>
              </a:spcBef>
              <a:buClrTx/>
              <a:buSzTx/>
              <a:buNone/>
            </a:pPr>
            <a:r>
              <a:rPr kumimoji="1" lang="zh-CN" altLang="en-US" sz="2400" b="1" dirty="0">
                <a:latin typeface="+mn-lt"/>
                <a:ea typeface="+mn-ea"/>
              </a:rPr>
              <a:t>（</a:t>
            </a:r>
            <a:r>
              <a:rPr kumimoji="1" lang="en-US" altLang="zh-CN" sz="2400" b="1" dirty="0">
                <a:latin typeface="+mn-lt"/>
                <a:ea typeface="+mn-ea"/>
              </a:rPr>
              <a:t>3</a:t>
            </a:r>
            <a:r>
              <a:rPr kumimoji="1" lang="zh-CN" altLang="en-US" sz="2400" b="1" dirty="0">
                <a:latin typeface="+mn-lt"/>
                <a:ea typeface="+mn-ea"/>
              </a:rPr>
              <a:t>）本征能量修正</a:t>
            </a:r>
            <a:endParaRPr kumimoji="1" lang="zh-CN" altLang="en-US" sz="2400" b="1" dirty="0">
              <a:latin typeface="+mn-lt"/>
              <a:ea typeface="+mn-ea"/>
            </a:endParaRPr>
          </a:p>
        </p:txBody>
      </p:sp>
      <p:sp>
        <p:nvSpPr>
          <p:cNvPr id="6" name="Text Box 8"/>
          <p:cNvSpPr txBox="1">
            <a:spLocks noChangeArrowheads="1"/>
          </p:cNvSpPr>
          <p:nvPr/>
        </p:nvSpPr>
        <p:spPr bwMode="auto">
          <a:xfrm>
            <a:off x="108230" y="5084922"/>
            <a:ext cx="4664116"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ea typeface="微软雅黑" panose="020B0503020204020204"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微软雅黑" panose="020B0503020204020204"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微软雅黑" panose="020B0503020204020204"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微软雅黑" panose="020B0503020204020204" charset="-122"/>
              </a:defRPr>
            </a:lvl9pPr>
          </a:lstStyle>
          <a:p>
            <a:pPr eaLnBrk="1" hangingPunct="1">
              <a:spcBef>
                <a:spcPct val="50000"/>
              </a:spcBef>
              <a:buClrTx/>
              <a:buSzTx/>
              <a:buFont typeface="Wingdings" panose="05000000000000000000" pitchFamily="2" charset="2"/>
              <a:buNone/>
            </a:pPr>
            <a:r>
              <a:rPr kumimoji="1" lang="zh-CN" altLang="en-US" sz="2400" b="1" dirty="0">
                <a:latin typeface="宋体" panose="02010600030101010101" pitchFamily="2" charset="-122"/>
                <a:ea typeface="宋体" panose="02010600030101010101" pitchFamily="2" charset="-122"/>
              </a:rPr>
              <a:t>准确到二级近似的能量本征值为：</a:t>
            </a:r>
            <a:endParaRPr kumimoji="1" lang="zh-CN" altLang="en-US" sz="2400" b="1" dirty="0">
              <a:latin typeface="宋体" panose="02010600030101010101" pitchFamily="2" charset="-122"/>
              <a:ea typeface="宋体" panose="02010600030101010101" pitchFamily="2" charset="-122"/>
            </a:endParaRPr>
          </a:p>
        </p:txBody>
      </p:sp>
      <p:graphicFrame>
        <p:nvGraphicFramePr>
          <p:cNvPr id="7" name="Object 9"/>
          <p:cNvGraphicFramePr>
            <a:graphicFrameLocks noChangeAspect="1"/>
          </p:cNvGraphicFramePr>
          <p:nvPr/>
        </p:nvGraphicFramePr>
        <p:xfrm>
          <a:off x="4856114" y="4509341"/>
          <a:ext cx="2548495" cy="1789224"/>
        </p:xfrm>
        <a:graphic>
          <a:graphicData uri="http://schemas.openxmlformats.org/presentationml/2006/ole">
            <mc:AlternateContent xmlns:mc="http://schemas.openxmlformats.org/markup-compatibility/2006">
              <mc:Choice xmlns:v="urn:schemas-microsoft-com:vml" Requires="v">
                <p:oleObj spid="_x0000_s193613" name="Equation" r:id="rId9" imgW="889000" imgH="787400" progId="Equation.DSMT4">
                  <p:embed/>
                </p:oleObj>
              </mc:Choice>
              <mc:Fallback>
                <p:oleObj name="Equation" r:id="rId9" imgW="889000" imgH="7874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6114" y="4509341"/>
                        <a:ext cx="2548495" cy="1789224"/>
                      </a:xfrm>
                      <a:prstGeom prst="rect">
                        <a:avLst/>
                      </a:prstGeom>
                      <a:solidFill>
                        <a:schemeClr val="bg1"/>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0-#ppt_w/2"/>
                                          </p:val>
                                        </p:tav>
                                        <p:tav tm="100000">
                                          <p:val>
                                            <p:strVal val="#ppt_x"/>
                                          </p:val>
                                        </p:tav>
                                      </p:tavLst>
                                    </p:anim>
                                    <p:anim calcmode="lin" valueType="num">
                                      <p:cBhvr additive="base">
                                        <p:cTn id="14"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linds(horizontal)">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dissolve">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linds(horizontal)">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autoUpdateAnimBg="0"/>
      <p:bldP spid="6"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611505" y="332740"/>
            <a:ext cx="8059420" cy="521970"/>
          </a:xfrm>
          <a:prstGeom prst="rect">
            <a:avLst/>
          </a:prstGeom>
        </p:spPr>
        <p:txBody>
          <a:bodyPr wrap="square">
            <a:spAutoFit/>
          </a:bodyPr>
          <a:lstStyle/>
          <a:p>
            <a:pPr marL="0" indent="0" algn="just" defTabSz="266700">
              <a:spcBef>
                <a:spcPct val="0"/>
              </a:spcBef>
              <a:spcAft>
                <a:spcPct val="0"/>
              </a:spcAft>
            </a:pPr>
            <a:r>
              <a:rPr lang="zh-CN" altLang="en-US" sz="2800" b="1">
                <a:latin typeface="宋体" panose="02010600030101010101" pitchFamily="2" charset="-122"/>
                <a:ea typeface="宋体" panose="02010600030101010101" pitchFamily="2" charset="-122"/>
              </a:rPr>
              <a:t>知识单元六</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近独立粒子系统的统计分布</a:t>
            </a:r>
            <a:endParaRPr lang="zh-CN" altLang="en-US" sz="2800" b="1">
              <a:latin typeface="宋体" panose="02010600030101010101" pitchFamily="2" charset="-122"/>
              <a:ea typeface="宋体" panose="02010600030101010101" pitchFamily="2" charset="-122"/>
            </a:endParaRPr>
          </a:p>
        </p:txBody>
      </p:sp>
      <p:sp>
        <p:nvSpPr>
          <p:cNvPr id="3" name="文本框 2"/>
          <p:cNvSpPr txBox="1"/>
          <p:nvPr/>
        </p:nvSpPr>
        <p:spPr>
          <a:xfrm>
            <a:off x="610870" y="1341120"/>
            <a:ext cx="7858125" cy="2306955"/>
          </a:xfrm>
          <a:prstGeom prst="rect">
            <a:avLst/>
          </a:prstGeom>
        </p:spPr>
        <p:txBody>
          <a:bodyPr wrap="square">
            <a:spAutoFit/>
          </a:bodyPr>
          <a:lstStyle/>
          <a:p>
            <a:pPr marL="0" indent="0" algn="just" defTabSz="266700">
              <a:lnSpc>
                <a:spcPct val="150000"/>
              </a:lnSpc>
              <a:spcBef>
                <a:spcPct val="0"/>
              </a:spcBef>
              <a:spcAft>
                <a:spcPct val="0"/>
              </a:spcAft>
            </a:pPr>
            <a:r>
              <a:rPr lang="zh-CN" altLang="en-US" sz="2400" dirty="0" smtClean="0">
                <a:latin typeface="宋体" panose="02010600030101010101" pitchFamily="2" charset="-122"/>
                <a:ea typeface="宋体" panose="02010600030101010101" pitchFamily="2" charset="-122"/>
              </a:rPr>
              <a:t>统</a:t>
            </a:r>
            <a:r>
              <a:rPr lang="zh-CN" altLang="en-US" sz="2400" dirty="0">
                <a:latin typeface="宋体" panose="02010600030101010101" pitchFamily="2" charset="-122"/>
                <a:ea typeface="宋体" panose="02010600030101010101" pitchFamily="2" charset="-122"/>
              </a:rPr>
              <a:t>计的基本概念，掌握相空间的概念，理解粒子状态和系统状态的量子描述，</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分布与微观状态数之间的关系，</a:t>
            </a:r>
            <a:r>
              <a:rPr lang="zh-CN" altLang="en-US" sz="2400" dirty="0">
                <a:highlight>
                  <a:srgbClr val="FFFF00"/>
                </a:highlight>
                <a:latin typeface="宋体" panose="02010600030101010101" pitchFamily="2" charset="-122"/>
                <a:ea typeface="宋体" panose="02010600030101010101" pitchFamily="2" charset="-122"/>
              </a:rPr>
              <a:t>会</a:t>
            </a:r>
            <a:r>
              <a:rPr lang="zh-CN" altLang="en-US" sz="2400" dirty="0">
                <a:latin typeface="宋体" panose="02010600030101010101" pitchFamily="2" charset="-122"/>
                <a:ea typeface="宋体" panose="02010600030101010101" pitchFamily="2" charset="-122"/>
              </a:rPr>
              <a:t>计算相体</a:t>
            </a:r>
            <a:r>
              <a:rPr lang="zh-CN" altLang="en-US" sz="2400" dirty="0" smtClean="0">
                <a:latin typeface="宋体" panose="02010600030101010101" pitchFamily="2" charset="-122"/>
                <a:ea typeface="宋体" panose="02010600030101010101" pitchFamily="2" charset="-122"/>
              </a:rPr>
              <a:t>积，</a:t>
            </a:r>
            <a:r>
              <a:rPr lang="zh-CN" altLang="en-US" sz="2400" dirty="0" smtClean="0">
                <a:highlight>
                  <a:srgbClr val="FFFF00"/>
                </a:highlight>
                <a:latin typeface="宋体" panose="02010600030101010101" pitchFamily="2" charset="-122"/>
                <a:ea typeface="宋体" panose="02010600030101010101" pitchFamily="2" charset="-122"/>
              </a:rPr>
              <a:t>理</a:t>
            </a:r>
            <a:r>
              <a:rPr lang="zh-CN" altLang="en-US" sz="2400" dirty="0">
                <a:highlight>
                  <a:srgbClr val="FFFF00"/>
                </a:highlight>
                <a:latin typeface="宋体" panose="02010600030101010101" pitchFamily="2" charset="-122"/>
                <a:ea typeface="宋体" panose="02010600030101010101" pitchFamily="2" charset="-122"/>
              </a:rPr>
              <a:t>解</a:t>
            </a:r>
            <a:r>
              <a:rPr lang="zh-CN" altLang="en-US" sz="2400" dirty="0">
                <a:latin typeface="宋体" panose="02010600030101010101" pitchFamily="2" charset="-122"/>
                <a:ea typeface="宋体" panose="02010600030101010101" pitchFamily="2" charset="-122"/>
              </a:rPr>
              <a:t>等概率原理。</a:t>
            </a:r>
            <a:r>
              <a:rPr lang="zh-CN" altLang="en-US" sz="2400" strike="sngStrike" dirty="0">
                <a:latin typeface="宋体" panose="02010600030101010101" pitchFamily="2" charset="-122"/>
                <a:ea typeface="宋体" panose="02010600030101010101" pitchFamily="2" charset="-122"/>
              </a:rPr>
              <a:t>了解三种量子统计及他们之间的关系。</a:t>
            </a:r>
            <a:endParaRPr lang="zh-CN" altLang="en-US" sz="2400" strike="sngStrike" dirty="0">
              <a:latin typeface="宋体" panose="02010600030101010101" pitchFamily="2" charset="-122"/>
              <a:ea typeface="宋体" panose="02010600030101010101" pitchFamily="2" charset="-122"/>
            </a:endParaRPr>
          </a:p>
        </p:txBody>
      </p:sp>
      <p:sp>
        <p:nvSpPr>
          <p:cNvPr id="4" name="文本框 3"/>
          <p:cNvSpPr txBox="1"/>
          <p:nvPr/>
        </p:nvSpPr>
        <p:spPr>
          <a:xfrm>
            <a:off x="755650" y="6021705"/>
            <a:ext cx="7150100" cy="521970"/>
          </a:xfrm>
          <a:prstGeom prst="rect">
            <a:avLst/>
          </a:prstGeom>
          <a:noFill/>
        </p:spPr>
        <p:txBody>
          <a:bodyPr wrap="square" rtlCol="0" anchor="t">
            <a:spAutoFit/>
          </a:bodyPr>
          <a:lstStyle/>
          <a:p>
            <a:pPr defTabSz="457200"/>
            <a:r>
              <a:rPr lang="zh-CN" altLang="en-US" sz="2800" b="1" dirty="0" smtClean="0">
                <a:sym typeface="+mn-ea"/>
              </a:rPr>
              <a:t>题型：填空，</a:t>
            </a:r>
            <a:r>
              <a:rPr lang="zh-CN" altLang="en-US" sz="2800" b="1" dirty="0" smtClean="0">
                <a:sym typeface="+mn-ea"/>
              </a:rPr>
              <a:t>名词解释，计算</a:t>
            </a:r>
            <a:endParaRPr lang="zh-CN" altLang="en-US" sz="2800" b="1" dirty="0" smtClean="0">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39090" y="332105"/>
            <a:ext cx="8466455" cy="3046988"/>
          </a:xfrm>
          <a:prstGeom prst="rect">
            <a:avLst/>
          </a:prstGeom>
          <a:noFill/>
        </p:spPr>
        <p:txBody>
          <a:bodyPr wrap="square" rtlCol="0" anchor="t">
            <a:spAutoFit/>
          </a:bodyPr>
          <a:lstStyle/>
          <a:p>
            <a:pPr marL="342900" lvl="0" indent="-342900" algn="just">
              <a:lnSpc>
                <a:spcPct val="120000"/>
              </a:lnSpc>
              <a:spcAft>
                <a:spcPts val="0"/>
              </a:spcAft>
              <a:buFont typeface="+mj-lt"/>
              <a:buAutoNum type="arabicPeriod"/>
              <a:tabLst>
                <a:tab pos="457200" algn="l"/>
              </a:tabLst>
            </a:pPr>
            <a:r>
              <a:rPr lang="zh-CN" altLang="zh-CN" sz="2000" b="1" kern="100" dirty="0">
                <a:solidFill>
                  <a:schemeClr val="tx1"/>
                </a:solidFill>
                <a:ea typeface="宋体" panose="02010600030101010101" pitchFamily="2" charset="-122"/>
                <a:cs typeface="Times New Roman" panose="02020603050405020304" pitchFamily="18" charset="0"/>
                <a:sym typeface="+mn-ea"/>
              </a:rPr>
              <a:t>简述相空间（描述粒子的</a:t>
            </a:r>
            <a:r>
              <a:rPr lang="en-US" altLang="zh-CN" sz="2000" b="1" kern="100" dirty="0">
                <a:solidFill>
                  <a:schemeClr val="tx1"/>
                </a:solidFill>
                <a:ea typeface="宋体" panose="02010600030101010101" pitchFamily="2" charset="-122"/>
                <a:cs typeface="Times New Roman" panose="02020603050405020304" pitchFamily="18" charset="0"/>
                <a:sym typeface="+mn-ea"/>
              </a:rPr>
              <a:t>μ</a:t>
            </a:r>
            <a:r>
              <a:rPr lang="zh-CN" altLang="zh-CN" sz="2000" b="1" kern="100" dirty="0">
                <a:solidFill>
                  <a:schemeClr val="tx1"/>
                </a:solidFill>
                <a:ea typeface="宋体" panose="02010600030101010101" pitchFamily="2" charset="-122"/>
                <a:cs typeface="Times New Roman" panose="02020603050405020304" pitchFamily="18" charset="0"/>
                <a:sym typeface="+mn-ea"/>
              </a:rPr>
              <a:t>空间）的构成。</a:t>
            </a:r>
            <a:endParaRPr lang="zh-CN" altLang="zh-CN" sz="2000" b="1" kern="100" dirty="0">
              <a:solidFill>
                <a:schemeClr val="tx1"/>
              </a:solidFill>
              <a:ea typeface="等线" panose="02010600030101010101" charset="-122"/>
              <a:cs typeface="Times New Roman" panose="02020603050405020304" pitchFamily="18" charset="0"/>
            </a:endParaRPr>
          </a:p>
          <a:p>
            <a:pPr marL="342900" lvl="0" indent="-342900" algn="just">
              <a:lnSpc>
                <a:spcPct val="120000"/>
              </a:lnSpc>
              <a:spcAft>
                <a:spcPts val="0"/>
              </a:spcAft>
              <a:buFont typeface="+mj-lt"/>
              <a:buAutoNum type="arabicPeriod"/>
              <a:tabLst>
                <a:tab pos="457200" algn="l"/>
              </a:tabLst>
            </a:pPr>
            <a:r>
              <a:rPr lang="zh-CN" altLang="zh-CN" sz="2000" b="1" kern="100" dirty="0">
                <a:solidFill>
                  <a:schemeClr val="tx1"/>
                </a:solidFill>
                <a:ea typeface="宋体" panose="02010600030101010101" pitchFamily="2" charset="-122"/>
                <a:cs typeface="Times New Roman" panose="02020603050405020304" pitchFamily="18" charset="0"/>
                <a:sym typeface="+mn-ea"/>
              </a:rPr>
              <a:t>量子描述中，什么是相格？对于自由度为</a:t>
            </a:r>
            <a:r>
              <a:rPr lang="en-US" altLang="zh-CN" sz="2000" b="1" kern="100" dirty="0">
                <a:solidFill>
                  <a:schemeClr val="tx1"/>
                </a:solidFill>
                <a:ea typeface="宋体" panose="02010600030101010101" pitchFamily="2" charset="-122"/>
                <a:cs typeface="Times New Roman" panose="02020603050405020304" pitchFamily="18" charset="0"/>
                <a:sym typeface="+mn-ea"/>
              </a:rPr>
              <a:t>r</a:t>
            </a:r>
            <a:r>
              <a:rPr lang="zh-CN" altLang="zh-CN" sz="2000" b="1" kern="100" dirty="0">
                <a:solidFill>
                  <a:schemeClr val="tx1"/>
                </a:solidFill>
                <a:ea typeface="宋体" panose="02010600030101010101" pitchFamily="2" charset="-122"/>
                <a:cs typeface="Times New Roman" panose="02020603050405020304" pitchFamily="18" charset="0"/>
                <a:sym typeface="+mn-ea"/>
              </a:rPr>
              <a:t>的粒子，其相空间中的相格大小为多少？</a:t>
            </a:r>
            <a:endParaRPr lang="zh-CN" altLang="zh-CN" sz="2000" b="1" kern="100" dirty="0">
              <a:solidFill>
                <a:schemeClr val="tx1"/>
              </a:solidFill>
              <a:ea typeface="等线" panose="02010600030101010101" charset="-122"/>
              <a:cs typeface="Times New Roman" panose="02020603050405020304" pitchFamily="18" charset="0"/>
            </a:endParaRPr>
          </a:p>
          <a:p>
            <a:pPr marL="342900" lvl="0" indent="-342900" algn="just">
              <a:lnSpc>
                <a:spcPct val="120000"/>
              </a:lnSpc>
              <a:spcAft>
                <a:spcPts val="0"/>
              </a:spcAft>
              <a:buFont typeface="+mj-lt"/>
              <a:buAutoNum type="arabicPeriod"/>
              <a:tabLst>
                <a:tab pos="457200" algn="l"/>
              </a:tabLst>
            </a:pPr>
            <a:r>
              <a:rPr lang="zh-CN" altLang="zh-CN" sz="2000" b="1" kern="100" dirty="0">
                <a:solidFill>
                  <a:schemeClr val="tx1"/>
                </a:solidFill>
                <a:ea typeface="宋体" panose="02010600030101010101" pitchFamily="2" charset="-122"/>
                <a:cs typeface="Times New Roman" panose="02020603050405020304" pitchFamily="18" charset="0"/>
                <a:sym typeface="+mn-ea"/>
              </a:rPr>
              <a:t>计算体积为</a:t>
            </a:r>
            <a:r>
              <a:rPr lang="en-US" altLang="zh-CN" sz="2000" b="1" kern="100" dirty="0">
                <a:solidFill>
                  <a:schemeClr val="tx1"/>
                </a:solidFill>
                <a:ea typeface="宋体" panose="02010600030101010101" pitchFamily="2" charset="-122"/>
                <a:cs typeface="Times New Roman" panose="02020603050405020304" pitchFamily="18" charset="0"/>
                <a:sym typeface="+mn-ea"/>
              </a:rPr>
              <a:t>V</a:t>
            </a:r>
            <a:r>
              <a:rPr lang="zh-CN" altLang="zh-CN" sz="2000" b="1" kern="100" dirty="0">
                <a:solidFill>
                  <a:schemeClr val="tx1"/>
                </a:solidFill>
                <a:ea typeface="宋体" panose="02010600030101010101" pitchFamily="2" charset="-122"/>
                <a:cs typeface="Times New Roman" panose="02020603050405020304" pitchFamily="18" charset="0"/>
                <a:sym typeface="+mn-ea"/>
              </a:rPr>
              <a:t>的三维空间自由粒子等能面所包围的微观态数</a:t>
            </a:r>
            <a:endParaRPr lang="zh-CN" altLang="zh-CN" sz="2000" b="1" kern="100" dirty="0">
              <a:solidFill>
                <a:schemeClr val="tx1"/>
              </a:solidFill>
              <a:ea typeface="等线" panose="02010600030101010101" charset="-122"/>
              <a:cs typeface="Times New Roman" panose="02020603050405020304" pitchFamily="18" charset="0"/>
            </a:endParaRPr>
          </a:p>
          <a:p>
            <a:pPr marL="342900" lvl="0" indent="-342900" algn="just">
              <a:lnSpc>
                <a:spcPct val="120000"/>
              </a:lnSpc>
              <a:spcAft>
                <a:spcPts val="0"/>
              </a:spcAft>
              <a:buFont typeface="+mj-lt"/>
              <a:buAutoNum type="arabicPeriod"/>
              <a:tabLst>
                <a:tab pos="457200" algn="l"/>
              </a:tabLst>
            </a:pPr>
            <a:r>
              <a:rPr lang="zh-CN" altLang="zh-CN" sz="2000" b="1" kern="100" dirty="0" smtClean="0">
                <a:solidFill>
                  <a:schemeClr val="tx1"/>
                </a:solidFill>
                <a:ea typeface="宋体" panose="02010600030101010101" pitchFamily="2" charset="-122"/>
                <a:cs typeface="Times New Roman" panose="02020603050405020304" pitchFamily="18" charset="0"/>
                <a:sym typeface="+mn-ea"/>
              </a:rPr>
              <a:t>什</a:t>
            </a:r>
            <a:r>
              <a:rPr lang="zh-CN" altLang="zh-CN" sz="2000" b="1" kern="100" dirty="0">
                <a:solidFill>
                  <a:schemeClr val="tx1"/>
                </a:solidFill>
                <a:ea typeface="宋体" panose="02010600030101010101" pitchFamily="2" charset="-122"/>
                <a:cs typeface="Times New Roman" panose="02020603050405020304" pitchFamily="18" charset="0"/>
                <a:sym typeface="+mn-ea"/>
              </a:rPr>
              <a:t>么是</a:t>
            </a:r>
            <a:r>
              <a:rPr lang="zh-CN" altLang="en-US" sz="2000" b="1" kern="100" dirty="0">
                <a:solidFill>
                  <a:schemeClr val="tx1"/>
                </a:solidFill>
                <a:ea typeface="宋体" panose="02010600030101010101" pitchFamily="2" charset="-122"/>
                <a:cs typeface="Times New Roman" panose="02020603050405020304" pitchFamily="18" charset="0"/>
                <a:sym typeface="+mn-ea"/>
              </a:rPr>
              <a:t>定域子，什么是</a:t>
            </a:r>
            <a:r>
              <a:rPr lang="zh-CN" altLang="zh-CN" sz="2000" b="1" kern="100" dirty="0">
                <a:solidFill>
                  <a:schemeClr val="tx1"/>
                </a:solidFill>
                <a:ea typeface="宋体" panose="02010600030101010101" pitchFamily="2" charset="-122"/>
                <a:cs typeface="Times New Roman" panose="02020603050405020304" pitchFamily="18" charset="0"/>
                <a:sym typeface="+mn-ea"/>
              </a:rPr>
              <a:t>费米子，什么是玻色</a:t>
            </a:r>
            <a:r>
              <a:rPr lang="zh-CN" altLang="zh-CN" sz="2000" b="1" kern="100" dirty="0" smtClean="0">
                <a:solidFill>
                  <a:schemeClr val="tx1"/>
                </a:solidFill>
                <a:ea typeface="宋体" panose="02010600030101010101" pitchFamily="2" charset="-122"/>
                <a:cs typeface="Times New Roman" panose="02020603050405020304" pitchFamily="18" charset="0"/>
                <a:sym typeface="+mn-ea"/>
              </a:rPr>
              <a:t>子</a:t>
            </a:r>
            <a:r>
              <a:rPr lang="zh-CN" altLang="en-US" sz="2000" b="1" kern="100" dirty="0" smtClean="0">
                <a:solidFill>
                  <a:schemeClr val="tx1"/>
                </a:solidFill>
                <a:ea typeface="宋体" panose="02010600030101010101" pitchFamily="2" charset="-122"/>
                <a:cs typeface="Times New Roman" panose="02020603050405020304" pitchFamily="18" charset="0"/>
                <a:sym typeface="+mn-ea"/>
              </a:rPr>
              <a:t>，</a:t>
            </a:r>
            <a:r>
              <a:rPr lang="zh-CN" altLang="zh-CN" sz="2000" b="1" kern="100" dirty="0" smtClean="0">
                <a:solidFill>
                  <a:schemeClr val="tx1"/>
                </a:solidFill>
                <a:ea typeface="宋体" panose="02010600030101010101" pitchFamily="2" charset="-122"/>
                <a:cs typeface="Times New Roman" panose="02020603050405020304" pitchFamily="18" charset="0"/>
                <a:sym typeface="+mn-ea"/>
              </a:rPr>
              <a:t>有</a:t>
            </a:r>
            <a:r>
              <a:rPr lang="zh-CN" altLang="zh-CN" sz="2000" b="1" kern="100" dirty="0">
                <a:solidFill>
                  <a:schemeClr val="tx1"/>
                </a:solidFill>
                <a:ea typeface="宋体" panose="02010600030101010101" pitchFamily="2" charset="-122"/>
                <a:cs typeface="Times New Roman" panose="02020603050405020304" pitchFamily="18" charset="0"/>
                <a:sym typeface="+mn-ea"/>
              </a:rPr>
              <a:t>什么特性</a:t>
            </a:r>
            <a:r>
              <a:rPr lang="zh-CN" altLang="zh-CN" sz="2000" b="1" kern="100" dirty="0" smtClean="0">
                <a:solidFill>
                  <a:schemeClr val="tx1"/>
                </a:solidFill>
                <a:ea typeface="宋体" panose="02010600030101010101" pitchFamily="2" charset="-122"/>
                <a:cs typeface="Times New Roman" panose="02020603050405020304" pitchFamily="18" charset="0"/>
                <a:sym typeface="+mn-ea"/>
              </a:rPr>
              <a:t>？</a:t>
            </a:r>
            <a:r>
              <a:rPr lang="zh-CN" altLang="en-US" sz="2000" b="1" kern="100" dirty="0" smtClean="0">
                <a:solidFill>
                  <a:schemeClr val="tx1"/>
                </a:solidFill>
                <a:ea typeface="宋体" panose="02010600030101010101" pitchFamily="2" charset="-122"/>
                <a:cs typeface="Times New Roman" panose="02020603050405020304" pitchFamily="18" charset="0"/>
                <a:sym typeface="+mn-ea"/>
              </a:rPr>
              <a:t>对应的</a:t>
            </a:r>
            <a:r>
              <a:rPr lang="zh-CN" altLang="en-US" sz="2000" b="1" kern="100" dirty="0" smtClean="0">
                <a:ea typeface="宋体" panose="02010600030101010101" pitchFamily="2" charset="-122"/>
                <a:cs typeface="Times New Roman" panose="02020603050405020304" pitchFamily="18" charset="0"/>
                <a:sym typeface="+mn-ea"/>
              </a:rPr>
              <a:t>统计公式极其随温度的变化特点等</a:t>
            </a:r>
            <a:endParaRPr lang="zh-CN" altLang="zh-CN" sz="2000" b="1" kern="100" dirty="0">
              <a:solidFill>
                <a:schemeClr val="tx1"/>
              </a:solidFill>
              <a:ea typeface="等线" panose="02010600030101010101" charset="-122"/>
              <a:cs typeface="Times New Roman" panose="02020603050405020304" pitchFamily="18" charset="0"/>
            </a:endParaRPr>
          </a:p>
          <a:p>
            <a:pPr marL="342900" lvl="0" indent="-342900" algn="just">
              <a:lnSpc>
                <a:spcPct val="120000"/>
              </a:lnSpc>
              <a:spcAft>
                <a:spcPts val="0"/>
              </a:spcAft>
              <a:buFont typeface="+mj-lt"/>
              <a:buAutoNum type="arabicPeriod"/>
              <a:tabLst>
                <a:tab pos="457200" algn="l"/>
              </a:tabLst>
            </a:pPr>
            <a:r>
              <a:rPr lang="zh-CN" altLang="zh-CN" sz="2000" b="1" kern="100" dirty="0" smtClean="0">
                <a:solidFill>
                  <a:schemeClr val="tx1"/>
                </a:solidFill>
                <a:ea typeface="宋体" panose="02010600030101010101" pitchFamily="2" charset="-122"/>
                <a:cs typeface="Times New Roman" panose="02020603050405020304" pitchFamily="18" charset="0"/>
                <a:sym typeface="+mn-ea"/>
              </a:rPr>
              <a:t>宏</a:t>
            </a:r>
            <a:r>
              <a:rPr lang="zh-CN" altLang="zh-CN" sz="2000" b="1" kern="100" dirty="0">
                <a:solidFill>
                  <a:schemeClr val="tx1"/>
                </a:solidFill>
                <a:ea typeface="宋体" panose="02010600030101010101" pitchFamily="2" charset="-122"/>
                <a:cs typeface="Times New Roman" panose="02020603050405020304" pitchFamily="18" charset="0"/>
                <a:sym typeface="+mn-ea"/>
              </a:rPr>
              <a:t>观状态</a:t>
            </a:r>
            <a:r>
              <a:rPr lang="zh-CN" altLang="en-US" sz="2000" b="1" kern="100" dirty="0">
                <a:solidFill>
                  <a:schemeClr val="tx1"/>
                </a:solidFill>
                <a:ea typeface="宋体" panose="02010600030101010101" pitchFamily="2" charset="-122"/>
                <a:cs typeface="Times New Roman" panose="02020603050405020304" pitchFamily="18" charset="0"/>
                <a:sym typeface="+mn-ea"/>
              </a:rPr>
              <a:t>（热力学定义）</a:t>
            </a:r>
            <a:r>
              <a:rPr lang="zh-CN" altLang="zh-CN" sz="2000" b="1" kern="100" dirty="0">
                <a:solidFill>
                  <a:schemeClr val="tx1"/>
                </a:solidFill>
                <a:ea typeface="宋体" panose="02010600030101010101" pitchFamily="2" charset="-122"/>
                <a:cs typeface="Times New Roman" panose="02020603050405020304" pitchFamily="18" charset="0"/>
                <a:sym typeface="+mn-ea"/>
              </a:rPr>
              <a:t>、分布、微观状态之间的关系</a:t>
            </a:r>
            <a:endParaRPr lang="zh-CN" altLang="zh-CN" sz="2000" b="1" kern="100" dirty="0">
              <a:solidFill>
                <a:schemeClr val="tx1"/>
              </a:solidFill>
              <a:ea typeface="等线" panose="02010600030101010101" charset="-122"/>
              <a:cs typeface="Times New Roman" panose="02020603050405020304" pitchFamily="18" charset="0"/>
            </a:endParaRPr>
          </a:p>
          <a:p>
            <a:pPr marL="342900" lvl="0" indent="-342900" algn="just">
              <a:lnSpc>
                <a:spcPct val="120000"/>
              </a:lnSpc>
              <a:spcAft>
                <a:spcPts val="0"/>
              </a:spcAft>
              <a:buFont typeface="+mj-lt"/>
              <a:buAutoNum type="arabicPeriod"/>
              <a:tabLst>
                <a:tab pos="457200" algn="l"/>
              </a:tabLst>
            </a:pPr>
            <a:r>
              <a:rPr lang="zh-CN" altLang="zh-CN" sz="2000" b="1" kern="100" dirty="0" smtClean="0">
                <a:solidFill>
                  <a:schemeClr val="tx1"/>
                </a:solidFill>
                <a:ea typeface="宋体" panose="02010600030101010101" pitchFamily="2" charset="-122"/>
                <a:cs typeface="Times New Roman" panose="02020603050405020304" pitchFamily="18" charset="0"/>
                <a:sym typeface="+mn-ea"/>
              </a:rPr>
              <a:t>什等</a:t>
            </a:r>
            <a:r>
              <a:rPr lang="zh-CN" altLang="zh-CN" sz="2000" b="1" kern="100" dirty="0">
                <a:solidFill>
                  <a:schemeClr val="tx1"/>
                </a:solidFill>
                <a:ea typeface="宋体" panose="02010600030101010101" pitchFamily="2" charset="-122"/>
                <a:cs typeface="Times New Roman" panose="02020603050405020304" pitchFamily="18" charset="0"/>
                <a:sym typeface="+mn-ea"/>
              </a:rPr>
              <a:t>概率原理</a:t>
            </a:r>
            <a:r>
              <a:rPr lang="zh-CN" altLang="en-US" sz="2000" b="1" kern="100" dirty="0">
                <a:solidFill>
                  <a:schemeClr val="tx1"/>
                </a:solidFill>
                <a:ea typeface="宋体" panose="02010600030101010101" pitchFamily="2" charset="-122"/>
                <a:cs typeface="Times New Roman" panose="02020603050405020304" pitchFamily="18" charset="0"/>
                <a:sym typeface="+mn-ea"/>
              </a:rPr>
              <a:t>，什么是热力学几率</a:t>
            </a:r>
            <a:r>
              <a:rPr lang="zh-CN" altLang="zh-CN" sz="2000" b="1" kern="100" dirty="0">
                <a:solidFill>
                  <a:schemeClr val="tx1"/>
                </a:solidFill>
                <a:ea typeface="宋体" panose="02010600030101010101" pitchFamily="2" charset="-122"/>
                <a:cs typeface="Times New Roman" panose="02020603050405020304" pitchFamily="18" charset="0"/>
                <a:sym typeface="+mn-ea"/>
              </a:rPr>
              <a:t>？什么是最概然分布。</a:t>
            </a:r>
            <a:endParaRPr lang="en-US" altLang="zh-CN" sz="2000" b="1" strike="sngStrike" kern="100" dirty="0">
              <a:solidFill>
                <a:schemeClr val="tx1"/>
              </a:solidFill>
              <a:ea typeface="宋体" panose="02010600030101010101" pitchFamily="2" charset="-122"/>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4"/>
          <p:cNvSpPr txBox="1">
            <a:spLocks noChangeArrowheads="1"/>
          </p:cNvSpPr>
          <p:nvPr/>
        </p:nvSpPr>
        <p:spPr bwMode="auto">
          <a:xfrm>
            <a:off x="251391" y="547371"/>
            <a:ext cx="7792153" cy="463846"/>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3600" tIns="46800" rIns="93600" bIns="46800">
            <a:spAutoFit/>
          </a:bodyPr>
          <a:lstStyle/>
          <a:p>
            <a:pPr>
              <a:spcBef>
                <a:spcPct val="50000"/>
              </a:spcBef>
            </a:pPr>
            <a:r>
              <a:rPr lang="en-US" altLang="zh-CN" sz="2400" b="1" dirty="0"/>
              <a:t>【</a:t>
            </a:r>
            <a:r>
              <a:rPr lang="zh-CN" altLang="en-US" sz="2400" b="1" dirty="0"/>
              <a:t>例</a:t>
            </a:r>
            <a:r>
              <a:rPr lang="en-US" altLang="zh-CN" sz="2400" b="1" dirty="0"/>
              <a:t>】</a:t>
            </a:r>
            <a:r>
              <a:rPr lang="zh-CN" altLang="en-US" sz="2400" b="1" dirty="0"/>
              <a:t>　</a:t>
            </a:r>
            <a:r>
              <a:rPr lang="en-US" altLang="zh-CN" sz="2400" b="1" dirty="0"/>
              <a:t>V</a:t>
            </a:r>
            <a:r>
              <a:rPr lang="zh-CN" altLang="en-US" sz="2400" b="1" dirty="0"/>
              <a:t>一定，</a:t>
            </a:r>
            <a:r>
              <a:rPr lang="en-US" altLang="zh-CN" sz="2400" b="1" dirty="0"/>
              <a:t>N=2</a:t>
            </a:r>
            <a:r>
              <a:rPr lang="zh-CN" altLang="en-US" sz="2400" b="1" dirty="0"/>
              <a:t>，</a:t>
            </a:r>
            <a:r>
              <a:rPr lang="en-US" altLang="zh-CN" sz="2400" b="1" dirty="0"/>
              <a:t>E=2</a:t>
            </a:r>
            <a:r>
              <a:rPr lang="zh-CN" altLang="en-US" sz="2400" b="1" dirty="0"/>
              <a:t>的宏观状态，求分布</a:t>
            </a:r>
            <a:r>
              <a:rPr lang="zh-CN" altLang="en-US" sz="2400" b="1" dirty="0">
                <a:sym typeface="Symbol" panose="05050102010706020507" pitchFamily="18" charset="2"/>
              </a:rPr>
              <a:t></a:t>
            </a:r>
            <a:r>
              <a:rPr lang="en-US" altLang="zh-CN" sz="2400" b="1" dirty="0"/>
              <a:t>a</a:t>
            </a:r>
            <a:r>
              <a:rPr lang="en-US" altLang="zh-CN" sz="2400" b="1" i="1" baseline="-25000" dirty="0"/>
              <a:t>l</a:t>
            </a:r>
            <a:r>
              <a:rPr lang="en-US" altLang="zh-CN" sz="2400" b="1" dirty="0">
                <a:sym typeface="Symbol" panose="05050102010706020507" pitchFamily="18" charset="2"/>
              </a:rPr>
              <a:t></a:t>
            </a:r>
            <a:r>
              <a:rPr lang="en-US" altLang="zh-CN" sz="2400" b="1" dirty="0"/>
              <a:t> </a:t>
            </a:r>
            <a:r>
              <a:rPr lang="zh-CN" altLang="en-US" sz="2400" b="1" dirty="0"/>
              <a:t>．</a:t>
            </a:r>
            <a:endParaRPr lang="zh-CN" altLang="en-US" sz="2400" b="1" dirty="0"/>
          </a:p>
        </p:txBody>
      </p:sp>
      <p:sp>
        <p:nvSpPr>
          <p:cNvPr id="19" name="Text Box 6"/>
          <p:cNvSpPr txBox="1">
            <a:spLocks noChangeArrowheads="1"/>
          </p:cNvSpPr>
          <p:nvPr/>
        </p:nvSpPr>
        <p:spPr bwMode="auto">
          <a:xfrm>
            <a:off x="1474788" y="1010893"/>
            <a:ext cx="5539852" cy="463846"/>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254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spAutoFit/>
          </a:bodyPr>
          <a:lstStyle/>
          <a:p>
            <a:r>
              <a:rPr lang="zh-CN" altLang="en-US" sz="2400" b="1" dirty="0"/>
              <a:t>能    级  </a:t>
            </a:r>
            <a:r>
              <a:rPr lang="en-US" altLang="zh-CN" sz="2400" b="1" i="1" dirty="0">
                <a:cs typeface="Arial" panose="020B0604020202020204" pitchFamily="34" charset="0"/>
              </a:rPr>
              <a:t>ε</a:t>
            </a:r>
            <a:r>
              <a:rPr lang="zh-CN" altLang="en-US" sz="2400" b="1" baseline="-25000" dirty="0">
                <a:cs typeface="Arial" panose="020B0604020202020204" pitchFamily="34" charset="0"/>
              </a:rPr>
              <a:t>１</a:t>
            </a:r>
            <a:r>
              <a:rPr lang="en-US" altLang="zh-CN" sz="2400" b="1" dirty="0"/>
              <a:t>=0</a:t>
            </a:r>
            <a:r>
              <a:rPr lang="zh-CN" altLang="en-US" sz="2400" b="1" dirty="0"/>
              <a:t>　 </a:t>
            </a:r>
            <a:r>
              <a:rPr lang="en-US" altLang="zh-CN" sz="2400" b="1" i="1" dirty="0">
                <a:cs typeface="Arial" panose="020B0604020202020204" pitchFamily="34" charset="0"/>
              </a:rPr>
              <a:t>ε</a:t>
            </a:r>
            <a:r>
              <a:rPr lang="zh-CN" altLang="en-US" sz="2400" b="1" baseline="-25000" dirty="0">
                <a:cs typeface="Arial" panose="020B0604020202020204" pitchFamily="34" charset="0"/>
              </a:rPr>
              <a:t>２</a:t>
            </a:r>
            <a:r>
              <a:rPr lang="en-US" altLang="zh-CN" sz="2400" b="1" dirty="0"/>
              <a:t>=1</a:t>
            </a:r>
            <a:r>
              <a:rPr lang="zh-CN" altLang="en-US" sz="2400" b="1" dirty="0"/>
              <a:t> </a:t>
            </a:r>
            <a:r>
              <a:rPr lang="zh-CN" altLang="en-US" sz="2400" b="1" i="1" dirty="0"/>
              <a:t>　 </a:t>
            </a:r>
            <a:r>
              <a:rPr lang="en-US" altLang="zh-CN" sz="2400" b="1" i="1" dirty="0">
                <a:cs typeface="Arial" panose="020B0604020202020204" pitchFamily="34" charset="0"/>
              </a:rPr>
              <a:t>ε</a:t>
            </a:r>
            <a:r>
              <a:rPr lang="zh-CN" altLang="en-US" sz="2400" b="1" baseline="-25000" dirty="0">
                <a:cs typeface="Arial" panose="020B0604020202020204" pitchFamily="34" charset="0"/>
              </a:rPr>
              <a:t>３</a:t>
            </a:r>
            <a:r>
              <a:rPr lang="en-US" altLang="zh-CN" sz="2400" b="1" dirty="0"/>
              <a:t>=2</a:t>
            </a:r>
            <a:r>
              <a:rPr lang="zh-CN" altLang="en-US" sz="2400" b="1" dirty="0"/>
              <a:t>　  </a:t>
            </a:r>
            <a:r>
              <a:rPr lang="en-US" altLang="zh-CN" sz="2400" b="1" i="1" dirty="0"/>
              <a:t>ε</a:t>
            </a:r>
            <a:r>
              <a:rPr lang="zh-CN" altLang="en-US" sz="2400" b="1" baseline="-25000" dirty="0"/>
              <a:t>４</a:t>
            </a:r>
            <a:r>
              <a:rPr lang="en-US" altLang="zh-CN" sz="2400" b="1" dirty="0"/>
              <a:t>=3</a:t>
            </a:r>
            <a:r>
              <a:rPr lang="zh-CN" altLang="en-US" sz="2400" b="1" dirty="0"/>
              <a:t>　</a:t>
            </a:r>
            <a:endParaRPr lang="zh-CN" altLang="en-US" sz="2400" b="1" dirty="0"/>
          </a:p>
        </p:txBody>
      </p:sp>
      <p:sp>
        <p:nvSpPr>
          <p:cNvPr id="20" name="Text Box 8"/>
          <p:cNvSpPr txBox="1">
            <a:spLocks noChangeArrowheads="1"/>
          </p:cNvSpPr>
          <p:nvPr/>
        </p:nvSpPr>
        <p:spPr bwMode="auto">
          <a:xfrm>
            <a:off x="1474788" y="1546028"/>
            <a:ext cx="5305813" cy="463846"/>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254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3600" tIns="46800" rIns="93600" bIns="46800">
            <a:spAutoFit/>
          </a:bodyPr>
          <a:lstStyle/>
          <a:p>
            <a:r>
              <a:rPr lang="zh-CN" altLang="en-US" sz="2400" b="1" dirty="0"/>
              <a:t>简并度  </a:t>
            </a:r>
            <a:r>
              <a:rPr lang="en-US" altLang="zh-CN" sz="2400" b="1" i="1" dirty="0">
                <a:cs typeface="Times New Roman" panose="02020603050405020304" pitchFamily="18" charset="0"/>
              </a:rPr>
              <a:t>ω</a:t>
            </a:r>
            <a:r>
              <a:rPr lang="zh-CN" altLang="en-US" sz="2400" b="1" baseline="-25000" dirty="0">
                <a:cs typeface="Arial" panose="020B0604020202020204" pitchFamily="34" charset="0"/>
              </a:rPr>
              <a:t>１</a:t>
            </a:r>
            <a:r>
              <a:rPr lang="en-US" altLang="zh-CN" sz="2400" b="1" dirty="0"/>
              <a:t>=1</a:t>
            </a:r>
            <a:r>
              <a:rPr lang="zh-CN" altLang="en-US" sz="2400" b="1" dirty="0"/>
              <a:t>　</a:t>
            </a:r>
            <a:r>
              <a:rPr lang="en-US" altLang="zh-CN" sz="2400" b="1" i="1" dirty="0">
                <a:cs typeface="Times New Roman" panose="02020603050405020304" pitchFamily="18" charset="0"/>
              </a:rPr>
              <a:t>ω</a:t>
            </a:r>
            <a:r>
              <a:rPr lang="zh-CN" altLang="en-US" sz="2400" b="1" baseline="-25000" dirty="0">
                <a:cs typeface="Arial" panose="020B0604020202020204" pitchFamily="34" charset="0"/>
              </a:rPr>
              <a:t>２</a:t>
            </a:r>
            <a:r>
              <a:rPr lang="en-US" altLang="zh-CN" sz="2400" b="1" dirty="0"/>
              <a:t>=3</a:t>
            </a:r>
            <a:r>
              <a:rPr lang="zh-CN" altLang="en-US" sz="2400" b="1" i="1" dirty="0"/>
              <a:t>    </a:t>
            </a:r>
            <a:r>
              <a:rPr lang="en-US" altLang="zh-CN" sz="2400" b="1" i="1" dirty="0">
                <a:cs typeface="Times New Roman" panose="02020603050405020304" pitchFamily="18" charset="0"/>
              </a:rPr>
              <a:t>ω</a:t>
            </a:r>
            <a:r>
              <a:rPr lang="zh-CN" altLang="en-US" sz="2400" b="1" baseline="-25000" dirty="0">
                <a:cs typeface="Arial" panose="020B0604020202020204" pitchFamily="34" charset="0"/>
              </a:rPr>
              <a:t>３</a:t>
            </a:r>
            <a:r>
              <a:rPr lang="en-US" altLang="zh-CN" sz="2400" b="1" dirty="0"/>
              <a:t>=2</a:t>
            </a:r>
            <a:r>
              <a:rPr lang="zh-CN" altLang="en-US" sz="2400" b="1" dirty="0"/>
              <a:t>     </a:t>
            </a:r>
            <a:r>
              <a:rPr lang="en-US" altLang="zh-CN" sz="2400" b="1" i="1" dirty="0"/>
              <a:t>ω</a:t>
            </a:r>
            <a:r>
              <a:rPr lang="zh-CN" altLang="en-US" sz="2400" b="1" baseline="-25000" dirty="0"/>
              <a:t>４</a:t>
            </a:r>
            <a:r>
              <a:rPr lang="en-US" altLang="zh-CN" sz="2400" b="1" dirty="0"/>
              <a:t>=1</a:t>
            </a:r>
            <a:endParaRPr lang="zh-CN" altLang="en-US" sz="2400" b="1" dirty="0"/>
          </a:p>
        </p:txBody>
      </p:sp>
      <p:sp>
        <p:nvSpPr>
          <p:cNvPr id="21" name="Text Box 9"/>
          <p:cNvSpPr txBox="1">
            <a:spLocks noChangeArrowheads="1"/>
          </p:cNvSpPr>
          <p:nvPr/>
        </p:nvSpPr>
        <p:spPr bwMode="auto">
          <a:xfrm>
            <a:off x="371864" y="1975079"/>
            <a:ext cx="6408737" cy="463846"/>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600" tIns="46800" rIns="93600" bIns="46800">
            <a:spAutoFit/>
          </a:bodyPr>
          <a:lstStyle/>
          <a:p>
            <a:pPr>
              <a:spcBef>
                <a:spcPct val="50000"/>
              </a:spcBef>
            </a:pPr>
            <a:r>
              <a:rPr lang="en-US" altLang="zh-CN" sz="2400" b="1" dirty="0"/>
              <a:t>【</a:t>
            </a:r>
            <a:r>
              <a:rPr lang="zh-CN" altLang="en-US" sz="2400" b="1" dirty="0"/>
              <a:t>解</a:t>
            </a:r>
            <a:r>
              <a:rPr lang="en-US" altLang="zh-CN" sz="2400" b="1" dirty="0"/>
              <a:t>】</a:t>
            </a:r>
            <a:r>
              <a:rPr lang="zh-CN" altLang="en-US" sz="2400" b="1" dirty="0"/>
              <a:t>所求的分布必须满足</a:t>
            </a:r>
            <a:endParaRPr lang="zh-CN" altLang="en-US" sz="2400" b="1" dirty="0"/>
          </a:p>
        </p:txBody>
      </p:sp>
      <p:graphicFrame>
        <p:nvGraphicFramePr>
          <p:cNvPr id="22" name="Object 10"/>
          <p:cNvGraphicFramePr/>
          <p:nvPr/>
        </p:nvGraphicFramePr>
        <p:xfrm>
          <a:off x="1907540" y="2518093"/>
          <a:ext cx="2270125" cy="617537"/>
        </p:xfrm>
        <a:graphic>
          <a:graphicData uri="http://schemas.openxmlformats.org/presentationml/2006/ole">
            <mc:AlternateContent xmlns:mc="http://schemas.openxmlformats.org/markup-compatibility/2006">
              <mc:Choice xmlns:v="urn:schemas-microsoft-com:vml" Requires="v">
                <p:oleObj spid="_x0000_s216396" name="Equation" r:id="rId1" imgW="21031200" imgH="8229600" progId="Equation.DSMT4">
                  <p:embed/>
                </p:oleObj>
              </mc:Choice>
              <mc:Fallback>
                <p:oleObj name="Equation" r:id="rId1" imgW="21031200" imgH="8229600" progId="Equation.DSMT4">
                  <p:embed/>
                  <p:pic>
                    <p:nvPicPr>
                      <p:cNvPr id="0" name="Object 10"/>
                      <p:cNvPicPr>
                        <a:picLocks noChangeArrowheads="1"/>
                      </p:cNvPicPr>
                      <p:nvPr/>
                    </p:nvPicPr>
                    <p:blipFill>
                      <a:blip r:embed="rId2"/>
                      <a:srcRect/>
                      <a:stretch>
                        <a:fillRect/>
                      </a:stretch>
                    </p:blipFill>
                    <p:spPr bwMode="auto">
                      <a:xfrm>
                        <a:off x="1907540" y="2518093"/>
                        <a:ext cx="2270125" cy="617537"/>
                      </a:xfrm>
                      <a:prstGeom prst="rect">
                        <a:avLst/>
                      </a:prstGeom>
                      <a:noFill/>
                    </p:spPr>
                  </p:pic>
                </p:oleObj>
              </mc:Fallback>
            </mc:AlternateContent>
          </a:graphicData>
        </a:graphic>
      </p:graphicFrame>
      <p:graphicFrame>
        <p:nvGraphicFramePr>
          <p:cNvPr id="23" name="Object 11"/>
          <p:cNvGraphicFramePr/>
          <p:nvPr/>
        </p:nvGraphicFramePr>
        <p:xfrm>
          <a:off x="4788042" y="2522007"/>
          <a:ext cx="1895792" cy="565575"/>
        </p:xfrm>
        <a:graphic>
          <a:graphicData uri="http://schemas.openxmlformats.org/presentationml/2006/ole">
            <mc:AlternateContent xmlns:mc="http://schemas.openxmlformats.org/markup-compatibility/2006">
              <mc:Choice xmlns:v="urn:schemas-microsoft-com:vml" Requires="v">
                <p:oleObj spid="_x0000_s216397" name="Equation" r:id="rId3" imgW="23164800" imgH="8229600" progId="Equation.DSMT4">
                  <p:embed/>
                </p:oleObj>
              </mc:Choice>
              <mc:Fallback>
                <p:oleObj name="Equation" r:id="rId3" imgW="23164800" imgH="8229600" progId="Equation.DSMT4">
                  <p:embed/>
                  <p:pic>
                    <p:nvPicPr>
                      <p:cNvPr id="0" name="Object 11"/>
                      <p:cNvPicPr>
                        <a:picLocks noChangeArrowheads="1"/>
                      </p:cNvPicPr>
                      <p:nvPr/>
                    </p:nvPicPr>
                    <p:blipFill>
                      <a:blip r:embed="rId4"/>
                      <a:srcRect/>
                      <a:stretch>
                        <a:fillRect/>
                      </a:stretch>
                    </p:blipFill>
                    <p:spPr bwMode="auto">
                      <a:xfrm>
                        <a:off x="4788042" y="2522007"/>
                        <a:ext cx="1895792" cy="565575"/>
                      </a:xfrm>
                      <a:prstGeom prst="rect">
                        <a:avLst/>
                      </a:prstGeom>
                      <a:noFill/>
                    </p:spPr>
                  </p:pic>
                </p:oleObj>
              </mc:Fallback>
            </mc:AlternateContent>
          </a:graphicData>
        </a:graphic>
      </p:graphicFrame>
      <p:graphicFrame>
        <p:nvGraphicFramePr>
          <p:cNvPr id="4" name="表格 3"/>
          <p:cNvGraphicFramePr>
            <a:graphicFrameLocks noGrp="1"/>
          </p:cNvGraphicFramePr>
          <p:nvPr/>
        </p:nvGraphicFramePr>
        <p:xfrm>
          <a:off x="382922" y="3226228"/>
          <a:ext cx="4508484" cy="2259132"/>
        </p:xfrm>
        <a:graphic>
          <a:graphicData uri="http://schemas.openxmlformats.org/drawingml/2006/table">
            <a:tbl>
              <a:tblPr firstRow="1" bandRow="1">
                <a:tableStyleId>{7DF18680-E054-41AD-8BC1-D1AEF772440D}</a:tableStyleId>
              </a:tblPr>
              <a:tblGrid>
                <a:gridCol w="901697"/>
                <a:gridCol w="1473186"/>
                <a:gridCol w="752475"/>
                <a:gridCol w="542925"/>
                <a:gridCol w="838201"/>
              </a:tblGrid>
              <a:tr h="649789">
                <a:tc>
                  <a:txBody>
                    <a:bodyPr/>
                    <a:lstStyle/>
                    <a:p>
                      <a:pPr algn="ctr"/>
                      <a:r>
                        <a:rPr lang="zh-CN" altLang="en-US" dirty="0"/>
                        <a:t>能级</a:t>
                      </a:r>
                      <a:endParaRPr lang="zh-CN" altLang="en-US" dirty="0"/>
                    </a:p>
                  </a:txBody>
                  <a:tcPr anchor="ctr"/>
                </a:tc>
                <a:tc>
                  <a:txBody>
                    <a:bodyPr/>
                    <a:lstStyle/>
                    <a:p>
                      <a:pPr algn="ctr"/>
                      <a:r>
                        <a:rPr lang="zh-CN" altLang="en-US" dirty="0"/>
                        <a:t>简并度</a:t>
                      </a:r>
                      <a:endParaRPr lang="en-US" altLang="zh-CN" dirty="0"/>
                    </a:p>
                    <a:p>
                      <a:pPr algn="ctr"/>
                      <a:r>
                        <a:rPr lang="zh-CN" altLang="en-US" dirty="0"/>
                        <a:t>（量子态数）</a:t>
                      </a:r>
                      <a:endParaRPr lang="zh-CN" altLang="en-US" dirty="0"/>
                    </a:p>
                  </a:txBody>
                  <a:tcPr anchor="ctr"/>
                </a:tc>
                <a:tc>
                  <a:txBody>
                    <a:bodyPr/>
                    <a:lstStyle/>
                    <a:p>
                      <a:pPr algn="ctr"/>
                      <a:r>
                        <a:rPr lang="en-US" altLang="zh-CN" dirty="0"/>
                        <a:t>{</a:t>
                      </a:r>
                      <a:r>
                        <a:rPr lang="en-US" altLang="zh-CN" i="1" dirty="0"/>
                        <a:t>a</a:t>
                      </a:r>
                      <a:r>
                        <a:rPr lang="en-US" altLang="zh-CN" dirty="0"/>
                        <a:t>1}</a:t>
                      </a:r>
                      <a:endParaRPr lang="zh-CN" alt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dirty="0"/>
                        <a:t>{</a:t>
                      </a:r>
                      <a:r>
                        <a:rPr lang="en-US" altLang="zh-CN" i="1" dirty="0"/>
                        <a:t>a</a:t>
                      </a:r>
                      <a:r>
                        <a:rPr lang="en-US" altLang="zh-CN" dirty="0"/>
                        <a:t>2}</a:t>
                      </a:r>
                      <a:endParaRPr lang="zh-CN" alt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dirty="0"/>
                        <a:t>{</a:t>
                      </a:r>
                      <a:r>
                        <a:rPr lang="en-US" altLang="zh-CN" i="1" dirty="0"/>
                        <a:t>a</a:t>
                      </a:r>
                      <a:r>
                        <a:rPr lang="en-US" altLang="zh-CN" dirty="0"/>
                        <a:t>3}</a:t>
                      </a:r>
                      <a:endParaRPr lang="zh-CN" altLang="en-US" dirty="0"/>
                    </a:p>
                  </a:txBody>
                  <a:tcPr anchor="ctr"/>
                </a:tc>
              </a:tr>
              <a:tr h="402590">
                <a:tc>
                  <a:txBody>
                    <a:bodyPr/>
                    <a:lstStyle/>
                    <a:p>
                      <a:pPr algn="ctr"/>
                      <a:r>
                        <a:rPr lang="en-US" altLang="zh-CN" sz="2000" dirty="0"/>
                        <a:t>ε</a:t>
                      </a:r>
                      <a:r>
                        <a:rPr lang="en-US" altLang="zh-CN" sz="2000" baseline="-25000" dirty="0"/>
                        <a:t>4</a:t>
                      </a:r>
                      <a:r>
                        <a:rPr lang="en-US" altLang="zh-CN" sz="2000" baseline="0" dirty="0"/>
                        <a:t>=3</a:t>
                      </a:r>
                      <a:endParaRPr lang="zh-CN" altLang="en-US" sz="2000"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t>1</a:t>
                      </a:r>
                      <a:endParaRPr lang="zh-CN" altLang="en-US" dirty="0"/>
                    </a:p>
                  </a:txBody>
                  <a:tcPr anchor="ctr"/>
                </a:tc>
              </a:tr>
              <a:tr h="402251">
                <a:tc>
                  <a:txBody>
                    <a:bodyPr/>
                    <a:lstStyle/>
                    <a:p>
                      <a:pPr algn="ctr"/>
                      <a:r>
                        <a:rPr lang="en-US" altLang="zh-CN" sz="2000" dirty="0"/>
                        <a:t>ε</a:t>
                      </a:r>
                      <a:r>
                        <a:rPr lang="en-US" altLang="zh-CN" sz="2000" baseline="-25000" dirty="0"/>
                        <a:t>3</a:t>
                      </a:r>
                      <a:r>
                        <a:rPr lang="en-US" altLang="zh-CN" sz="2000" baseline="0" dirty="0"/>
                        <a:t>=2</a:t>
                      </a:r>
                      <a:endParaRPr lang="zh-CN" altLang="en-US" sz="2000"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t>1</a:t>
                      </a:r>
                      <a:endParaRPr lang="zh-CN" altLang="en-US" dirty="0"/>
                    </a:p>
                  </a:txBody>
                  <a:tcPr anchor="ctr"/>
                </a:tc>
              </a:tr>
              <a:tr h="402251">
                <a:tc>
                  <a:txBody>
                    <a:bodyPr/>
                    <a:lstStyle/>
                    <a:p>
                      <a:pPr algn="ctr"/>
                      <a:r>
                        <a:rPr lang="en-US" altLang="zh-CN" sz="2000" dirty="0"/>
                        <a:t>ε</a:t>
                      </a:r>
                      <a:r>
                        <a:rPr lang="en-US" altLang="zh-CN" sz="2000" baseline="-25000" dirty="0"/>
                        <a:t>2</a:t>
                      </a:r>
                      <a:r>
                        <a:rPr lang="en-US" altLang="zh-CN" sz="2000" baseline="0" dirty="0"/>
                        <a:t>=1</a:t>
                      </a:r>
                      <a:endParaRPr lang="zh-CN" altLang="en-US" sz="2000"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0</a:t>
                      </a:r>
                      <a:endParaRPr lang="zh-CN" altLang="en-US" dirty="0"/>
                    </a:p>
                  </a:txBody>
                  <a:tcPr anchor="ctr"/>
                </a:tc>
              </a:tr>
              <a:tr h="402251">
                <a:tc>
                  <a:txBody>
                    <a:bodyPr/>
                    <a:lstStyle/>
                    <a:p>
                      <a:pPr algn="ctr"/>
                      <a:r>
                        <a:rPr lang="en-US" altLang="zh-CN" sz="2000" dirty="0"/>
                        <a:t>ε</a:t>
                      </a:r>
                      <a:r>
                        <a:rPr lang="en-US" altLang="zh-CN" sz="2000" baseline="-25000" dirty="0"/>
                        <a:t>1</a:t>
                      </a:r>
                      <a:r>
                        <a:rPr lang="en-US" altLang="zh-CN" sz="2000" baseline="0" dirty="0"/>
                        <a:t>=0</a:t>
                      </a:r>
                      <a:endParaRPr lang="zh-CN" altLang="en-US" sz="2000" baseline="0"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0</a:t>
                      </a:r>
                      <a:endParaRPr lang="zh-CN" altLang="en-US" dirty="0"/>
                    </a:p>
                  </a:txBody>
                  <a:tcPr anchor="ctr"/>
                </a:tc>
                <a:tc>
                  <a:txBody>
                    <a:bodyPr/>
                    <a:lstStyle/>
                    <a:p>
                      <a:pPr algn="ctr"/>
                      <a:r>
                        <a:rPr lang="en-US" altLang="zh-CN" dirty="0"/>
                        <a:t>0</a:t>
                      </a:r>
                      <a:endParaRPr lang="zh-CN" altLang="en-US" dirty="0"/>
                    </a:p>
                  </a:txBody>
                  <a:tcPr anchor="ctr"/>
                </a:tc>
              </a:tr>
            </a:tbl>
          </a:graphicData>
        </a:graphic>
      </p:graphicFrame>
      <p:sp>
        <p:nvSpPr>
          <p:cNvPr id="63" name="Text Box 56"/>
          <p:cNvSpPr txBox="1">
            <a:spLocks noChangeArrowheads="1"/>
          </p:cNvSpPr>
          <p:nvPr/>
        </p:nvSpPr>
        <p:spPr bwMode="auto">
          <a:xfrm>
            <a:off x="394970" y="5732780"/>
            <a:ext cx="7442200" cy="46164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3600" tIns="46800" rIns="93600" bIns="46800">
            <a:spAutoFit/>
          </a:bodyPr>
          <a:lstStyle/>
          <a:p>
            <a:pPr>
              <a:spcBef>
                <a:spcPct val="50000"/>
              </a:spcBef>
            </a:pPr>
            <a:r>
              <a:rPr lang="zh-CN" altLang="en-US" sz="2400" b="1" dirty="0">
                <a:latin typeface="Times New Roman" panose="02020603050405020304" pitchFamily="18" charset="0"/>
                <a:cs typeface="Times New Roman" panose="02020603050405020304" pitchFamily="18" charset="0"/>
              </a:rPr>
              <a:t>可能有两种分布：</a:t>
            </a:r>
            <a:r>
              <a:rPr lang="en-US" altLang="zh-CN" sz="2400" b="1" dirty="0">
                <a:latin typeface="Times New Roman" panose="02020603050405020304" pitchFamily="18" charset="0"/>
                <a:cs typeface="Times New Roman" panose="02020603050405020304" pitchFamily="18" charset="0"/>
              </a:rPr>
              <a:t>{1010}</a:t>
            </a:r>
            <a:r>
              <a:rPr lang="zh-CN" altLang="en-US" sz="2400" b="1" dirty="0">
                <a:latin typeface="Times New Roman" panose="02020603050405020304" pitchFamily="18" charset="0"/>
                <a:cs typeface="Times New Roman" panose="02020603050405020304" pitchFamily="18" charset="0"/>
              </a:rPr>
              <a:t>和</a:t>
            </a:r>
            <a:r>
              <a:rPr lang="en-US" altLang="zh-CN" sz="2400" b="1" dirty="0">
                <a:latin typeface="Times New Roman" panose="02020603050405020304" pitchFamily="18" charset="0"/>
                <a:cs typeface="Times New Roman" panose="02020603050405020304" pitchFamily="18" charset="0"/>
              </a:rPr>
              <a:t>{0011}</a:t>
            </a:r>
            <a:endParaRPr lang="en-US" altLang="zh-CN" sz="2400" b="1" dirty="0">
              <a:latin typeface="Times New Roman" panose="02020603050405020304" pitchFamily="18" charset="0"/>
              <a:cs typeface="Times New Roman" panose="02020603050405020304" pitchFamily="18" charset="0"/>
            </a:endParaRPr>
          </a:p>
        </p:txBody>
      </p:sp>
      <p:grpSp>
        <p:nvGrpSpPr>
          <p:cNvPr id="67" name="组合 66"/>
          <p:cNvGrpSpPr/>
          <p:nvPr/>
        </p:nvGrpSpPr>
        <p:grpSpPr>
          <a:xfrm>
            <a:off x="4139248" y="3282743"/>
            <a:ext cx="2680335" cy="2258793"/>
            <a:chOff x="4891088" y="4350178"/>
            <a:chExt cx="2680335" cy="2258793"/>
          </a:xfrm>
        </p:grpSpPr>
        <p:sp>
          <p:nvSpPr>
            <p:cNvPr id="14" name="矩形 13"/>
            <p:cNvSpPr/>
            <p:nvPr/>
          </p:nvSpPr>
          <p:spPr>
            <a:xfrm>
              <a:off x="4891088" y="4350178"/>
              <a:ext cx="700087" cy="22587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a:xfrm>
              <a:off x="6171883" y="4584493"/>
              <a:ext cx="1399540" cy="368300"/>
            </a:xfrm>
            <a:prstGeom prst="rect">
              <a:avLst/>
            </a:prstGeom>
            <a:solidFill>
              <a:srgbClr val="FFFF99"/>
            </a:solidFill>
          </p:spPr>
          <p:txBody>
            <a:bodyPr wrap="square" rtlCol="0">
              <a:spAutoFit/>
            </a:bodyPr>
            <a:lstStyle/>
            <a:p>
              <a:r>
                <a:rPr lang="zh-CN" altLang="en-US" dirty="0"/>
                <a:t>不满足条件</a:t>
              </a:r>
              <a:endParaRPr lang="zh-CN" altLang="en-US" dirty="0"/>
            </a:p>
          </p:txBody>
        </p:sp>
        <p:cxnSp>
          <p:nvCxnSpPr>
            <p:cNvPr id="66" name="直接箭头连接符 65"/>
            <p:cNvCxnSpPr>
              <a:stCxn id="14" idx="3"/>
              <a:endCxn id="64" idx="1"/>
            </p:cNvCxnSpPr>
            <p:nvPr/>
          </p:nvCxnSpPr>
          <p:spPr>
            <a:xfrm flipV="1">
              <a:off x="5591175" y="4769010"/>
              <a:ext cx="581025" cy="71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0" y="10160"/>
            <a:ext cx="5047615" cy="521970"/>
          </a:xfrm>
          <a:prstGeom prst="rect">
            <a:avLst/>
          </a:prstGeom>
          <a:noFill/>
        </p:spPr>
        <p:txBody>
          <a:bodyPr wrap="square" rtlCol="0">
            <a:spAutoFit/>
          </a:bodyPr>
          <a:lstStyle/>
          <a:p>
            <a:r>
              <a:rPr lang="zh-CN" altLang="en-US" sz="2800" b="1"/>
              <a:t>典型作业：</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linds(horizontal)">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7"/>
                                        </p:tgtEl>
                                        <p:attrNameLst>
                                          <p:attrName>style.visibility</p:attrName>
                                        </p:attrNameLst>
                                      </p:cBhvr>
                                      <p:to>
                                        <p:strVal val="visible"/>
                                      </p:to>
                                    </p:set>
                                    <p:anim calcmode="lin" valueType="num">
                                      <p:cBhvr additive="base">
                                        <p:cTn id="42" dur="500" fill="hold"/>
                                        <p:tgtEl>
                                          <p:spTgt spid="67"/>
                                        </p:tgtEl>
                                        <p:attrNameLst>
                                          <p:attrName>ppt_x</p:attrName>
                                        </p:attrNameLst>
                                      </p:cBhvr>
                                      <p:tavLst>
                                        <p:tav tm="0">
                                          <p:val>
                                            <p:strVal val="#ppt_x"/>
                                          </p:val>
                                        </p:tav>
                                        <p:tav tm="100000">
                                          <p:val>
                                            <p:strVal val="#ppt_x"/>
                                          </p:val>
                                        </p:tav>
                                      </p:tavLst>
                                    </p:anim>
                                    <p:anim calcmode="lin" valueType="num">
                                      <p:cBhvr additive="base">
                                        <p:cTn id="43"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blinds(horizontal)">
                                      <p:cBhvr>
                                        <p:cTn id="4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9" grpId="0" bldLvl="0" animBg="1"/>
      <p:bldP spid="20" grpId="0" bldLvl="0" animBg="1"/>
      <p:bldP spid="21" grpId="0" bldLvl="0" animBg="1"/>
      <p:bldP spid="63"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467360" y="404813"/>
            <a:ext cx="5080000" cy="521970"/>
          </a:xfrm>
          <a:prstGeom prst="rect">
            <a:avLst/>
          </a:prstGeom>
        </p:spPr>
        <p:txBody>
          <a:bodyPr>
            <a:spAutoFit/>
          </a:bodyPr>
          <a:lstStyle/>
          <a:p>
            <a:pPr marL="0" indent="0" algn="just" defTabSz="266700">
              <a:spcBef>
                <a:spcPct val="0"/>
              </a:spcBef>
              <a:spcAft>
                <a:spcPct val="0"/>
              </a:spcAft>
            </a:pPr>
            <a:r>
              <a:rPr lang="zh-CN" altLang="en-US" sz="2800" b="1" dirty="0">
                <a:latin typeface="宋体" panose="02010600030101010101" pitchFamily="2" charset="-122"/>
                <a:ea typeface="宋体" panose="02010600030101010101" pitchFamily="2" charset="-122"/>
              </a:rPr>
              <a:t>知识单元七晶体中的原子结合</a:t>
            </a:r>
            <a:endParaRPr lang="zh-CN" altLang="en-US" sz="2800" b="1" dirty="0">
              <a:latin typeface="宋体" panose="02010600030101010101" pitchFamily="2" charset="-122"/>
              <a:ea typeface="宋体" panose="02010600030101010101" pitchFamily="2" charset="-122"/>
            </a:endParaRPr>
          </a:p>
        </p:txBody>
      </p:sp>
      <p:sp>
        <p:nvSpPr>
          <p:cNvPr id="3" name="文本框 2"/>
          <p:cNvSpPr txBox="1"/>
          <p:nvPr/>
        </p:nvSpPr>
        <p:spPr>
          <a:xfrm>
            <a:off x="611505" y="1196975"/>
            <a:ext cx="7870825" cy="2775760"/>
          </a:xfrm>
          <a:prstGeom prst="rect">
            <a:avLst/>
          </a:prstGeom>
        </p:spPr>
        <p:txBody>
          <a:bodyPr wrap="square">
            <a:spAutoFit/>
          </a:bodyPr>
          <a:lstStyle/>
          <a:p>
            <a:pPr marL="0" indent="0" algn="just" defTabSz="266700">
              <a:lnSpc>
                <a:spcPct val="150000"/>
              </a:lnSpc>
              <a:spcBef>
                <a:spcPct val="0"/>
              </a:spcBef>
              <a:spcAft>
                <a:spcPct val="0"/>
              </a:spcAft>
            </a:pPr>
            <a:r>
              <a:rPr lang="zh-CN" altLang="en-US" sz="2400" dirty="0">
                <a:solidFill>
                  <a:srgbClr val="000000"/>
                </a:solidFill>
                <a:highlight>
                  <a:srgbClr val="FFFF00"/>
                </a:highlight>
                <a:latin typeface="宋体" panose="02010600030101010101" pitchFamily="2" charset="-122"/>
                <a:ea typeface="宋体" panose="02010600030101010101" pitchFamily="2" charset="-122"/>
              </a:rPr>
              <a:t>掌握</a:t>
            </a:r>
            <a:r>
              <a:rPr lang="zh-CN" altLang="en-US" sz="2400" dirty="0">
                <a:solidFill>
                  <a:srgbClr val="000000"/>
                </a:solidFill>
                <a:latin typeface="宋体" panose="02010600030101010101" pitchFamily="2" charset="-122"/>
                <a:ea typeface="宋体" panose="02010600030101010101" pitchFamily="2" charset="-122"/>
              </a:rPr>
              <a:t>原子结合的普遍性质；理解并</a:t>
            </a:r>
            <a:r>
              <a:rPr lang="zh-CN" altLang="en-US" sz="2400" dirty="0">
                <a:solidFill>
                  <a:srgbClr val="000000"/>
                </a:solidFill>
                <a:highlight>
                  <a:srgbClr val="FFFF00"/>
                </a:highlight>
                <a:latin typeface="宋体" panose="02010600030101010101" pitchFamily="2" charset="-122"/>
                <a:ea typeface="宋体" panose="02010600030101010101" pitchFamily="2" charset="-122"/>
              </a:rPr>
              <a:t>掌握</a:t>
            </a:r>
            <a:r>
              <a:rPr lang="zh-CN" altLang="en-US" sz="2400" dirty="0">
                <a:solidFill>
                  <a:srgbClr val="000000"/>
                </a:solidFill>
                <a:latin typeface="宋体" panose="02010600030101010101" pitchFamily="2" charset="-122"/>
                <a:ea typeface="宋体" panose="02010600030101010101" pitchFamily="2" charset="-122"/>
              </a:rPr>
              <a:t>离子性结合的结构特点和相应的材料特</a:t>
            </a:r>
            <a:r>
              <a:rPr lang="zh-CN" altLang="en-US" sz="2400" dirty="0" smtClean="0">
                <a:solidFill>
                  <a:srgbClr val="000000"/>
                </a:solidFill>
                <a:latin typeface="宋体" panose="02010600030101010101" pitchFamily="2" charset="-122"/>
                <a:ea typeface="宋体" panose="02010600030101010101" pitchFamily="2" charset="-122"/>
              </a:rPr>
              <a:t>性；</a:t>
            </a:r>
            <a:r>
              <a:rPr lang="zh-CN" altLang="en-US" sz="2400" dirty="0" smtClean="0">
                <a:solidFill>
                  <a:srgbClr val="000000"/>
                </a:solidFill>
                <a:highlight>
                  <a:srgbClr val="FFFF00"/>
                </a:highlight>
                <a:latin typeface="宋体" panose="02010600030101010101" pitchFamily="2" charset="-122"/>
                <a:ea typeface="宋体" panose="02010600030101010101" pitchFamily="2" charset="-122"/>
              </a:rPr>
              <a:t>掌</a:t>
            </a:r>
            <a:r>
              <a:rPr lang="zh-CN" altLang="en-US" sz="2400" dirty="0">
                <a:solidFill>
                  <a:srgbClr val="000000"/>
                </a:solidFill>
                <a:highlight>
                  <a:srgbClr val="FFFF00"/>
                </a:highlight>
                <a:latin typeface="宋体" panose="02010600030101010101" pitchFamily="2" charset="-122"/>
                <a:ea typeface="宋体" panose="02010600030101010101" pitchFamily="2" charset="-122"/>
              </a:rPr>
              <a:t>握</a:t>
            </a:r>
            <a:r>
              <a:rPr lang="zh-CN" altLang="en-US" sz="2400" dirty="0">
                <a:solidFill>
                  <a:srgbClr val="000000"/>
                </a:solidFill>
                <a:latin typeface="宋体" panose="02010600030101010101" pitchFamily="2" charset="-122"/>
                <a:ea typeface="宋体" panose="02010600030101010101" pitchFamily="2" charset="-122"/>
              </a:rPr>
              <a:t>共价键的特点和以共价键结合的材料特性；掌握金属性结合的结构特点和材料特性；掌握范德瓦尔斯力的本质和特点以及相应材料的特性；掌握氢键的结构特点和相应的材料特性。</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4" name="文本框 3"/>
          <p:cNvSpPr txBox="1"/>
          <p:nvPr/>
        </p:nvSpPr>
        <p:spPr>
          <a:xfrm>
            <a:off x="755650" y="6021705"/>
            <a:ext cx="7150100" cy="521970"/>
          </a:xfrm>
          <a:prstGeom prst="rect">
            <a:avLst/>
          </a:prstGeom>
          <a:noFill/>
        </p:spPr>
        <p:txBody>
          <a:bodyPr wrap="square" rtlCol="0" anchor="t">
            <a:spAutoFit/>
          </a:bodyPr>
          <a:lstStyle/>
          <a:p>
            <a:pPr defTabSz="457200"/>
            <a:r>
              <a:rPr lang="zh-CN" altLang="en-US" sz="2800" b="1" dirty="0" smtClean="0">
                <a:sym typeface="+mn-ea"/>
              </a:rPr>
              <a:t>题型：</a:t>
            </a:r>
            <a:r>
              <a:rPr lang="zh-CN" altLang="en-US" sz="2800" b="1" strike="sngStrike" dirty="0" smtClean="0">
                <a:highlight>
                  <a:srgbClr val="FFFF00"/>
                </a:highlight>
                <a:sym typeface="+mn-ea"/>
              </a:rPr>
              <a:t>填空，</a:t>
            </a:r>
            <a:r>
              <a:rPr lang="zh-CN" altLang="en-US" sz="2800" b="1" dirty="0" smtClean="0">
                <a:sym typeface="+mn-ea"/>
              </a:rPr>
              <a:t>简答</a:t>
            </a:r>
            <a:r>
              <a:rPr lang="en-US" altLang="zh-CN" sz="2800" b="1" dirty="0" smtClean="0">
                <a:sym typeface="+mn-ea"/>
              </a:rPr>
              <a:t> </a:t>
            </a:r>
            <a:endParaRPr lang="en-US" altLang="zh-CN" sz="2800" b="1" dirty="0" smtClean="0">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3260" y="476250"/>
            <a:ext cx="7732395" cy="2246769"/>
          </a:xfrm>
          <a:prstGeom prst="rect">
            <a:avLst/>
          </a:prstGeom>
          <a:noFill/>
        </p:spPr>
        <p:txBody>
          <a:bodyPr wrap="square" rtlCol="0" anchor="t">
            <a:spAutoFit/>
          </a:bodyPr>
          <a:lstStyle/>
          <a:p>
            <a:pPr>
              <a:spcBef>
                <a:spcPct val="50000"/>
              </a:spcBef>
            </a:pPr>
            <a:r>
              <a:rPr lang="zh-CN" altLang="en-US" sz="2800" dirty="0">
                <a:latin typeface="宋体" panose="02010600030101010101" pitchFamily="2" charset="-122"/>
                <a:ea typeface="宋体" panose="02010600030101010101" pitchFamily="2" charset="-122"/>
                <a:sym typeface="+mn-ea"/>
              </a:rPr>
              <a:t>作业：</a:t>
            </a:r>
            <a:endParaRPr lang="zh-CN" altLang="en-US" sz="2800" b="0" dirty="0">
              <a:latin typeface="宋体" panose="02010600030101010101" pitchFamily="2" charset="-122"/>
              <a:ea typeface="宋体" panose="02010600030101010101" pitchFamily="2" charset="-122"/>
            </a:endParaRPr>
          </a:p>
          <a:p>
            <a:pPr>
              <a:spcBef>
                <a:spcPct val="50000"/>
              </a:spcBef>
            </a:pPr>
            <a:r>
              <a:rPr lang="en-US" altLang="zh-CN" sz="2800" dirty="0">
                <a:latin typeface="宋体" panose="02010600030101010101" pitchFamily="2" charset="-122"/>
                <a:ea typeface="宋体" panose="02010600030101010101" pitchFamily="2" charset="-122"/>
                <a:sym typeface="+mn-ea"/>
              </a:rPr>
              <a:t>1</a:t>
            </a:r>
            <a:r>
              <a:rPr lang="zh-CN" altLang="en-US" sz="2800" dirty="0">
                <a:latin typeface="宋体" panose="02010600030101010101" pitchFamily="2" charset="-122"/>
                <a:ea typeface="宋体" panose="02010600030101010101" pitchFamily="2" charset="-122"/>
                <a:sym typeface="+mn-ea"/>
              </a:rPr>
              <a:t>、原子间结合方式有哪几种，形成的价键和相应的晶体具有什么特点</a:t>
            </a:r>
            <a:r>
              <a:rPr lang="zh-CN" altLang="en-US" sz="2800" dirty="0" smtClean="0">
                <a:latin typeface="宋体" panose="02010600030101010101" pitchFamily="2" charset="-122"/>
                <a:ea typeface="宋体" panose="02010600030101010101" pitchFamily="2" charset="-122"/>
                <a:sym typeface="+mn-ea"/>
              </a:rPr>
              <a:t>。</a:t>
            </a:r>
            <a:endParaRPr lang="en-US" altLang="zh-CN" sz="2800" dirty="0" smtClean="0">
              <a:latin typeface="宋体" panose="02010600030101010101" pitchFamily="2" charset="-122"/>
              <a:ea typeface="宋体" panose="02010600030101010101" pitchFamily="2" charset="-122"/>
              <a:sym typeface="+mn-ea"/>
            </a:endParaRPr>
          </a:p>
          <a:p>
            <a:pPr>
              <a:spcBef>
                <a:spcPct val="50000"/>
              </a:spcBef>
            </a:pPr>
            <a:r>
              <a:rPr lang="en-US" altLang="zh-CN" sz="2800" b="0" dirty="0" smtClean="0">
                <a:latin typeface="宋体" panose="02010600030101010101" pitchFamily="2" charset="-122"/>
                <a:ea typeface="宋体" panose="02010600030101010101" pitchFamily="2" charset="-122"/>
                <a:sym typeface="+mn-ea"/>
              </a:rPr>
              <a:t>2</a:t>
            </a:r>
            <a:r>
              <a:rPr lang="zh-CN" altLang="en-US" sz="2800" b="0" dirty="0" smtClean="0">
                <a:latin typeface="宋体" panose="02010600030101010101" pitchFamily="2" charset="-122"/>
                <a:ea typeface="宋体" panose="02010600030101010101" pitchFamily="2" charset="-122"/>
                <a:sym typeface="+mn-ea"/>
              </a:rPr>
              <a:t>、为社么</a:t>
            </a:r>
            <a:r>
              <a:rPr lang="en-US" altLang="zh-CN" sz="2800" b="0" dirty="0" smtClean="0">
                <a:latin typeface="宋体" panose="02010600030101010101" pitchFamily="2" charset="-122"/>
                <a:ea typeface="宋体" panose="02010600030101010101" pitchFamily="2" charset="-122"/>
                <a:sym typeface="+mn-ea"/>
              </a:rPr>
              <a:t>0-4°C</a:t>
            </a:r>
            <a:r>
              <a:rPr lang="zh-CN" altLang="en-US" sz="2800" b="0" dirty="0" smtClean="0">
                <a:latin typeface="宋体" panose="02010600030101010101" pitchFamily="2" charset="-122"/>
                <a:ea typeface="宋体" panose="02010600030101010101" pitchFamily="2" charset="-122"/>
                <a:sym typeface="+mn-ea"/>
              </a:rPr>
              <a:t>间，水会</a:t>
            </a:r>
            <a:r>
              <a:rPr lang="zh-CN" altLang="en-US" sz="2800" dirty="0" smtClean="0">
                <a:latin typeface="宋体" panose="02010600030101010101" pitchFamily="2" charset="-122"/>
                <a:ea typeface="宋体" panose="02010600030101010101" pitchFamily="2" charset="-122"/>
                <a:sym typeface="+mn-ea"/>
              </a:rPr>
              <a:t>“冷涨热缩”</a:t>
            </a:r>
            <a:endParaRPr lang="zh-CN" altLang="en-US" sz="2800" b="0" dirty="0">
              <a:latin typeface="宋体" panose="02010600030101010101" pitchFamily="2" charset="-122"/>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539750" y="332423"/>
            <a:ext cx="5080000" cy="521970"/>
          </a:xfrm>
          <a:prstGeom prst="rect">
            <a:avLst/>
          </a:prstGeom>
        </p:spPr>
        <p:txBody>
          <a:bodyPr>
            <a:spAutoFit/>
          </a:bodyPr>
          <a:lstStyle/>
          <a:p>
            <a:pPr marL="0" indent="0" algn="just" defTabSz="266700">
              <a:spcBef>
                <a:spcPct val="0"/>
              </a:spcBef>
              <a:spcAft>
                <a:spcPct val="0"/>
              </a:spcAft>
            </a:pPr>
            <a:r>
              <a:rPr lang="zh-CN" altLang="en-US" sz="2800" b="1">
                <a:latin typeface="宋体" panose="02010600030101010101" pitchFamily="2" charset="-122"/>
                <a:ea typeface="宋体" panose="02010600030101010101" pitchFamily="2" charset="-122"/>
              </a:rPr>
              <a:t>知识单元八</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晶体结构</a:t>
            </a:r>
            <a:endParaRPr lang="zh-CN" altLang="en-US" sz="2800" b="1">
              <a:latin typeface="宋体" panose="02010600030101010101" pitchFamily="2" charset="-122"/>
              <a:ea typeface="宋体" panose="02010600030101010101" pitchFamily="2" charset="-122"/>
            </a:endParaRPr>
          </a:p>
        </p:txBody>
      </p:sp>
      <p:sp>
        <p:nvSpPr>
          <p:cNvPr id="4" name="文本框 3"/>
          <p:cNvSpPr txBox="1"/>
          <p:nvPr/>
        </p:nvSpPr>
        <p:spPr>
          <a:xfrm>
            <a:off x="755650" y="6021705"/>
            <a:ext cx="7150100" cy="521970"/>
          </a:xfrm>
          <a:prstGeom prst="rect">
            <a:avLst/>
          </a:prstGeom>
          <a:noFill/>
        </p:spPr>
        <p:txBody>
          <a:bodyPr wrap="square" rtlCol="0" anchor="t">
            <a:spAutoFit/>
          </a:bodyPr>
          <a:lstStyle/>
          <a:p>
            <a:pPr defTabSz="457200"/>
            <a:r>
              <a:rPr lang="zh-CN" altLang="en-US" sz="2800" b="1" dirty="0" smtClean="0">
                <a:sym typeface="+mn-ea"/>
              </a:rPr>
              <a:t>题型：填空，计算</a:t>
            </a:r>
            <a:endParaRPr lang="zh-CN" altLang="en-US" sz="2800" b="1" dirty="0" smtClean="0">
              <a:sym typeface="+mn-ea"/>
            </a:endParaRPr>
          </a:p>
        </p:txBody>
      </p:sp>
      <p:sp>
        <p:nvSpPr>
          <p:cNvPr id="3" name="文本框 2"/>
          <p:cNvSpPr txBox="1"/>
          <p:nvPr/>
        </p:nvSpPr>
        <p:spPr>
          <a:xfrm>
            <a:off x="899794" y="1196975"/>
            <a:ext cx="7632645" cy="4104233"/>
          </a:xfrm>
          <a:prstGeom prst="rect">
            <a:avLst/>
          </a:prstGeom>
        </p:spPr>
        <p:txBody>
          <a:bodyPr>
            <a:noAutofit/>
          </a:bodyPr>
          <a:lstStyle/>
          <a:p>
            <a:pPr marL="0" indent="0" algn="just" defTabSz="266700">
              <a:lnSpc>
                <a:spcPct val="150000"/>
              </a:lnSpc>
              <a:spcBef>
                <a:spcPct val="0"/>
              </a:spcBef>
              <a:spcAft>
                <a:spcPct val="0"/>
              </a:spcAft>
            </a:pP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晶体周期性结构的描述方法和</a:t>
            </a:r>
            <a:r>
              <a:rPr lang="zh-CN" altLang="en-US" sz="2400" dirty="0">
                <a:highlight>
                  <a:srgbClr val="FFFF00"/>
                </a:highlight>
                <a:latin typeface="宋体" panose="02010600030101010101" pitchFamily="2" charset="-122"/>
                <a:ea typeface="宋体" panose="02010600030101010101" pitchFamily="2" charset="-122"/>
              </a:rPr>
              <a:t>基本描述概念</a:t>
            </a:r>
            <a:r>
              <a:rPr lang="zh-CN" altLang="en-US" sz="2400" dirty="0" smtClean="0">
                <a:latin typeface="宋体" panose="02010600030101010101" pitchFamily="2" charset="-122"/>
                <a:ea typeface="宋体" panose="02010600030101010101" pitchFamily="2" charset="-122"/>
              </a:rPr>
              <a:t>，晶格、晶胞、元胞、基矢等；</a:t>
            </a:r>
            <a:r>
              <a:rPr lang="zh-CN" altLang="en-US" sz="2400" dirty="0" smtClean="0">
                <a:highlight>
                  <a:srgbClr val="FFFF00"/>
                </a:highlight>
                <a:latin typeface="宋体" panose="02010600030101010101" pitchFamily="2" charset="-122"/>
                <a:ea typeface="宋体" panose="02010600030101010101" pitchFamily="2" charset="-122"/>
              </a:rPr>
              <a:t>掌</a:t>
            </a:r>
            <a:r>
              <a:rPr lang="zh-CN" altLang="en-US" sz="2400" dirty="0">
                <a:highlight>
                  <a:srgbClr val="FFFF00"/>
                </a:highlight>
                <a:latin typeface="宋体" panose="02010600030101010101" pitchFamily="2" charset="-122"/>
                <a:ea typeface="宋体" panose="02010600030101010101" pitchFamily="2" charset="-122"/>
              </a:rPr>
              <a:t>握</a:t>
            </a:r>
            <a:r>
              <a:rPr lang="zh-CN" altLang="en-US" sz="2400" dirty="0">
                <a:latin typeface="宋体" panose="02010600030101010101" pitchFamily="2" charset="-122"/>
                <a:ea typeface="宋体" panose="02010600030101010101" pitchFamily="2" charset="-122"/>
              </a:rPr>
              <a:t>几种典型晶体结构构</a:t>
            </a:r>
            <a:r>
              <a:rPr lang="zh-CN" altLang="en-US" sz="2400" dirty="0" smtClean="0">
                <a:latin typeface="宋体" panose="02010600030101010101" pitchFamily="2" charset="-122"/>
                <a:ea typeface="宋体" panose="02010600030101010101" pitchFamily="2" charset="-122"/>
              </a:rPr>
              <a:t>成（简</a:t>
            </a:r>
            <a:r>
              <a:rPr lang="zh-CN" altLang="en-US" sz="2400" dirty="0">
                <a:latin typeface="宋体" panose="02010600030101010101" pitchFamily="2" charset="-122"/>
                <a:ea typeface="宋体" panose="02010600030101010101" pitchFamily="2" charset="-122"/>
              </a:rPr>
              <a:t>立方结构、氯化铯型结构、体心立方结构、面心立方结</a:t>
            </a:r>
            <a:r>
              <a:rPr lang="zh-CN" altLang="en-US" sz="2400" dirty="0" smtClean="0">
                <a:latin typeface="宋体" panose="02010600030101010101" pitchFamily="2" charset="-122"/>
                <a:ea typeface="宋体" panose="02010600030101010101" pitchFamily="2" charset="-122"/>
              </a:rPr>
              <a:t>构）；</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晶列、晶面和密勒指数的定义</a:t>
            </a:r>
            <a:r>
              <a:rPr lang="zh-CN" altLang="en-US" sz="2400" dirty="0" smtClean="0">
                <a:latin typeface="宋体" panose="02010600030101010101" pitchFamily="2" charset="-122"/>
                <a:ea typeface="宋体" panose="02010600030101010101" pitchFamily="2" charset="-122"/>
              </a:rPr>
              <a:t>；</a:t>
            </a:r>
            <a:r>
              <a:rPr lang="zh-CN" altLang="en-US" sz="2400" dirty="0" smtClean="0">
                <a:highlight>
                  <a:srgbClr val="FFFF00"/>
                </a:highlight>
                <a:latin typeface="宋体" panose="02010600030101010101" pitchFamily="2" charset="-122"/>
                <a:ea typeface="宋体" panose="02010600030101010101" pitchFamily="2" charset="-122"/>
              </a:rPr>
              <a:t>掌</a:t>
            </a:r>
            <a:r>
              <a:rPr lang="zh-CN" altLang="en-US" sz="2400" dirty="0">
                <a:highlight>
                  <a:srgbClr val="FFFF00"/>
                </a:highlight>
                <a:latin typeface="宋体" panose="02010600030101010101" pitchFamily="2" charset="-122"/>
                <a:ea typeface="宋体" panose="02010600030101010101" pitchFamily="2" charset="-122"/>
              </a:rPr>
              <a:t>握</a:t>
            </a:r>
            <a:r>
              <a:rPr lang="zh-CN" altLang="en-US" sz="2400" dirty="0">
                <a:latin typeface="宋体" panose="02010600030101010101" pitchFamily="2" charset="-122"/>
                <a:ea typeface="宋体" panose="02010600030101010101" pitchFamily="2" charset="-122"/>
              </a:rPr>
              <a:t>布拉菲格</a:t>
            </a:r>
            <a:r>
              <a:rPr lang="zh-CN" altLang="en-US" sz="2400" dirty="0" smtClean="0">
                <a:latin typeface="宋体" panose="02010600030101010101" pitchFamily="2" charset="-122"/>
                <a:ea typeface="宋体" panose="02010600030101010101" pitchFamily="2" charset="-122"/>
              </a:rPr>
              <a:t>子和基的</a:t>
            </a:r>
            <a:r>
              <a:rPr lang="zh-CN" altLang="en-US" sz="2400" dirty="0">
                <a:latin typeface="宋体" panose="02010600030101010101" pitchFamily="2" charset="-122"/>
                <a:ea typeface="宋体" panose="02010600030101010101" pitchFamily="2" charset="-122"/>
              </a:rPr>
              <a:t>概念；</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倒空间的定义、倒格矢的概</a:t>
            </a:r>
            <a:r>
              <a:rPr lang="zh-CN" altLang="en-US" sz="2400" dirty="0" smtClean="0">
                <a:latin typeface="宋体" panose="02010600030101010101" pitchFamily="2" charset="-122"/>
                <a:ea typeface="宋体" panose="02010600030101010101" pitchFamily="2" charset="-122"/>
              </a:rPr>
              <a:t>念及应用，正格子基矢与倒格子基矢之间的对应关系。</a:t>
            </a:r>
            <a:endParaRPr lang="en-US" altLang="zh-CN" sz="2400" dirty="0" smtClean="0">
              <a:latin typeface="宋体" panose="02010600030101010101" pitchFamily="2" charset="-122"/>
              <a:ea typeface="宋体" panose="02010600030101010101" pitchFamily="2" charset="-122"/>
            </a:endParaRPr>
          </a:p>
          <a:p>
            <a:pPr marL="0" indent="0" algn="just" defTabSz="266700">
              <a:lnSpc>
                <a:spcPct val="150000"/>
              </a:lnSpc>
              <a:spcBef>
                <a:spcPct val="0"/>
              </a:spcBef>
              <a:spcAft>
                <a:spcPct val="0"/>
              </a:spcAft>
            </a:pP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7360" y="332740"/>
            <a:ext cx="8155305" cy="3693319"/>
          </a:xfrm>
          <a:prstGeom prst="rect">
            <a:avLst/>
          </a:prstGeom>
          <a:noFill/>
        </p:spPr>
        <p:txBody>
          <a:bodyPr wrap="square" rtlCol="0" anchor="t">
            <a:spAutoFit/>
          </a:bodyPr>
          <a:lstStyle/>
          <a:p>
            <a:pPr>
              <a:spcBef>
                <a:spcPct val="50000"/>
              </a:spcBef>
              <a:buClrTx/>
              <a:buFontTx/>
            </a:pPr>
            <a:r>
              <a:rPr lang="en-US" altLang="zh-CN" sz="2600" dirty="0">
                <a:latin typeface="宋体" panose="02010600030101010101" pitchFamily="2" charset="-122"/>
                <a:ea typeface="宋体" panose="02010600030101010101" pitchFamily="2" charset="-122"/>
                <a:sym typeface="+mn-ea"/>
              </a:rPr>
              <a:t>1</a:t>
            </a:r>
            <a:r>
              <a:rPr lang="zh-CN" altLang="en-US" sz="2600" dirty="0">
                <a:latin typeface="宋体" panose="02010600030101010101" pitchFamily="2" charset="-122"/>
                <a:ea typeface="宋体" panose="02010600030101010101" pitchFamily="2" charset="-122"/>
                <a:sym typeface="+mn-ea"/>
              </a:rPr>
              <a:t>、定义晶胞、原胞，</a:t>
            </a:r>
            <a:r>
              <a:rPr lang="zh-CN" altLang="en-US" sz="2600" dirty="0">
                <a:highlight>
                  <a:srgbClr val="FFFF00"/>
                </a:highlight>
                <a:latin typeface="宋体" panose="02010600030101010101" pitchFamily="2" charset="-122"/>
                <a:ea typeface="宋体" panose="02010600030101010101" pitchFamily="2" charset="-122"/>
                <a:sym typeface="+mn-ea"/>
              </a:rPr>
              <a:t>晶格、平移对称性，基，布拉非格子</a:t>
            </a:r>
            <a:r>
              <a:rPr lang="zh-CN" altLang="en-US" sz="2600" dirty="0" smtClean="0">
                <a:highlight>
                  <a:srgbClr val="FFFF00"/>
                </a:highlight>
                <a:latin typeface="宋体" panose="02010600030101010101" pitchFamily="2" charset="-122"/>
                <a:ea typeface="宋体" panose="02010600030101010101" pitchFamily="2" charset="-122"/>
                <a:sym typeface="+mn-ea"/>
              </a:rPr>
              <a:t>，  </a:t>
            </a:r>
            <a:endParaRPr lang="zh-CN" altLang="en-US" sz="2600" dirty="0">
              <a:solidFill>
                <a:schemeClr val="tx1"/>
              </a:solidFill>
              <a:highlight>
                <a:srgbClr val="FFFF00"/>
              </a:highlight>
              <a:latin typeface="宋体" panose="02010600030101010101" pitchFamily="2" charset="-122"/>
              <a:ea typeface="宋体" panose="02010600030101010101" pitchFamily="2" charset="-122"/>
            </a:endParaRPr>
          </a:p>
          <a:p>
            <a:pPr>
              <a:spcBef>
                <a:spcPct val="50000"/>
              </a:spcBef>
              <a:buClrTx/>
              <a:buFontTx/>
            </a:pPr>
            <a:r>
              <a:rPr lang="en-US" altLang="zh-CN" sz="2600" dirty="0">
                <a:latin typeface="宋体" panose="02010600030101010101" pitchFamily="2" charset="-122"/>
                <a:ea typeface="宋体" panose="02010600030101010101" pitchFamily="2" charset="-122"/>
                <a:sym typeface="+mn-ea"/>
              </a:rPr>
              <a:t>2</a:t>
            </a:r>
            <a:r>
              <a:rPr lang="zh-CN" altLang="en-US" sz="2600" dirty="0" smtClean="0">
                <a:latin typeface="宋体" panose="02010600030101010101" pitchFamily="2" charset="-122"/>
                <a:ea typeface="宋体" panose="02010600030101010101" pitchFamily="2" charset="-122"/>
                <a:sym typeface="+mn-ea"/>
              </a:rPr>
              <a:t>、体</a:t>
            </a:r>
            <a:r>
              <a:rPr lang="zh-CN" altLang="en-US" sz="2600" dirty="0">
                <a:latin typeface="宋体" panose="02010600030101010101" pitchFamily="2" charset="-122"/>
                <a:ea typeface="宋体" panose="02010600030101010101" pitchFamily="2" charset="-122"/>
                <a:sym typeface="+mn-ea"/>
              </a:rPr>
              <a:t>心立方晶格的原胞</a:t>
            </a:r>
            <a:endParaRPr lang="zh-CN" altLang="en-US" sz="2600" dirty="0">
              <a:solidFill>
                <a:schemeClr val="tx1"/>
              </a:solidFill>
              <a:latin typeface="宋体" panose="02010600030101010101" pitchFamily="2" charset="-122"/>
              <a:ea typeface="宋体" panose="02010600030101010101" pitchFamily="2" charset="-122"/>
            </a:endParaRPr>
          </a:p>
          <a:p>
            <a:pPr>
              <a:spcBef>
                <a:spcPct val="50000"/>
              </a:spcBef>
              <a:buClrTx/>
              <a:buFontTx/>
            </a:pPr>
            <a:r>
              <a:rPr lang="en-US" altLang="zh-CN" sz="2600" dirty="0">
                <a:latin typeface="宋体" panose="02010600030101010101" pitchFamily="2" charset="-122"/>
                <a:ea typeface="宋体" panose="02010600030101010101" pitchFamily="2" charset="-122"/>
                <a:sym typeface="+mn-ea"/>
              </a:rPr>
              <a:t>3</a:t>
            </a:r>
            <a:r>
              <a:rPr lang="zh-CN" altLang="en-US" sz="2600" dirty="0" smtClean="0">
                <a:latin typeface="宋体" panose="02010600030101010101" pitchFamily="2" charset="-122"/>
                <a:ea typeface="宋体" panose="02010600030101010101" pitchFamily="2" charset="-122"/>
                <a:sym typeface="+mn-ea"/>
              </a:rPr>
              <a:t>、面心立方结</a:t>
            </a:r>
            <a:r>
              <a:rPr lang="zh-CN" altLang="en-US" sz="2600" dirty="0">
                <a:latin typeface="宋体" panose="02010600030101010101" pitchFamily="2" charset="-122"/>
                <a:ea typeface="宋体" panose="02010600030101010101" pitchFamily="2" charset="-122"/>
                <a:sym typeface="+mn-ea"/>
              </a:rPr>
              <a:t>构的特点</a:t>
            </a:r>
            <a:r>
              <a:rPr lang="zh-CN" altLang="en-US" sz="2600" dirty="0" smtClean="0">
                <a:latin typeface="宋体" panose="02010600030101010101" pitchFamily="2" charset="-122"/>
                <a:ea typeface="宋体" panose="02010600030101010101" pitchFamily="2" charset="-122"/>
                <a:sym typeface="+mn-ea"/>
              </a:rPr>
              <a:t>，致</a:t>
            </a:r>
            <a:r>
              <a:rPr lang="zh-CN" altLang="en-US" sz="2600" dirty="0">
                <a:latin typeface="宋体" panose="02010600030101010101" pitchFamily="2" charset="-122"/>
                <a:ea typeface="宋体" panose="02010600030101010101" pitchFamily="2" charset="-122"/>
                <a:sym typeface="+mn-ea"/>
              </a:rPr>
              <a:t>密度</a:t>
            </a:r>
            <a:endParaRPr lang="zh-CN" altLang="en-US" sz="2600" dirty="0">
              <a:solidFill>
                <a:schemeClr val="tx1"/>
              </a:solidFill>
              <a:latin typeface="宋体" panose="02010600030101010101" pitchFamily="2" charset="-122"/>
              <a:ea typeface="宋体" panose="02010600030101010101" pitchFamily="2" charset="-122"/>
            </a:endParaRPr>
          </a:p>
          <a:p>
            <a:pPr>
              <a:spcBef>
                <a:spcPct val="50000"/>
              </a:spcBef>
              <a:buClrTx/>
              <a:buFontTx/>
            </a:pPr>
            <a:r>
              <a:rPr lang="en-US" altLang="zh-CN" sz="2600" dirty="0">
                <a:latin typeface="宋体" panose="02010600030101010101" pitchFamily="2" charset="-122"/>
                <a:ea typeface="宋体" panose="02010600030101010101" pitchFamily="2" charset="-122"/>
                <a:sym typeface="+mn-ea"/>
              </a:rPr>
              <a:t>4</a:t>
            </a:r>
            <a:r>
              <a:rPr lang="zh-CN" altLang="en-US" sz="2600" dirty="0">
                <a:latin typeface="宋体" panose="02010600030101010101" pitchFamily="2" charset="-122"/>
                <a:ea typeface="宋体" panose="02010600030101010101" pitchFamily="2" charset="-122"/>
                <a:sym typeface="+mn-ea"/>
              </a:rPr>
              <a:t>、什么是密勒指数</a:t>
            </a:r>
            <a:endParaRPr lang="zh-CN" altLang="en-US" sz="2600" dirty="0">
              <a:solidFill>
                <a:schemeClr val="tx1"/>
              </a:solidFill>
              <a:latin typeface="宋体" panose="02010600030101010101" pitchFamily="2" charset="-122"/>
              <a:ea typeface="宋体" panose="02010600030101010101" pitchFamily="2" charset="-122"/>
            </a:endParaRPr>
          </a:p>
          <a:p>
            <a:pPr>
              <a:spcBef>
                <a:spcPct val="50000"/>
              </a:spcBef>
              <a:buClrTx/>
              <a:buFontTx/>
            </a:pPr>
            <a:r>
              <a:rPr lang="en-US" altLang="zh-CN" sz="2600" dirty="0">
                <a:latin typeface="宋体" panose="02010600030101010101" pitchFamily="2" charset="-122"/>
                <a:ea typeface="宋体" panose="02010600030101010101" pitchFamily="2" charset="-122"/>
                <a:sym typeface="+mn-ea"/>
              </a:rPr>
              <a:t>5</a:t>
            </a:r>
            <a:r>
              <a:rPr lang="zh-CN" altLang="en-US" sz="2600" dirty="0" smtClean="0">
                <a:latin typeface="宋体" panose="02010600030101010101" pitchFamily="2" charset="-122"/>
                <a:ea typeface="宋体" panose="02010600030101010101" pitchFamily="2" charset="-122"/>
                <a:sym typeface="+mn-ea"/>
              </a:rPr>
              <a:t>、根</a:t>
            </a:r>
            <a:r>
              <a:rPr lang="zh-CN" altLang="en-US" sz="2600" dirty="0">
                <a:latin typeface="宋体" panose="02010600030101010101" pitchFamily="2" charset="-122"/>
                <a:ea typeface="宋体" panose="02010600030101010101" pitchFamily="2" charset="-122"/>
                <a:sym typeface="+mn-ea"/>
              </a:rPr>
              <a:t>据倒</a:t>
            </a:r>
            <a:r>
              <a:rPr lang="zh-CN" altLang="en-US" sz="2600" dirty="0" smtClean="0">
                <a:latin typeface="宋体" panose="02010600030101010101" pitchFamily="2" charset="-122"/>
                <a:ea typeface="宋体" panose="02010600030101010101" pitchFamily="2" charset="-122"/>
                <a:sym typeface="+mn-ea"/>
              </a:rPr>
              <a:t>格子定</a:t>
            </a:r>
            <a:r>
              <a:rPr lang="zh-CN" altLang="en-US" sz="2600" dirty="0">
                <a:latin typeface="宋体" panose="02010600030101010101" pitchFamily="2" charset="-122"/>
                <a:ea typeface="宋体" panose="02010600030101010101" pitchFamily="2" charset="-122"/>
                <a:sym typeface="+mn-ea"/>
              </a:rPr>
              <a:t>义，证</a:t>
            </a:r>
            <a:r>
              <a:rPr lang="zh-CN" altLang="en-US" sz="2600" dirty="0" smtClean="0">
                <a:latin typeface="宋体" panose="02010600030101010101" pitchFamily="2" charset="-122"/>
                <a:ea typeface="宋体" panose="02010600030101010101" pitchFamily="2" charset="-122"/>
                <a:sym typeface="+mn-ea"/>
              </a:rPr>
              <a:t>明讲义</a:t>
            </a:r>
            <a:r>
              <a:rPr lang="en-US" altLang="zh-CN" sz="2600" dirty="0" smtClean="0">
                <a:latin typeface="宋体" panose="02010600030101010101" pitchFamily="2" charset="-122"/>
                <a:ea typeface="宋体" panose="02010600030101010101" pitchFamily="2" charset="-122"/>
                <a:sym typeface="+mn-ea"/>
              </a:rPr>
              <a:t>ppt51</a:t>
            </a:r>
            <a:r>
              <a:rPr lang="zh-CN" altLang="en-US" sz="2600" dirty="0" smtClean="0">
                <a:latin typeface="宋体" panose="02010600030101010101" pitchFamily="2" charset="-122"/>
                <a:ea typeface="宋体" panose="02010600030101010101" pitchFamily="2" charset="-122"/>
                <a:sym typeface="+mn-ea"/>
              </a:rPr>
              <a:t>页上的正</a:t>
            </a:r>
            <a:r>
              <a:rPr lang="zh-CN" altLang="en-US" sz="2600" dirty="0">
                <a:latin typeface="宋体" panose="02010600030101010101" pitchFamily="2" charset="-122"/>
                <a:ea typeface="宋体" panose="02010600030101010101" pitchFamily="2" charset="-122"/>
                <a:sym typeface="+mn-ea"/>
              </a:rPr>
              <a:t>倒</a:t>
            </a:r>
            <a:r>
              <a:rPr lang="zh-CN" altLang="en-US" sz="2600" dirty="0" smtClean="0">
                <a:latin typeface="宋体" panose="02010600030101010101" pitchFamily="2" charset="-122"/>
                <a:ea typeface="宋体" panose="02010600030101010101" pitchFamily="2" charset="-122"/>
                <a:sym typeface="+mn-ea"/>
              </a:rPr>
              <a:t>格子间关</a:t>
            </a:r>
            <a:r>
              <a:rPr lang="zh-CN" altLang="en-US" sz="2600" dirty="0">
                <a:latin typeface="宋体" panose="02010600030101010101" pitchFamily="2" charset="-122"/>
                <a:ea typeface="宋体" panose="02010600030101010101" pitchFamily="2" charset="-122"/>
                <a:sym typeface="+mn-ea"/>
              </a:rPr>
              <a:t>系</a:t>
            </a:r>
            <a:r>
              <a:rPr lang="en-US" altLang="zh-CN" sz="2600" dirty="0" smtClean="0">
                <a:latin typeface="宋体" panose="02010600030101010101" pitchFamily="2" charset="-122"/>
                <a:ea typeface="宋体" panose="02010600030101010101" pitchFamily="2" charset="-122"/>
                <a:sym typeface="+mn-ea"/>
              </a:rPr>
              <a:t>1</a:t>
            </a:r>
            <a:r>
              <a:rPr lang="zh-CN" altLang="en-US" sz="2600" dirty="0" smtClean="0">
                <a:latin typeface="宋体" panose="02010600030101010101" pitchFamily="2" charset="-122"/>
                <a:ea typeface="宋体" panose="02010600030101010101" pitchFamily="2" charset="-122"/>
                <a:sym typeface="+mn-ea"/>
              </a:rPr>
              <a:t>和</a:t>
            </a:r>
            <a:r>
              <a:rPr lang="en-US" altLang="zh-CN" sz="2600" dirty="0" smtClean="0">
                <a:latin typeface="宋体" panose="02010600030101010101" pitchFamily="2" charset="-122"/>
                <a:ea typeface="宋体" panose="02010600030101010101" pitchFamily="2" charset="-122"/>
                <a:sym typeface="+mn-ea"/>
              </a:rPr>
              <a:t>2 </a:t>
            </a:r>
            <a:endParaRPr lang="en-US" altLang="zh-CN" sz="2600"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467360" y="188278"/>
            <a:ext cx="5080000" cy="521970"/>
          </a:xfrm>
          <a:prstGeom prst="rect">
            <a:avLst/>
          </a:prstGeom>
        </p:spPr>
        <p:txBody>
          <a:bodyPr>
            <a:spAutoFit/>
          </a:bodyPr>
          <a:lstStyle/>
          <a:p>
            <a:pPr marL="0" indent="0" algn="just" defTabSz="266700">
              <a:spcBef>
                <a:spcPct val="0"/>
              </a:spcBef>
              <a:spcAft>
                <a:spcPct val="0"/>
              </a:spcAft>
            </a:pPr>
            <a:r>
              <a:rPr lang="zh-CN" altLang="en-US" sz="2800" b="1">
                <a:latin typeface="宋体" panose="02010600030101010101" pitchFamily="2" charset="-122"/>
                <a:ea typeface="宋体" panose="02010600030101010101" pitchFamily="2" charset="-122"/>
              </a:rPr>
              <a:t>知识单元九</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晶格振动</a:t>
            </a:r>
            <a:endParaRPr lang="zh-CN" altLang="en-US" sz="2800" b="1">
              <a:latin typeface="宋体" panose="02010600030101010101" pitchFamily="2" charset="-122"/>
              <a:ea typeface="宋体" panose="02010600030101010101" pitchFamily="2" charset="-122"/>
            </a:endParaRPr>
          </a:p>
        </p:txBody>
      </p:sp>
      <p:sp>
        <p:nvSpPr>
          <p:cNvPr id="3" name="文本框 2"/>
          <p:cNvSpPr txBox="1"/>
          <p:nvPr/>
        </p:nvSpPr>
        <p:spPr>
          <a:xfrm>
            <a:off x="539750" y="981075"/>
            <a:ext cx="7997190" cy="2795905"/>
          </a:xfrm>
          <a:prstGeom prst="rect">
            <a:avLst/>
          </a:prstGeom>
        </p:spPr>
        <p:txBody>
          <a:bodyPr>
            <a:noAutofit/>
          </a:bodyPr>
          <a:lstStyle/>
          <a:p>
            <a:pPr marL="0" indent="0" algn="just" defTabSz="266700">
              <a:lnSpc>
                <a:spcPct val="150000"/>
              </a:lnSpc>
              <a:spcBef>
                <a:spcPct val="0"/>
              </a:spcBef>
              <a:spcAft>
                <a:spcPct val="0"/>
              </a:spcAft>
            </a:pP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晶体中原子的微振动模式分析，</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声子的概念；</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一维布拉菲格子的近似模型，了解求色散关系的步骤和色散关系特征图，</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一维晶体的振动模式和特点（色散关系出发分析）；</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一维复式格子的色散关系及其特点</a:t>
            </a:r>
            <a:r>
              <a:rPr lang="zh-CN" altLang="en-US" sz="2400" dirty="0">
                <a:latin typeface="宋体" panose="02010600030101010101" pitchFamily="2" charset="-122"/>
                <a:ea typeface="宋体" panose="02010600030101010101" pitchFamily="2" charset="-122"/>
                <a:sym typeface="+mn-ea"/>
              </a:rPr>
              <a:t>色散关系出发分析</a:t>
            </a:r>
            <a:r>
              <a:rPr lang="zh-CN" altLang="en-US" sz="2400" dirty="0" smtClean="0">
                <a:latin typeface="宋体" panose="02010600030101010101" pitchFamily="2" charset="-122"/>
                <a:ea typeface="宋体" panose="02010600030101010101" pitchFamily="2" charset="-122"/>
                <a:sym typeface="+mn-ea"/>
              </a:rPr>
              <a:t>）</a:t>
            </a:r>
            <a:endParaRPr lang="zh-CN" altLang="en-US" sz="2400" dirty="0">
              <a:latin typeface="宋体" panose="02010600030101010101" pitchFamily="2" charset="-122"/>
              <a:ea typeface="宋体" panose="02010600030101010101" pitchFamily="2" charset="-122"/>
            </a:endParaRPr>
          </a:p>
        </p:txBody>
      </p:sp>
      <p:sp>
        <p:nvSpPr>
          <p:cNvPr id="4" name="文本框 3"/>
          <p:cNvSpPr txBox="1"/>
          <p:nvPr/>
        </p:nvSpPr>
        <p:spPr>
          <a:xfrm>
            <a:off x="755650" y="6021705"/>
            <a:ext cx="7150100" cy="521970"/>
          </a:xfrm>
          <a:prstGeom prst="rect">
            <a:avLst/>
          </a:prstGeom>
          <a:noFill/>
        </p:spPr>
        <p:txBody>
          <a:bodyPr wrap="square" rtlCol="0" anchor="t">
            <a:spAutoFit/>
          </a:bodyPr>
          <a:lstStyle/>
          <a:p>
            <a:pPr defTabSz="457200"/>
            <a:r>
              <a:rPr lang="zh-CN" altLang="en-US" sz="2800" b="1" dirty="0" smtClean="0">
                <a:sym typeface="+mn-ea"/>
              </a:rPr>
              <a:t>题型：填空，</a:t>
            </a:r>
            <a:r>
              <a:rPr lang="zh-CN" altLang="en-US" sz="2800" b="1" dirty="0" smtClean="0">
                <a:sym typeface="+mn-ea"/>
              </a:rPr>
              <a:t>名词解释</a:t>
            </a:r>
            <a:endParaRPr lang="zh-CN" altLang="en-US" sz="2800" b="1" dirty="0" smtClean="0">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86690" y="45085"/>
            <a:ext cx="8768080" cy="5677535"/>
          </a:xfrm>
          <a:prstGeom prst="rect">
            <a:avLst/>
          </a:prstGeom>
          <a:noFill/>
        </p:spPr>
        <p:txBody>
          <a:bodyPr wrap="square" rtlCol="0" anchor="t">
            <a:spAutoFit/>
          </a:bodyPr>
          <a:lstStyle/>
          <a:p>
            <a:pPr>
              <a:lnSpc>
                <a:spcPct val="150000"/>
              </a:lnSpc>
            </a:pPr>
            <a:r>
              <a:rPr lang="zh-CN" altLang="en-US" sz="2200">
                <a:latin typeface="华文楷体" panose="02010600040101010101" charset="-122"/>
                <a:ea typeface="华文楷体" panose="02010600040101010101" charset="-122"/>
                <a:cs typeface="华文楷体" panose="02010600040101010101" charset="-122"/>
                <a:sym typeface="+mn-ea"/>
              </a:rPr>
              <a:t>第三章晶格振动</a:t>
            </a:r>
            <a:r>
              <a:rPr lang="en-US" altLang="zh-CN" sz="2200">
                <a:latin typeface="华文楷体" panose="02010600040101010101" charset="-122"/>
                <a:ea typeface="华文楷体" panose="02010600040101010101" charset="-122"/>
                <a:cs typeface="华文楷体" panose="02010600040101010101" charset="-122"/>
                <a:sym typeface="+mn-ea"/>
              </a:rPr>
              <a:t> </a:t>
            </a:r>
            <a:r>
              <a:rPr lang="zh-CN" altLang="en-US" sz="2200">
                <a:latin typeface="华文楷体" panose="02010600040101010101" charset="-122"/>
                <a:ea typeface="华文楷体" panose="02010600040101010101" charset="-122"/>
                <a:cs typeface="华文楷体" panose="02010600040101010101" charset="-122"/>
                <a:sym typeface="+mn-ea"/>
              </a:rPr>
              <a:t>作业：</a:t>
            </a:r>
            <a:endParaRPr lang="zh-CN" altLang="en-US" sz="2200" b="0">
              <a:latin typeface="华文楷体" panose="02010600040101010101" charset="-122"/>
              <a:ea typeface="华文楷体" panose="02010600040101010101" charset="-122"/>
              <a:cs typeface="华文楷体" panose="02010600040101010101" charset="-122"/>
            </a:endParaRPr>
          </a:p>
          <a:p>
            <a:pPr>
              <a:lnSpc>
                <a:spcPct val="150000"/>
              </a:lnSpc>
            </a:pPr>
            <a:r>
              <a:rPr lang="en-US" altLang="zh-CN" sz="2200">
                <a:latin typeface="华文楷体" panose="02010600040101010101" charset="-122"/>
                <a:ea typeface="华文楷体" panose="02010600040101010101" charset="-122"/>
                <a:cs typeface="华文楷体" panose="02010600040101010101" charset="-122"/>
                <a:sym typeface="+mn-ea"/>
              </a:rPr>
              <a:t>1</a:t>
            </a:r>
            <a:r>
              <a:rPr lang="zh-CN" altLang="en-US" sz="2200">
                <a:latin typeface="华文楷体" panose="02010600040101010101" charset="-122"/>
                <a:ea typeface="华文楷体" panose="02010600040101010101" charset="-122"/>
                <a:cs typeface="华文楷体" panose="02010600040101010101" charset="-122"/>
                <a:sym typeface="+mn-ea"/>
              </a:rPr>
              <a:t>、</a:t>
            </a:r>
            <a:r>
              <a:rPr lang="en-US" altLang="zh-CN" sz="2200">
                <a:latin typeface="华文楷体" panose="02010600040101010101" charset="-122"/>
                <a:ea typeface="华文楷体" panose="02010600040101010101" charset="-122"/>
                <a:cs typeface="华文楷体" panose="02010600040101010101" charset="-122"/>
                <a:sym typeface="+mn-ea"/>
              </a:rPr>
              <a:t>N</a:t>
            </a:r>
            <a:r>
              <a:rPr lang="zh-CN" altLang="en-US" sz="2200">
                <a:latin typeface="华文楷体" panose="02010600040101010101" charset="-122"/>
                <a:ea typeface="华文楷体" panose="02010600040101010101" charset="-122"/>
                <a:cs typeface="华文楷体" panose="02010600040101010101" charset="-122"/>
                <a:sym typeface="+mn-ea"/>
              </a:rPr>
              <a:t>个原子构成的</a:t>
            </a:r>
            <a:r>
              <a:rPr lang="en-US" altLang="zh-CN" sz="2200">
                <a:highlight>
                  <a:srgbClr val="FFFF00"/>
                </a:highlight>
                <a:latin typeface="华文楷体" panose="02010600040101010101" charset="-122"/>
                <a:ea typeface="华文楷体" panose="02010600040101010101" charset="-122"/>
                <a:cs typeface="华文楷体" panose="02010600040101010101" charset="-122"/>
                <a:sym typeface="+mn-ea"/>
              </a:rPr>
              <a:t>3</a:t>
            </a:r>
            <a:r>
              <a:rPr lang="zh-CN" altLang="en-US" sz="2200">
                <a:highlight>
                  <a:srgbClr val="FFFF00"/>
                </a:highlight>
                <a:latin typeface="华文楷体" panose="02010600040101010101" charset="-122"/>
                <a:ea typeface="华文楷体" panose="02010600040101010101" charset="-122"/>
                <a:cs typeface="华文楷体" panose="02010600040101010101" charset="-122"/>
                <a:sym typeface="+mn-ea"/>
              </a:rPr>
              <a:t>维</a:t>
            </a:r>
            <a:r>
              <a:rPr lang="zh-CN" altLang="en-US" sz="2200">
                <a:latin typeface="华文楷体" panose="02010600040101010101" charset="-122"/>
                <a:ea typeface="华文楷体" panose="02010600040101010101" charset="-122"/>
                <a:cs typeface="华文楷体" panose="02010600040101010101" charset="-122"/>
                <a:sym typeface="+mn-ea"/>
              </a:rPr>
              <a:t>晶体，元胞中原子数量为</a:t>
            </a:r>
            <a:r>
              <a:rPr lang="en-US" altLang="zh-CN" sz="2200">
                <a:latin typeface="华文楷体" panose="02010600040101010101" charset="-122"/>
                <a:ea typeface="华文楷体" panose="02010600040101010101" charset="-122"/>
                <a:cs typeface="华文楷体" panose="02010600040101010101" charset="-122"/>
                <a:sym typeface="+mn-ea"/>
              </a:rPr>
              <a:t>1</a:t>
            </a:r>
            <a:r>
              <a:rPr lang="zh-CN" altLang="en-US" sz="2200">
                <a:latin typeface="华文楷体" panose="02010600040101010101" charset="-122"/>
                <a:ea typeface="华文楷体" panose="02010600040101010101" charset="-122"/>
                <a:cs typeface="华文楷体" panose="02010600040101010101" charset="-122"/>
                <a:sym typeface="+mn-ea"/>
              </a:rPr>
              <a:t>，请在简谐近似下，分析该晶体晶格振动的情况？</a:t>
            </a:r>
            <a:endParaRPr lang="zh-CN" altLang="en-US" sz="2200" b="0">
              <a:latin typeface="华文楷体" panose="02010600040101010101" charset="-122"/>
              <a:ea typeface="华文楷体" panose="02010600040101010101" charset="-122"/>
              <a:cs typeface="华文楷体" panose="02010600040101010101" charset="-122"/>
            </a:endParaRPr>
          </a:p>
          <a:p>
            <a:pPr>
              <a:lnSpc>
                <a:spcPct val="150000"/>
              </a:lnSpc>
            </a:pPr>
            <a:r>
              <a:rPr lang="zh-CN" altLang="en-US" sz="2200">
                <a:highlight>
                  <a:srgbClr val="FFFF00"/>
                </a:highlight>
                <a:latin typeface="华文楷体" panose="02010600040101010101" charset="-122"/>
                <a:ea typeface="华文楷体" panose="02010600040101010101" charset="-122"/>
                <a:cs typeface="华文楷体" panose="02010600040101010101" charset="-122"/>
                <a:sym typeface="+mn-ea"/>
              </a:rPr>
              <a:t>晶格原子的每一个微小振动都是由</a:t>
            </a:r>
            <a:r>
              <a:rPr lang="en-US" altLang="zh-CN" sz="2200">
                <a:highlight>
                  <a:srgbClr val="FFFF00"/>
                </a:highlight>
                <a:latin typeface="华文楷体" panose="02010600040101010101" charset="-122"/>
                <a:ea typeface="华文楷体" panose="02010600040101010101" charset="-122"/>
                <a:cs typeface="华文楷体" panose="02010600040101010101" charset="-122"/>
                <a:sym typeface="+mn-ea"/>
              </a:rPr>
              <a:t>3N</a:t>
            </a:r>
            <a:r>
              <a:rPr lang="zh-CN" altLang="en-US" sz="2200">
                <a:highlight>
                  <a:srgbClr val="FFFF00"/>
                </a:highlight>
                <a:latin typeface="华文楷体" panose="02010600040101010101" charset="-122"/>
                <a:ea typeface="华文楷体" panose="02010600040101010101" charset="-122"/>
                <a:cs typeface="华文楷体" panose="02010600040101010101" charset="-122"/>
                <a:sym typeface="+mn-ea"/>
              </a:rPr>
              <a:t>个简谐振动叠加的复杂运动。</a:t>
            </a:r>
            <a:endParaRPr lang="en-US" altLang="zh-CN" sz="2200" b="0">
              <a:highlight>
                <a:srgbClr val="FFFF00"/>
              </a:highlight>
              <a:latin typeface="华文楷体" panose="02010600040101010101" charset="-122"/>
              <a:ea typeface="华文楷体" panose="02010600040101010101" charset="-122"/>
              <a:cs typeface="华文楷体" panose="02010600040101010101" charset="-122"/>
            </a:endParaRPr>
          </a:p>
          <a:p>
            <a:pPr>
              <a:lnSpc>
                <a:spcPct val="150000"/>
              </a:lnSpc>
            </a:pPr>
            <a:r>
              <a:rPr lang="en-US" altLang="zh-CN" sz="2200">
                <a:latin typeface="华文楷体" panose="02010600040101010101" charset="-122"/>
                <a:ea typeface="华文楷体" panose="02010600040101010101" charset="-122"/>
                <a:cs typeface="华文楷体" panose="02010600040101010101" charset="-122"/>
                <a:sym typeface="+mn-ea"/>
              </a:rPr>
              <a:t>2</a:t>
            </a:r>
            <a:r>
              <a:rPr lang="zh-CN" altLang="en-US" sz="2200">
                <a:latin typeface="华文楷体" panose="02010600040101010101" charset="-122"/>
                <a:ea typeface="华文楷体" panose="02010600040101010101" charset="-122"/>
                <a:cs typeface="华文楷体" panose="02010600040101010101" charset="-122"/>
                <a:sym typeface="+mn-ea"/>
              </a:rPr>
              <a:t>、采用简正坐标后，晶体的晶格振动如何分析？</a:t>
            </a:r>
            <a:endParaRPr lang="zh-CN" altLang="en-US" sz="2200" b="0">
              <a:latin typeface="华文楷体" panose="02010600040101010101" charset="-122"/>
              <a:ea typeface="华文楷体" panose="02010600040101010101" charset="-122"/>
              <a:cs typeface="华文楷体" panose="02010600040101010101" charset="-122"/>
            </a:endParaRPr>
          </a:p>
          <a:p>
            <a:pPr>
              <a:lnSpc>
                <a:spcPct val="150000"/>
              </a:lnSpc>
            </a:pPr>
            <a:r>
              <a:rPr lang="zh-CN" altLang="en-US" sz="2200">
                <a:highlight>
                  <a:srgbClr val="FFFF00"/>
                </a:highlight>
                <a:latin typeface="华文楷体" panose="02010600040101010101" charset="-122"/>
                <a:ea typeface="华文楷体" panose="02010600040101010101" charset="-122"/>
                <a:cs typeface="华文楷体" panose="02010600040101010101" charset="-122"/>
                <a:sym typeface="+mn-ea"/>
              </a:rPr>
              <a:t>将复杂的晶格振动解析成由</a:t>
            </a:r>
            <a:r>
              <a:rPr lang="en-US" altLang="zh-CN" sz="2200">
                <a:highlight>
                  <a:srgbClr val="FFFF00"/>
                </a:highlight>
                <a:latin typeface="华文楷体" panose="02010600040101010101" charset="-122"/>
                <a:ea typeface="华文楷体" panose="02010600040101010101" charset="-122"/>
                <a:cs typeface="华文楷体" panose="02010600040101010101" charset="-122"/>
                <a:sym typeface="+mn-ea"/>
              </a:rPr>
              <a:t>3N</a:t>
            </a:r>
            <a:r>
              <a:rPr lang="zh-CN" altLang="en-US" sz="2200">
                <a:highlight>
                  <a:srgbClr val="FFFF00"/>
                </a:highlight>
                <a:latin typeface="华文楷体" panose="02010600040101010101" charset="-122"/>
                <a:ea typeface="华文楷体" panose="02010600040101010101" charset="-122"/>
                <a:cs typeface="华文楷体" panose="02010600040101010101" charset="-122"/>
                <a:sym typeface="+mn-ea"/>
              </a:rPr>
              <a:t>个彼此独立的线性谐振子来描述，其总能量为</a:t>
            </a:r>
            <a:r>
              <a:rPr lang="en-US" altLang="zh-CN" sz="2200">
                <a:highlight>
                  <a:srgbClr val="FFFF00"/>
                </a:highlight>
                <a:latin typeface="华文楷体" panose="02010600040101010101" charset="-122"/>
                <a:ea typeface="华文楷体" panose="02010600040101010101" charset="-122"/>
                <a:cs typeface="华文楷体" panose="02010600040101010101" charset="-122"/>
                <a:sym typeface="+mn-ea"/>
              </a:rPr>
              <a:t>3N</a:t>
            </a:r>
            <a:r>
              <a:rPr lang="zh-CN" altLang="en-US" sz="2200">
                <a:highlight>
                  <a:srgbClr val="FFFF00"/>
                </a:highlight>
                <a:latin typeface="华文楷体" panose="02010600040101010101" charset="-122"/>
                <a:ea typeface="华文楷体" panose="02010600040101010101" charset="-122"/>
                <a:cs typeface="华文楷体" panose="02010600040101010101" charset="-122"/>
                <a:sym typeface="+mn-ea"/>
              </a:rPr>
              <a:t>个线性谐振子振动能量之和。</a:t>
            </a:r>
            <a:endParaRPr lang="zh-CN" altLang="en-US" sz="2200" b="0">
              <a:highlight>
                <a:srgbClr val="FFFF00"/>
              </a:highlight>
              <a:latin typeface="华文楷体" panose="02010600040101010101" charset="-122"/>
              <a:ea typeface="华文楷体" panose="02010600040101010101" charset="-122"/>
              <a:cs typeface="华文楷体" panose="02010600040101010101" charset="-122"/>
            </a:endParaRPr>
          </a:p>
          <a:p>
            <a:pPr>
              <a:lnSpc>
                <a:spcPct val="150000"/>
              </a:lnSpc>
            </a:pPr>
            <a:r>
              <a:rPr lang="en-US" altLang="zh-CN" sz="2200">
                <a:latin typeface="华文楷体" panose="02010600040101010101" charset="-122"/>
                <a:ea typeface="华文楷体" panose="02010600040101010101" charset="-122"/>
                <a:cs typeface="华文楷体" panose="02010600040101010101" charset="-122"/>
                <a:sym typeface="+mn-ea"/>
              </a:rPr>
              <a:t>3</a:t>
            </a:r>
            <a:r>
              <a:rPr lang="zh-CN" altLang="en-US" sz="2200">
                <a:latin typeface="华文楷体" panose="02010600040101010101" charset="-122"/>
                <a:ea typeface="华文楷体" panose="02010600040101010101" charset="-122"/>
                <a:cs typeface="华文楷体" panose="02010600040101010101" charset="-122"/>
                <a:sym typeface="+mn-ea"/>
              </a:rPr>
              <a:t>、什么是元激发，什么是声子？</a:t>
            </a:r>
            <a:endParaRPr lang="en-US" altLang="zh-CN" sz="2200" b="0">
              <a:latin typeface="华文楷体" panose="02010600040101010101" charset="-122"/>
              <a:ea typeface="华文楷体" panose="02010600040101010101" charset="-122"/>
              <a:cs typeface="华文楷体" panose="02010600040101010101" charset="-122"/>
            </a:endParaRPr>
          </a:p>
          <a:p>
            <a:pPr>
              <a:lnSpc>
                <a:spcPct val="150000"/>
              </a:lnSpc>
            </a:pPr>
            <a:r>
              <a:rPr lang="zh-CN" altLang="en-US" sz="2200">
                <a:highlight>
                  <a:srgbClr val="FFFF00"/>
                </a:highlight>
                <a:latin typeface="华文楷体" panose="02010600040101010101" charset="-122"/>
                <a:ea typeface="华文楷体" panose="02010600040101010101" charset="-122"/>
                <a:cs typeface="华文楷体" panose="02010600040101010101" charset="-122"/>
                <a:sym typeface="+mn-ea"/>
              </a:rPr>
              <a:t>元激发的多粒子系统集体行为能量量子化的体现。多个原子通过强相互作用形成的固体，从基态被激发时，是所有原子在各个方向都参与的集体振动模式，能量是量子化的。量子化单位称为声子。</a:t>
            </a:r>
            <a:endParaRPr lang="zh-CN" altLang="en-US" sz="2200" noProof="0" dirty="0">
              <a:ln>
                <a:noFill/>
              </a:ln>
              <a:effectLst/>
              <a:highlight>
                <a:srgbClr val="FFFF00"/>
              </a:highlight>
              <a:uLnTx/>
              <a:uFillTx/>
              <a:latin typeface="华文楷体" panose="02010600040101010101" charset="-122"/>
              <a:ea typeface="华文楷体" panose="02010600040101010101" charset="-122"/>
              <a:cs typeface="华文楷体" panose="02010600040101010101"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7360" y="476885"/>
            <a:ext cx="8165465" cy="5677535"/>
          </a:xfrm>
          <a:prstGeom prst="rect">
            <a:avLst/>
          </a:prstGeom>
          <a:noFill/>
        </p:spPr>
        <p:txBody>
          <a:bodyPr wrap="square" rtlCol="0" anchor="t">
            <a:spAutoFit/>
          </a:bodyPr>
          <a:lstStyle/>
          <a:p>
            <a:pPr>
              <a:lnSpc>
                <a:spcPct val="150000"/>
              </a:lnSpc>
            </a:pPr>
            <a:r>
              <a:rPr lang="en-US" altLang="zh-CN" sz="2200" dirty="0">
                <a:latin typeface="华文楷体" panose="02010600040101010101" charset="-122"/>
                <a:ea typeface="华文楷体" panose="02010600040101010101" charset="-122"/>
                <a:cs typeface="华文楷体" panose="02010600040101010101" charset="-122"/>
                <a:sym typeface="+mn-ea"/>
              </a:rPr>
              <a:t>4</a:t>
            </a:r>
            <a:r>
              <a:rPr lang="zh-CN" altLang="en-US" sz="2200" dirty="0">
                <a:latin typeface="华文楷体" panose="02010600040101010101" charset="-122"/>
                <a:ea typeface="华文楷体" panose="02010600040101010101" charset="-122"/>
                <a:cs typeface="华文楷体" panose="02010600040101010101" charset="-122"/>
                <a:sym typeface="+mn-ea"/>
              </a:rPr>
              <a:t>、引入声子概念后，对相关研究和分析带来哪些便利？</a:t>
            </a:r>
            <a:endParaRPr lang="zh-CN" altLang="en-US" sz="2200" b="0" dirty="0">
              <a:latin typeface="华文楷体" panose="02010600040101010101" charset="-122"/>
              <a:ea typeface="华文楷体" panose="02010600040101010101" charset="-122"/>
              <a:cs typeface="华文楷体" panose="02010600040101010101" charset="-122"/>
            </a:endParaRPr>
          </a:p>
          <a:p>
            <a:pPr>
              <a:lnSpc>
                <a:spcPct val="150000"/>
              </a:lnSpc>
            </a:pPr>
            <a:endParaRPr lang="en-US" altLang="zh-CN" sz="2200" dirty="0">
              <a:latin typeface="华文楷体" panose="02010600040101010101" charset="-122"/>
              <a:ea typeface="华文楷体" panose="02010600040101010101" charset="-122"/>
              <a:cs typeface="华文楷体" panose="02010600040101010101" charset="-122"/>
              <a:sym typeface="+mn-ea"/>
            </a:endParaRPr>
          </a:p>
          <a:p>
            <a:pPr>
              <a:lnSpc>
                <a:spcPct val="150000"/>
              </a:lnSpc>
            </a:pPr>
            <a:endParaRPr lang="en-US" altLang="zh-CN" sz="2200" dirty="0">
              <a:latin typeface="华文楷体" panose="02010600040101010101" charset="-122"/>
              <a:ea typeface="华文楷体" panose="02010600040101010101" charset="-122"/>
              <a:cs typeface="华文楷体" panose="02010600040101010101" charset="-122"/>
              <a:sym typeface="+mn-ea"/>
            </a:endParaRPr>
          </a:p>
          <a:p>
            <a:pPr>
              <a:lnSpc>
                <a:spcPct val="150000"/>
              </a:lnSpc>
            </a:pPr>
            <a:endParaRPr lang="en-US" altLang="zh-CN" sz="2200" dirty="0">
              <a:latin typeface="华文楷体" panose="02010600040101010101" charset="-122"/>
              <a:ea typeface="华文楷体" panose="02010600040101010101" charset="-122"/>
              <a:cs typeface="华文楷体" panose="02010600040101010101" charset="-122"/>
              <a:sym typeface="+mn-ea"/>
            </a:endParaRPr>
          </a:p>
          <a:p>
            <a:pPr>
              <a:lnSpc>
                <a:spcPct val="150000"/>
              </a:lnSpc>
            </a:pPr>
            <a:endParaRPr lang="en-US" altLang="zh-CN" sz="2200" dirty="0">
              <a:latin typeface="华文楷体" panose="02010600040101010101" charset="-122"/>
              <a:ea typeface="华文楷体" panose="02010600040101010101" charset="-122"/>
              <a:cs typeface="华文楷体" panose="02010600040101010101" charset="-122"/>
              <a:sym typeface="+mn-ea"/>
            </a:endParaRPr>
          </a:p>
          <a:p>
            <a:pPr>
              <a:lnSpc>
                <a:spcPct val="150000"/>
              </a:lnSpc>
            </a:pPr>
            <a:r>
              <a:rPr lang="en-US" altLang="zh-CN" sz="2200" dirty="0">
                <a:latin typeface="华文楷体" panose="02010600040101010101" charset="-122"/>
                <a:ea typeface="华文楷体" panose="02010600040101010101" charset="-122"/>
                <a:cs typeface="华文楷体" panose="02010600040101010101" charset="-122"/>
                <a:sym typeface="+mn-ea"/>
              </a:rPr>
              <a:t>5</a:t>
            </a:r>
            <a:r>
              <a:rPr lang="zh-CN" altLang="en-US" sz="2200" dirty="0">
                <a:latin typeface="华文楷体" panose="02010600040101010101" charset="-122"/>
                <a:ea typeface="华文楷体" panose="02010600040101010101" charset="-122"/>
                <a:cs typeface="华文楷体" panose="02010600040101010101" charset="-122"/>
                <a:sym typeface="+mn-ea"/>
              </a:rPr>
              <a:t>、</a:t>
            </a:r>
            <a:r>
              <a:rPr lang="en-US" altLang="zh-CN" sz="2200" dirty="0">
                <a:latin typeface="华文楷体" panose="02010600040101010101" charset="-122"/>
                <a:ea typeface="华文楷体" panose="02010600040101010101" charset="-122"/>
                <a:cs typeface="华文楷体" panose="02010600040101010101" charset="-122"/>
                <a:sym typeface="+mn-ea"/>
              </a:rPr>
              <a:t>n</a:t>
            </a:r>
            <a:r>
              <a:rPr lang="zh-CN" altLang="en-US" sz="2200" dirty="0">
                <a:latin typeface="华文楷体" panose="02010600040101010101" charset="-122"/>
                <a:ea typeface="华文楷体" panose="02010600040101010101" charset="-122"/>
                <a:cs typeface="华文楷体" panose="02010600040101010101" charset="-122"/>
                <a:sym typeface="+mn-ea"/>
              </a:rPr>
              <a:t>个基原子，</a:t>
            </a:r>
            <a:r>
              <a:rPr lang="en-US" altLang="zh-CN" sz="2200" dirty="0">
                <a:latin typeface="华文楷体" panose="02010600040101010101" charset="-122"/>
                <a:ea typeface="华文楷体" panose="02010600040101010101" charset="-122"/>
                <a:cs typeface="华文楷体" panose="02010600040101010101" charset="-122"/>
                <a:sym typeface="+mn-ea"/>
              </a:rPr>
              <a:t>N</a:t>
            </a:r>
            <a:r>
              <a:rPr lang="zh-CN" altLang="en-US" sz="2200" dirty="0">
                <a:latin typeface="华文楷体" panose="02010600040101010101" charset="-122"/>
                <a:ea typeface="华文楷体" panose="02010600040101010101" charset="-122"/>
                <a:cs typeface="华文楷体" panose="02010600040101010101" charset="-122"/>
                <a:sym typeface="+mn-ea"/>
              </a:rPr>
              <a:t>个元胞的</a:t>
            </a:r>
            <a:r>
              <a:rPr lang="zh-CN" altLang="en-US" sz="2200" dirty="0">
                <a:highlight>
                  <a:srgbClr val="FFFF00"/>
                </a:highlight>
                <a:latin typeface="华文楷体" panose="02010600040101010101" charset="-122"/>
                <a:ea typeface="华文楷体" panose="02010600040101010101" charset="-122"/>
                <a:cs typeface="华文楷体" panose="02010600040101010101" charset="-122"/>
                <a:sym typeface="+mn-ea"/>
              </a:rPr>
              <a:t>三维</a:t>
            </a:r>
            <a:r>
              <a:rPr lang="zh-CN" altLang="en-US" sz="2200" dirty="0">
                <a:latin typeface="华文楷体" panose="02010600040101010101" charset="-122"/>
                <a:ea typeface="华文楷体" panose="02010600040101010101" charset="-122"/>
                <a:cs typeface="华文楷体" panose="02010600040101010101" charset="-122"/>
                <a:sym typeface="+mn-ea"/>
              </a:rPr>
              <a:t>晶体，可以用多少种声子来表征和分析，其能量是多少？</a:t>
            </a:r>
            <a:endParaRPr lang="zh-CN" altLang="en-US" sz="2200" b="0" dirty="0">
              <a:latin typeface="华文楷体" panose="02010600040101010101" charset="-122"/>
              <a:ea typeface="华文楷体" panose="02010600040101010101" charset="-122"/>
              <a:cs typeface="华文楷体" panose="02010600040101010101" charset="-122"/>
            </a:endParaRPr>
          </a:p>
          <a:p>
            <a:pPr marL="0" marR="0" lvl="0" indent="0" algn="l" defTabSz="914400" rtl="0" eaLnBrk="1" fontAlgn="base" latinLnBrk="0" hangingPunct="1">
              <a:lnSpc>
                <a:spcPct val="150000"/>
              </a:lnSpc>
              <a:spcBef>
                <a:spcPct val="0"/>
              </a:spcBef>
              <a:spcAft>
                <a:spcPct val="0"/>
              </a:spcAft>
              <a:buClrTx/>
              <a:buSzTx/>
              <a:buFontTx/>
              <a:buNone/>
              <a:defRPr/>
            </a:pPr>
            <a:r>
              <a:rPr lang="zh-CN" altLang="en-US" sz="2200" noProof="0" dirty="0">
                <a:ln>
                  <a:noFill/>
                </a:ln>
                <a:effectLst/>
                <a:uLnTx/>
                <a:uFillTx/>
                <a:latin typeface="华文楷体" panose="02010600040101010101" charset="-122"/>
                <a:ea typeface="华文楷体" panose="02010600040101010101" charset="-122"/>
                <a:cs typeface="华文楷体" panose="02010600040101010101" charset="-122"/>
                <a:sym typeface="+mn-ea"/>
              </a:rPr>
              <a:t>概念解释：声子</a:t>
            </a:r>
            <a:r>
              <a:rPr lang="zh-CN" altLang="en-US" sz="2200" noProof="0" dirty="0" smtClean="0">
                <a:ln>
                  <a:noFill/>
                </a:ln>
                <a:effectLst/>
                <a:uLnTx/>
                <a:uFillTx/>
                <a:latin typeface="华文楷体" panose="02010600040101010101" charset="-122"/>
                <a:ea typeface="华文楷体" panose="02010600040101010101" charset="-122"/>
                <a:cs typeface="华文楷体" panose="02010600040101010101" charset="-122"/>
                <a:sym typeface="+mn-ea"/>
              </a:rPr>
              <a:t>、格波（晶格振动以波的形式传播）、</a:t>
            </a:r>
            <a:r>
              <a:rPr lang="zh-CN" altLang="en-US" sz="2200" noProof="0" dirty="0">
                <a:ln>
                  <a:noFill/>
                </a:ln>
                <a:effectLst/>
                <a:uLnTx/>
                <a:uFillTx/>
                <a:latin typeface="华文楷体" panose="02010600040101010101" charset="-122"/>
                <a:ea typeface="华文楷体" panose="02010600040101010101" charset="-122"/>
                <a:cs typeface="华文楷体" panose="02010600040101010101" charset="-122"/>
                <a:sym typeface="+mn-ea"/>
              </a:rPr>
              <a:t>色散关系（晶格振动的频率和波矢之间的关系）、第一布里渊区（倒空间中原点与其所有最近邻倒格点之间的垂直平分面共同划分的区域，大小为一个倒格子元胞。）</a:t>
            </a:r>
            <a:r>
              <a:rPr lang="zh-CN" altLang="en-US" sz="2200" noProof="0" dirty="0">
                <a:ln>
                  <a:noFill/>
                </a:ln>
                <a:effectLst/>
                <a:highlight>
                  <a:srgbClr val="FFFF00"/>
                </a:highlight>
                <a:uLnTx/>
                <a:uFillTx/>
                <a:latin typeface="华文楷体" panose="02010600040101010101" charset="-122"/>
                <a:ea typeface="华文楷体" panose="02010600040101010101" charset="-122"/>
                <a:cs typeface="华文楷体" panose="02010600040101010101" charset="-122"/>
                <a:sym typeface="+mn-ea"/>
              </a:rPr>
              <a:t>简谐振动</a:t>
            </a:r>
            <a:endParaRPr kumimoji="0" lang="zh-CN" altLang="en-US" sz="2200" b="0" i="0" u="none" strike="noStrike" kern="1200" cap="none" spc="0" normalizeH="0" baseline="0" noProof="0" dirty="0">
              <a:ln>
                <a:noFill/>
              </a:ln>
              <a:solidFill>
                <a:schemeClr val="tx1"/>
              </a:solidFill>
              <a:effectLst/>
              <a:highlight>
                <a:srgbClr val="FFFF00"/>
              </a:highlight>
              <a:uLnTx/>
              <a:uFillTx/>
              <a:latin typeface="华文楷体" panose="02010600040101010101" charset="-122"/>
              <a:ea typeface="华文楷体" panose="02010600040101010101" charset="-122"/>
              <a:cs typeface="华文楷体" panose="02010600040101010101" charset="-122"/>
              <a:sym typeface="+mn-ea"/>
            </a:endParaRPr>
          </a:p>
        </p:txBody>
      </p:sp>
      <p:pic>
        <p:nvPicPr>
          <p:cNvPr id="5" name="图片 4"/>
          <p:cNvPicPr>
            <a:picLocks noChangeAspect="1"/>
          </p:cNvPicPr>
          <p:nvPr/>
        </p:nvPicPr>
        <p:blipFill>
          <a:blip r:embed="rId1"/>
          <a:stretch>
            <a:fillRect/>
          </a:stretch>
        </p:blipFill>
        <p:spPr>
          <a:xfrm>
            <a:off x="611505" y="1052830"/>
            <a:ext cx="7239635" cy="202501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95"/>
          <p:cNvGraphicFramePr>
            <a:graphicFrameLocks noGrp="1"/>
          </p:cNvGraphicFramePr>
          <p:nvPr/>
        </p:nvGraphicFramePr>
        <p:xfrm>
          <a:off x="71438" y="1973263"/>
          <a:ext cx="8936037" cy="2987675"/>
        </p:xfrm>
        <a:graphic>
          <a:graphicData uri="http://schemas.openxmlformats.org/drawingml/2006/table">
            <a:tbl>
              <a:tblPr/>
              <a:tblGrid>
                <a:gridCol w="1409700"/>
                <a:gridCol w="1323975"/>
                <a:gridCol w="1057275"/>
                <a:gridCol w="1312862"/>
                <a:gridCol w="624205"/>
                <a:gridCol w="1618933"/>
                <a:gridCol w="1589087"/>
              </a:tblGrid>
              <a:tr h="426770">
                <a:tc row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CCFFFF"/>
                    </a:solidFill>
                  </a:tcPr>
                </a:tc>
                <a:tc row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原胞内含</a:t>
                      </a:r>
                      <a:endPar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原子数</a:t>
                      </a:r>
                      <a:endPar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CCFFFF"/>
                    </a:solidFill>
                  </a:tcPr>
                </a:tc>
                <a:tc row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原胞数</a:t>
                      </a:r>
                      <a:endPar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CCFFFF"/>
                    </a:solidFill>
                  </a:tcPr>
                </a:tc>
                <a:tc row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自由度数</a:t>
                      </a:r>
                      <a:endPar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CCFFFF"/>
                    </a:solidFill>
                  </a:tcPr>
                </a:tc>
                <a:tc row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第一布区中</a:t>
                      </a:r>
                      <a:r>
                        <a:rPr kumimoji="0"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k</a:t>
                      </a:r>
                      <a:r>
                        <a:rPr kumimoji="0"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数</a:t>
                      </a:r>
                      <a:endParaRPr kumimoji="0"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CCFFFF"/>
                    </a:solidFill>
                  </a:tcPr>
                </a:tc>
                <a:tc grid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格波数</a:t>
                      </a:r>
                      <a:endPar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triangle" w="med" len="med"/>
                    </a:lnB>
                    <a:lnTlToBr>
                      <a:noFill/>
                    </a:lnTlToBr>
                    <a:lnBlToTr>
                      <a:noFill/>
                    </a:lnBlToTr>
                    <a:solidFill>
                      <a:srgbClr val="CCFFFF"/>
                    </a:solidFill>
                  </a:tcPr>
                </a:tc>
                <a:tc hMerge="1">
                  <a:tcPr/>
                </a:tc>
              </a:tr>
              <a:tr h="640124">
                <a:tc vMerge="1">
                  <a:tcPr/>
                </a:tc>
                <a:tc vMerge="1">
                  <a:tcPr/>
                </a:tc>
                <a:tc vMerge="1">
                  <a:tcPr/>
                </a:tc>
                <a:tc vMerge="1">
                  <a:tcPr/>
                </a:tc>
                <a:tc vMerge="1">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声学格波数</a:t>
                      </a:r>
                      <a:endPar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rgbClr val="CCFFFF"/>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光学格波数</a:t>
                      </a:r>
                      <a:endParaRPr kumimoji="0" lang="zh-CN" altLang="en-US" sz="22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triangle" w="med" len="med"/>
                    </a:lnB>
                    <a:lnTlToBr>
                      <a:noFill/>
                    </a:lnTlToBr>
                    <a:lnBlToTr>
                      <a:noFill/>
                    </a:lnBlToTr>
                    <a:solidFill>
                      <a:srgbClr val="CCFFFF"/>
                    </a:solidFill>
                  </a:tcPr>
                </a:tc>
              </a:tr>
              <a:tr h="1920781">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单原子链</a:t>
                      </a: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双原子链</a:t>
                      </a: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三维晶体</a:t>
                      </a: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3nN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triangl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3(n-1)N</a:t>
                      </a:r>
                      <a:endPar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33" marB="45733" horzOverflow="overflow">
                    <a:lnL w="12700" cap="flat" cmpd="sng" algn="ctr">
                      <a:solidFill>
                        <a:srgbClr val="000000"/>
                      </a:solidFill>
                      <a:prstDash val="solid"/>
                      <a:round/>
                      <a:headEnd type="none" w="med" len="med"/>
                      <a:tailEnd type="triangl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triangl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r>
            </a:tbl>
          </a:graphicData>
        </a:graphic>
      </p:graphicFrame>
      <p:sp>
        <p:nvSpPr>
          <p:cNvPr id="3" name="Rectangle 35"/>
          <p:cNvSpPr>
            <a:spLocks noChangeArrowheads="1"/>
          </p:cNvSpPr>
          <p:nvPr/>
        </p:nvSpPr>
        <p:spPr bwMode="auto">
          <a:xfrm>
            <a:off x="779463" y="1109663"/>
            <a:ext cx="7326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b="0">
                <a:solidFill>
                  <a:srgbClr val="0000FF"/>
                </a:solidFill>
                <a:latin typeface="宋体" panose="02010600030101010101" pitchFamily="2" charset="-122"/>
                <a:ea typeface="宋体" panose="02010600030101010101" pitchFamily="2" charset="-122"/>
              </a:rPr>
              <a:t>  </a:t>
            </a:r>
            <a:r>
              <a:rPr lang="zh-CN" altLang="en-US">
                <a:solidFill>
                  <a:srgbClr val="0000FF"/>
                </a:solidFill>
                <a:latin typeface="宋体" panose="02010600030101010101" pitchFamily="2" charset="-122"/>
                <a:ea typeface="宋体" panose="02010600030101010101" pitchFamily="2" charset="-122"/>
              </a:rPr>
              <a:t>格波数与晶体的维数及晶胞内原子数的关系</a:t>
            </a:r>
            <a:endParaRPr lang="zh-CN" altLang="en-US">
              <a:solidFill>
                <a:srgbClr val="0000FF"/>
              </a:solidFill>
              <a:latin typeface="宋体" panose="02010600030101010101" pitchFamily="2" charset="-122"/>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542290" y="332740"/>
            <a:ext cx="6569710" cy="521970"/>
          </a:xfrm>
          <a:prstGeom prst="rect">
            <a:avLst/>
          </a:prstGeom>
        </p:spPr>
        <p:txBody>
          <a:bodyPr wrap="square">
            <a:spAutoFit/>
          </a:bodyPr>
          <a:lstStyle/>
          <a:p>
            <a:pPr marL="0" indent="0" algn="just" defTabSz="266700">
              <a:spcBef>
                <a:spcPct val="0"/>
              </a:spcBef>
              <a:spcAft>
                <a:spcPct val="0"/>
              </a:spcAft>
            </a:pPr>
            <a:r>
              <a:rPr lang="zh-CN" altLang="en-US" sz="2800" b="1">
                <a:latin typeface="宋体" panose="02010600030101010101" pitchFamily="2" charset="-122"/>
                <a:ea typeface="宋体" panose="02010600030101010101" pitchFamily="2" charset="-122"/>
              </a:rPr>
              <a:t>知识单元十一</a:t>
            </a:r>
            <a:r>
              <a:rPr lang="en-US" altLang="zh-CN" sz="2800" b="1">
                <a:solidFill>
                  <a:srgbClr val="000000"/>
                </a:solidFill>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晶体中的电子状态</a:t>
            </a:r>
            <a:endParaRPr lang="zh-CN" altLang="en-US" sz="2800" b="1">
              <a:latin typeface="宋体" panose="02010600030101010101" pitchFamily="2" charset="-122"/>
              <a:ea typeface="宋体" panose="02010600030101010101" pitchFamily="2" charset="-122"/>
            </a:endParaRPr>
          </a:p>
        </p:txBody>
      </p:sp>
      <p:sp>
        <p:nvSpPr>
          <p:cNvPr id="3" name="文本框 2"/>
          <p:cNvSpPr txBox="1"/>
          <p:nvPr/>
        </p:nvSpPr>
        <p:spPr>
          <a:xfrm>
            <a:off x="755650" y="1196975"/>
            <a:ext cx="7748270" cy="3329758"/>
          </a:xfrm>
          <a:prstGeom prst="rect">
            <a:avLst/>
          </a:prstGeom>
        </p:spPr>
        <p:txBody>
          <a:bodyPr wrap="square">
            <a:spAutoFit/>
          </a:bodyPr>
          <a:lstStyle/>
          <a:p>
            <a:pPr marL="0" indent="0" algn="just" defTabSz="266700">
              <a:lnSpc>
                <a:spcPct val="150000"/>
              </a:lnSpc>
              <a:spcBef>
                <a:spcPct val="0"/>
              </a:spcBef>
              <a:spcAft>
                <a:spcPct val="0"/>
              </a:spcAft>
            </a:pP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金属中自由电子的状态描述；</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能带论的三个假设以及电子在周期场中运动的状态描述</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布洛赫波函数，理解波函数的推导过程；</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准自由电子近似方</a:t>
            </a:r>
            <a:r>
              <a:rPr lang="zh-CN" altLang="en-US" sz="2400" dirty="0" smtClean="0">
                <a:latin typeface="宋体" panose="02010600030101010101" pitchFamily="2" charset="-122"/>
                <a:ea typeface="宋体" panose="02010600030101010101" pitchFamily="2" charset="-122"/>
              </a:rPr>
              <a:t>法；</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导体、绝缘体、半导体的能带特征；</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晶体中电子的准经典运动状态和相关描述，</a:t>
            </a:r>
            <a:r>
              <a:rPr lang="zh-CN" altLang="en-US" sz="2400" dirty="0">
                <a:highlight>
                  <a:srgbClr val="FFFF00"/>
                </a:highlight>
                <a:latin typeface="宋体" panose="02010600030101010101" pitchFamily="2" charset="-122"/>
                <a:ea typeface="宋体" panose="02010600030101010101" pitchFamily="2" charset="-122"/>
              </a:rPr>
              <a:t>掌握</a:t>
            </a:r>
            <a:r>
              <a:rPr lang="zh-CN" altLang="en-US" sz="2400" dirty="0">
                <a:latin typeface="宋体" panose="02010600030101010101" pitchFamily="2" charset="-122"/>
                <a:ea typeface="宋体" panose="02010600030101010101" pitchFamily="2" charset="-122"/>
              </a:rPr>
              <a:t>有效质量定义和物理含义。</a:t>
            </a:r>
            <a:endParaRPr lang="zh-CN" altLang="en-US" sz="2400" dirty="0">
              <a:latin typeface="宋体" panose="02010600030101010101" pitchFamily="2" charset="-122"/>
              <a:ea typeface="宋体" panose="02010600030101010101" pitchFamily="2" charset="-122"/>
            </a:endParaRPr>
          </a:p>
        </p:txBody>
      </p:sp>
      <p:sp>
        <p:nvSpPr>
          <p:cNvPr id="4" name="文本框 3"/>
          <p:cNvSpPr txBox="1"/>
          <p:nvPr/>
        </p:nvSpPr>
        <p:spPr>
          <a:xfrm>
            <a:off x="755650" y="6021705"/>
            <a:ext cx="7150100" cy="521970"/>
          </a:xfrm>
          <a:prstGeom prst="rect">
            <a:avLst/>
          </a:prstGeom>
          <a:noFill/>
        </p:spPr>
        <p:txBody>
          <a:bodyPr wrap="square" rtlCol="0" anchor="t">
            <a:spAutoFit/>
          </a:bodyPr>
          <a:lstStyle/>
          <a:p>
            <a:pPr defTabSz="457200"/>
            <a:r>
              <a:rPr lang="zh-CN" altLang="en-US" sz="2800" b="1" dirty="0" smtClean="0">
                <a:sym typeface="+mn-ea"/>
              </a:rPr>
              <a:t>题型：填空，简答</a:t>
            </a:r>
            <a:r>
              <a:rPr lang="en-US" altLang="zh-CN" sz="2800" b="1" dirty="0" smtClean="0">
                <a:sym typeface="+mn-ea"/>
              </a:rPr>
              <a:t> </a:t>
            </a:r>
            <a:endParaRPr lang="en-US" altLang="zh-CN" sz="2800" b="1" dirty="0" smtClean="0">
              <a:sym typeface="+mn-ea"/>
            </a:endParaRP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noChangeArrowheads="1"/>
          </p:cNvSpPr>
          <p:nvPr>
            <p:ph type="sldNum" sz="quarter" idx="4294967295"/>
          </p:nvPr>
        </p:nvSpPr>
        <p:spPr>
          <a:xfrm>
            <a:off x="6804025" y="34925"/>
            <a:ext cx="2133600" cy="476250"/>
          </a:xfrm>
          <a:prstGeom prst="rect">
            <a:avLst/>
          </a:prstGeom>
        </p:spPr>
        <p:txBody>
          <a:bodyPr/>
          <a:lstStyle/>
          <a:p>
            <a:fld id="{B0F1CBC6-9220-47A0-A4F3-B54EDAA0A651}" type="slidenum">
              <a:rPr lang="en-US" altLang="zh-CN"/>
            </a:fld>
            <a:endParaRPr lang="en-US" altLang="zh-CN"/>
          </a:p>
        </p:txBody>
      </p:sp>
      <p:sp>
        <p:nvSpPr>
          <p:cNvPr id="2" name="文本框 1"/>
          <p:cNvSpPr txBox="1"/>
          <p:nvPr/>
        </p:nvSpPr>
        <p:spPr>
          <a:xfrm>
            <a:off x="395605" y="116840"/>
            <a:ext cx="8453120" cy="6141085"/>
          </a:xfrm>
          <a:prstGeom prst="rect">
            <a:avLst/>
          </a:prstGeom>
          <a:noFill/>
        </p:spPr>
        <p:txBody>
          <a:bodyPr wrap="square" rtlCol="0" anchor="t">
            <a:noAutofit/>
          </a:bodyPr>
          <a:lstStyle/>
          <a:p>
            <a:pPr>
              <a:lnSpc>
                <a:spcPct val="130000"/>
              </a:lnSpc>
              <a:spcBef>
                <a:spcPts val="0"/>
              </a:spcBef>
              <a:spcAft>
                <a:spcPts val="0"/>
              </a:spcAft>
            </a:pPr>
            <a:r>
              <a:rPr lang="zh-CN" altLang="en-US" dirty="0">
                <a:latin typeface="Times New Roman" panose="02020603050405020304" pitchFamily="18" charset="0"/>
                <a:ea typeface="宋体" panose="02010600030101010101" pitchFamily="2" charset="-122"/>
                <a:sym typeface="+mn-ea"/>
              </a:rPr>
              <a:t>作业：</a:t>
            </a:r>
            <a:endParaRPr lang="zh-CN" altLang="en-US" dirty="0">
              <a:latin typeface="Times New Roman" panose="02020603050405020304" pitchFamily="18" charset="0"/>
              <a:ea typeface="宋体" panose="02010600030101010101" pitchFamily="2" charset="-122"/>
            </a:endParaRPr>
          </a:p>
          <a:p>
            <a:pPr marL="457200" indent="-457200">
              <a:lnSpc>
                <a:spcPct val="130000"/>
              </a:lnSpc>
              <a:spcBef>
                <a:spcPts val="0"/>
              </a:spcBef>
              <a:spcAft>
                <a:spcPts val="0"/>
              </a:spcAft>
              <a:buFont typeface="+mj-lt"/>
              <a:buAutoNum type="arabicPeriod"/>
            </a:pPr>
            <a:r>
              <a:rPr lang="zh-CN" altLang="en-US" sz="2000" dirty="0" smtClean="0">
                <a:latin typeface="Times New Roman" panose="02020603050405020304" pitchFamily="18" charset="0"/>
                <a:ea typeface="宋体" panose="02010600030101010101" pitchFamily="2" charset="-122"/>
                <a:sym typeface="+mn-ea"/>
              </a:rPr>
              <a:t>什么是费</a:t>
            </a:r>
            <a:r>
              <a:rPr lang="zh-CN" altLang="en-US" sz="2000" dirty="0">
                <a:latin typeface="Times New Roman" panose="02020603050405020304" pitchFamily="18" charset="0"/>
                <a:ea typeface="宋体" panose="02010600030101010101" pitchFamily="2" charset="-122"/>
                <a:sym typeface="+mn-ea"/>
              </a:rPr>
              <a:t>米能级？给出费米-狄拉克分布函数，分析T=0K和T&gt;0K条件下，E</a:t>
            </a:r>
            <a:r>
              <a:rPr lang="zh-CN" altLang="en-US" sz="1200" dirty="0">
                <a:latin typeface="Times New Roman" panose="02020603050405020304" pitchFamily="18" charset="0"/>
                <a:ea typeface="宋体" panose="02010600030101010101" pitchFamily="2" charset="-122"/>
                <a:sym typeface="+mn-ea"/>
              </a:rPr>
              <a:t>F</a:t>
            </a:r>
            <a:r>
              <a:rPr lang="zh-CN" altLang="en-US" sz="2000" dirty="0">
                <a:latin typeface="Times New Roman" panose="02020603050405020304" pitchFamily="18" charset="0"/>
                <a:ea typeface="宋体" panose="02010600030101010101" pitchFamily="2" charset="-122"/>
                <a:sym typeface="+mn-ea"/>
              </a:rPr>
              <a:t>，低于E</a:t>
            </a:r>
            <a:r>
              <a:rPr lang="zh-CN" altLang="en-US" sz="1600" dirty="0">
                <a:latin typeface="Times New Roman" panose="02020603050405020304" pitchFamily="18" charset="0"/>
                <a:ea typeface="宋体" panose="02010600030101010101" pitchFamily="2" charset="-122"/>
                <a:sym typeface="+mn-ea"/>
              </a:rPr>
              <a:t>F</a:t>
            </a:r>
            <a:r>
              <a:rPr lang="zh-CN" altLang="en-US" sz="2000" dirty="0">
                <a:latin typeface="Times New Roman" panose="02020603050405020304" pitchFamily="18" charset="0"/>
                <a:ea typeface="宋体" panose="02010600030101010101" pitchFamily="2" charset="-122"/>
                <a:sym typeface="+mn-ea"/>
              </a:rPr>
              <a:t>的能级和高于E</a:t>
            </a:r>
            <a:r>
              <a:rPr lang="zh-CN" altLang="en-US" sz="1600" dirty="0">
                <a:latin typeface="Times New Roman" panose="02020603050405020304" pitchFamily="18" charset="0"/>
                <a:ea typeface="宋体" panose="02010600030101010101" pitchFamily="2" charset="-122"/>
                <a:sym typeface="+mn-ea"/>
              </a:rPr>
              <a:t>F</a:t>
            </a:r>
            <a:r>
              <a:rPr lang="zh-CN" altLang="en-US" sz="2000" dirty="0">
                <a:latin typeface="Times New Roman" panose="02020603050405020304" pitchFamily="18" charset="0"/>
                <a:ea typeface="宋体" panose="02010600030101010101" pitchFamily="2" charset="-122"/>
                <a:sym typeface="+mn-ea"/>
              </a:rPr>
              <a:t>的能级被电子占据的概率</a:t>
            </a:r>
            <a:r>
              <a:rPr lang="zh-CN" altLang="en-US" sz="2000" dirty="0" smtClean="0">
                <a:latin typeface="Times New Roman" panose="02020603050405020304" pitchFamily="18" charset="0"/>
                <a:ea typeface="宋体" panose="02010600030101010101" pitchFamily="2" charset="-122"/>
                <a:sym typeface="+mn-ea"/>
              </a:rPr>
              <a:t>。（具体分析见讲义</a:t>
            </a:r>
            <a:r>
              <a:rPr lang="en-US" altLang="zh-CN" sz="2000" dirty="0" smtClean="0">
                <a:latin typeface="Times New Roman" panose="02020603050405020304" pitchFamily="18" charset="0"/>
                <a:ea typeface="宋体" panose="02010600030101010101" pitchFamily="2" charset="-122"/>
                <a:sym typeface="+mn-ea"/>
              </a:rPr>
              <a:t>ppt9</a:t>
            </a:r>
            <a:r>
              <a:rPr lang="zh-CN" altLang="en-US" sz="2000" dirty="0" smtClean="0">
                <a:latin typeface="Times New Roman" panose="02020603050405020304" pitchFamily="18" charset="0"/>
                <a:ea typeface="宋体" panose="02010600030101010101" pitchFamily="2" charset="-122"/>
                <a:sym typeface="+mn-ea"/>
              </a:rPr>
              <a:t>、</a:t>
            </a:r>
            <a:r>
              <a:rPr lang="en-US" altLang="zh-CN" sz="2000" dirty="0" smtClean="0">
                <a:latin typeface="Times New Roman" panose="02020603050405020304" pitchFamily="18" charset="0"/>
                <a:ea typeface="宋体" panose="02010600030101010101" pitchFamily="2" charset="-122"/>
                <a:sym typeface="+mn-ea"/>
              </a:rPr>
              <a:t>10</a:t>
            </a:r>
            <a:r>
              <a:rPr lang="zh-CN" altLang="en-US" sz="2000" dirty="0" smtClean="0">
                <a:latin typeface="Times New Roman" panose="02020603050405020304" pitchFamily="18" charset="0"/>
                <a:ea typeface="宋体" panose="02010600030101010101" pitchFamily="2" charset="-122"/>
                <a:sym typeface="+mn-ea"/>
              </a:rPr>
              <a:t>页</a:t>
            </a:r>
            <a:r>
              <a:rPr lang="en-US" altLang="zh-CN" sz="2000" dirty="0" smtClean="0">
                <a:latin typeface="Times New Roman" panose="02020603050405020304" pitchFamily="18" charset="0"/>
                <a:ea typeface="宋体" panose="02010600030101010101" pitchFamily="2" charset="-122"/>
                <a:sym typeface="+mn-ea"/>
              </a:rPr>
              <a:t>).</a:t>
            </a:r>
            <a:endParaRPr lang="zh-CN" altLang="en-US" sz="2000" dirty="0">
              <a:latin typeface="Times New Roman" panose="02020603050405020304" pitchFamily="18" charset="0"/>
              <a:ea typeface="宋体" panose="02010600030101010101" pitchFamily="2" charset="-122"/>
            </a:endParaRPr>
          </a:p>
          <a:p>
            <a:pPr marL="457200" indent="-457200">
              <a:lnSpc>
                <a:spcPct val="130000"/>
              </a:lnSpc>
              <a:spcBef>
                <a:spcPts val="0"/>
              </a:spcBef>
              <a:spcAft>
                <a:spcPts val="0"/>
              </a:spcAft>
              <a:buFont typeface="+mj-lt"/>
              <a:buAutoNum type="arabicPeriod"/>
            </a:pPr>
            <a:r>
              <a:rPr lang="zh-CN" altLang="en-US" sz="2000" dirty="0" smtClean="0">
                <a:latin typeface="Times New Roman" panose="02020603050405020304" pitchFamily="18" charset="0"/>
                <a:ea typeface="宋体" panose="02010600030101010101" pitchFamily="2" charset="-122"/>
                <a:sym typeface="+mn-ea"/>
              </a:rPr>
              <a:t>金</a:t>
            </a:r>
            <a:r>
              <a:rPr lang="zh-CN" altLang="en-US" sz="2000" dirty="0">
                <a:latin typeface="Times New Roman" panose="02020603050405020304" pitchFamily="18" charset="0"/>
                <a:ea typeface="宋体" panose="02010600030101010101" pitchFamily="2" charset="-122"/>
                <a:sym typeface="+mn-ea"/>
              </a:rPr>
              <a:t>属自由电子模型认为电子所处势场为常数，实际晶体中的电子是在晶体中所有格点上的离子和其他所有电子所产生的势场中运动的，是一个复杂的多体问题，能带论提出三个假设对晶体中电子状态进行分析。请简析三个假设。</a:t>
            </a:r>
            <a:endParaRPr lang="zh-CN" altLang="en-US" sz="2000" dirty="0">
              <a:latin typeface="Times New Roman" panose="02020603050405020304" pitchFamily="18" charset="0"/>
              <a:ea typeface="宋体" panose="02010600030101010101" pitchFamily="2" charset="-122"/>
            </a:endParaRPr>
          </a:p>
          <a:p>
            <a:pPr marL="457200" indent="-457200">
              <a:lnSpc>
                <a:spcPct val="130000"/>
              </a:lnSpc>
              <a:spcBef>
                <a:spcPts val="0"/>
              </a:spcBef>
              <a:spcAft>
                <a:spcPts val="0"/>
              </a:spcAft>
              <a:buFont typeface="+mj-lt"/>
              <a:buAutoNum type="arabicPeriod"/>
            </a:pPr>
            <a:r>
              <a:rPr lang="zh-CN" altLang="en-US" sz="2000" dirty="0">
                <a:latin typeface="Times New Roman" panose="02020603050405020304" pitchFamily="18" charset="0"/>
                <a:ea typeface="宋体" panose="02010600030101010101" pitchFamily="2" charset="-122"/>
                <a:sym typeface="+mn-ea"/>
              </a:rPr>
              <a:t> </a:t>
            </a:r>
            <a:r>
              <a:rPr lang="zh-CN" altLang="en-US" sz="2000" dirty="0" smtClean="0">
                <a:latin typeface="Times New Roman" panose="02020603050405020304" pitchFamily="18" charset="0"/>
                <a:ea typeface="宋体" panose="02010600030101010101" pitchFamily="2" charset="-122"/>
                <a:sym typeface="+mn-ea"/>
              </a:rPr>
              <a:t>分</a:t>
            </a:r>
            <a:r>
              <a:rPr lang="zh-CN" altLang="en-US" sz="2000" dirty="0">
                <a:latin typeface="Times New Roman" panose="02020603050405020304" pitchFamily="18" charset="0"/>
                <a:ea typeface="宋体" panose="02010600030101010101" pitchFamily="2" charset="-122"/>
                <a:sym typeface="+mn-ea"/>
              </a:rPr>
              <a:t>析准自由电子模型中电子状态的特点：</a:t>
            </a:r>
            <a:endParaRPr lang="zh-CN" altLang="en-US" sz="2000" dirty="0">
              <a:latin typeface="Times New Roman" panose="02020603050405020304" pitchFamily="18" charset="0"/>
              <a:ea typeface="宋体" panose="02010600030101010101" pitchFamily="2" charset="-122"/>
            </a:endParaRPr>
          </a:p>
          <a:p>
            <a:pPr marL="457200" indent="-457200">
              <a:lnSpc>
                <a:spcPct val="130000"/>
              </a:lnSpc>
              <a:spcBef>
                <a:spcPts val="0"/>
              </a:spcBef>
              <a:spcAft>
                <a:spcPts val="0"/>
              </a:spcAft>
              <a:buFont typeface="+mj-lt"/>
              <a:buAutoNum type="arabicPeriod"/>
            </a:pPr>
            <a:r>
              <a:rPr lang="zh-CN" altLang="en-US" sz="2000" dirty="0" smtClean="0">
                <a:latin typeface="Times New Roman" panose="02020603050405020304" pitchFamily="18" charset="0"/>
                <a:ea typeface="宋体" panose="02010600030101010101" pitchFamily="2" charset="-122"/>
                <a:sym typeface="+mn-ea"/>
              </a:rPr>
              <a:t>布</a:t>
            </a:r>
            <a:r>
              <a:rPr lang="zh-CN" altLang="en-US" sz="2000" dirty="0">
                <a:latin typeface="Times New Roman" panose="02020603050405020304" pitchFamily="18" charset="0"/>
                <a:ea typeface="宋体" panose="02010600030101010101" pitchFamily="2" charset="-122"/>
                <a:sym typeface="+mn-ea"/>
              </a:rPr>
              <a:t>里渊区的定义。</a:t>
            </a:r>
            <a:endParaRPr lang="zh-CN" altLang="en-US" sz="2000" dirty="0">
              <a:latin typeface="Times New Roman" panose="02020603050405020304" pitchFamily="18" charset="0"/>
              <a:ea typeface="宋体" panose="02010600030101010101" pitchFamily="2" charset="-122"/>
            </a:endParaRPr>
          </a:p>
          <a:p>
            <a:pPr marL="457200" indent="-457200">
              <a:lnSpc>
                <a:spcPct val="130000"/>
              </a:lnSpc>
              <a:spcBef>
                <a:spcPts val="0"/>
              </a:spcBef>
              <a:spcAft>
                <a:spcPts val="0"/>
              </a:spcAft>
              <a:buFont typeface="+mj-lt"/>
              <a:buAutoNum type="arabicPeriod"/>
            </a:pPr>
            <a:r>
              <a:rPr lang="zh-CN" altLang="en-US" sz="2000" dirty="0" smtClean="0">
                <a:latin typeface="Times New Roman" panose="02020603050405020304" pitchFamily="18" charset="0"/>
                <a:ea typeface="宋体" panose="02010600030101010101" pitchFamily="2" charset="-122"/>
                <a:sym typeface="+mn-ea"/>
              </a:rPr>
              <a:t>什</a:t>
            </a:r>
            <a:r>
              <a:rPr lang="zh-CN" altLang="en-US" sz="2000" dirty="0">
                <a:latin typeface="Times New Roman" panose="02020603050405020304" pitchFamily="18" charset="0"/>
                <a:ea typeface="宋体" panose="02010600030101010101" pitchFamily="2" charset="-122"/>
                <a:sym typeface="+mn-ea"/>
              </a:rPr>
              <a:t>么是有效质量，给出有效质量的表达式，并分析有效质量的取值特点。</a:t>
            </a:r>
            <a:endParaRPr lang="zh-CN" altLang="en-US" sz="2000" dirty="0">
              <a:latin typeface="Times New Roman" panose="02020603050405020304" pitchFamily="18" charset="0"/>
              <a:ea typeface="宋体" panose="02010600030101010101" pitchFamily="2" charset="-122"/>
            </a:endParaRPr>
          </a:p>
          <a:p>
            <a:pPr marL="457200" indent="-457200">
              <a:lnSpc>
                <a:spcPct val="130000"/>
              </a:lnSpc>
              <a:spcBef>
                <a:spcPts val="0"/>
              </a:spcBef>
              <a:spcAft>
                <a:spcPts val="0"/>
              </a:spcAft>
              <a:buFont typeface="+mj-lt"/>
              <a:buAutoNum type="arabicPeriod"/>
            </a:pPr>
            <a:r>
              <a:rPr lang="zh-CN" altLang="en-US" sz="2000" dirty="0" smtClean="0">
                <a:latin typeface="Times New Roman" panose="02020603050405020304" pitchFamily="18" charset="0"/>
                <a:ea typeface="宋体" panose="02010600030101010101" pitchFamily="2" charset="-122"/>
                <a:sym typeface="+mn-ea"/>
              </a:rPr>
              <a:t>根</a:t>
            </a:r>
            <a:r>
              <a:rPr lang="zh-CN" altLang="en-US" sz="2000" dirty="0">
                <a:latin typeface="Times New Roman" panose="02020603050405020304" pitchFamily="18" charset="0"/>
                <a:ea typeface="宋体" panose="02010600030101010101" pitchFamily="2" charset="-122"/>
                <a:sym typeface="+mn-ea"/>
              </a:rPr>
              <a:t>据能带结构分析晶体的导电性，满带不导电，不满带导电。</a:t>
            </a:r>
            <a:endParaRPr lang="zh-CN" altLang="en-US" sz="2000" dirty="0">
              <a:latin typeface="Times New Roman" panose="02020603050405020304" pitchFamily="18" charset="0"/>
              <a:ea typeface="宋体" panose="02010600030101010101" pitchFamily="2" charset="-122"/>
              <a:sym typeface="+mn-ea"/>
            </a:endParaRPr>
          </a:p>
        </p:txBody>
      </p:sp>
    </p:spTree>
  </p:cSld>
  <p:clrMapOvr>
    <a:masterClrMapping/>
  </p:clrMapOvr>
  <p:transition>
    <p:wheel spokes="2"/>
  </p:transition>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984,&quot;width&quot;:10476}"/>
</p:tagLst>
</file>

<file path=ppt/tags/tag2.xml><?xml version="1.0" encoding="utf-8"?>
<p:tagLst xmlns:p="http://schemas.openxmlformats.org/presentationml/2006/main">
  <p:tag name="commondata" val="eyJoZGlkIjoiZGVmMzVjOWMxMDM4YWZmYTBiYjE1MTYxNjg5ZWViMm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tailEnd type="arrow"/>
        </a:ln>
      </a:spPr>
      <a:bodyPr/>
      <a:lstStyle/>
      <a:style>
        <a:lnRef idx="2">
          <a:schemeClr val="accent1"/>
        </a:lnRef>
        <a:fillRef idx="0">
          <a:srgbClr val="FFFFFF"/>
        </a:fillRef>
        <a:effectRef idx="0">
          <a:srgbClr val="FFFFFF"/>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3944</Words>
  <Application>WPS 演示</Application>
  <PresentationFormat>On-screen Show (4:3)</PresentationFormat>
  <Paragraphs>376</Paragraphs>
  <Slides>34</Slides>
  <Notes>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30</vt:i4>
      </vt:variant>
      <vt:variant>
        <vt:lpstr>幻灯片标题</vt:lpstr>
      </vt:variant>
      <vt:variant>
        <vt:i4>34</vt:i4>
      </vt:variant>
    </vt:vector>
  </HeadingPairs>
  <TitlesOfParts>
    <vt:vector size="80" baseType="lpstr">
      <vt:lpstr>Arial</vt:lpstr>
      <vt:lpstr>宋体</vt:lpstr>
      <vt:lpstr>Wingdings</vt:lpstr>
      <vt:lpstr>Times New Roman</vt:lpstr>
      <vt:lpstr>Webdings</vt:lpstr>
      <vt:lpstr>微软雅黑</vt:lpstr>
      <vt:lpstr>Times New Roman</vt:lpstr>
      <vt:lpstr>Arial Unicode MS</vt:lpstr>
      <vt:lpstr>Cambria Math</vt:lpstr>
      <vt:lpstr>Symbol</vt:lpstr>
      <vt:lpstr>Calibri</vt:lpstr>
      <vt:lpstr>Arial Unicode MS</vt:lpstr>
      <vt:lpstr>Cambria Math</vt:lpstr>
      <vt:lpstr>等线</vt:lpstr>
      <vt:lpstr>华文楷体</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量子与固体物理总复习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数字电路与逻辑设计A</dc:title>
  <dc:creator>yuanfeng</dc:creator>
  <cp:lastModifiedBy>陈德媛</cp:lastModifiedBy>
  <cp:revision>149</cp:revision>
  <dcterms:created xsi:type="dcterms:W3CDTF">2023-12-04T10:46:00Z</dcterms:created>
  <dcterms:modified xsi:type="dcterms:W3CDTF">2026-06-22T00:46:23Z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6C1B911BBDE54F3EB33A6019F556C38D_13</vt:lpwstr>
  </property>
  <property fmtid="{D5CDD505-2E9C-101B-9397-08002B2CF9AE}" pid="3" name="KSOProductBuildVer">
    <vt:lpwstr>2052-12.1.0.22529</vt:lpwstr>
  </property>
</Properties>
</file>